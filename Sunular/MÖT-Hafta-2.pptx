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0" r:id="rId3"/>
    <p:sldId id="261" r:id="rId4"/>
    <p:sldId id="262" r:id="rId5"/>
    <p:sldId id="263" r:id="rId6"/>
    <p:sldId id="300" r:id="rId7"/>
    <p:sldId id="301" r:id="rId8"/>
    <p:sldId id="264" r:id="rId9"/>
    <p:sldId id="265" r:id="rId10"/>
    <p:sldId id="302" r:id="rId11"/>
    <p:sldId id="266" r:id="rId12"/>
    <p:sldId id="303" r:id="rId13"/>
    <p:sldId id="267" r:id="rId14"/>
    <p:sldId id="268" r:id="rId15"/>
    <p:sldId id="269" r:id="rId16"/>
    <p:sldId id="270" r:id="rId17"/>
    <p:sldId id="271" r:id="rId18"/>
    <p:sldId id="272" r:id="rId19"/>
    <p:sldId id="293" r:id="rId20"/>
    <p:sldId id="294" r:id="rId21"/>
    <p:sldId id="295" r:id="rId22"/>
    <p:sldId id="304" r:id="rId23"/>
    <p:sldId id="296" r:id="rId24"/>
    <p:sldId id="297" r:id="rId25"/>
    <p:sldId id="273" r:id="rId26"/>
    <p:sldId id="274" r:id="rId27"/>
    <p:sldId id="275" r:id="rId28"/>
    <p:sldId id="276" r:id="rId29"/>
    <p:sldId id="307" r:id="rId30"/>
    <p:sldId id="308" r:id="rId31"/>
    <p:sldId id="309" r:id="rId32"/>
    <p:sldId id="310" r:id="rId33"/>
    <p:sldId id="311" r:id="rId34"/>
    <p:sldId id="312" r:id="rId35"/>
    <p:sldId id="313" r:id="rId36"/>
    <p:sldId id="314" r:id="rId37"/>
    <p:sldId id="277" r:id="rId38"/>
    <p:sldId id="315" r:id="rId39"/>
    <p:sldId id="316" r:id="rId40"/>
    <p:sldId id="298" r:id="rId41"/>
    <p:sldId id="279" r:id="rId42"/>
    <p:sldId id="280" r:id="rId43"/>
    <p:sldId id="281" r:id="rId44"/>
    <p:sldId id="305" r:id="rId45"/>
    <p:sldId id="306" r:id="rId46"/>
    <p:sldId id="282" r:id="rId47"/>
    <p:sldId id="283" r:id="rId48"/>
    <p:sldId id="284" r:id="rId49"/>
    <p:sldId id="285" r:id="rId50"/>
    <p:sldId id="299" r:id="rId51"/>
    <p:sldId id="287" r:id="rId52"/>
    <p:sldId id="288" r:id="rId53"/>
    <p:sldId id="289" r:id="rId54"/>
    <p:sldId id="290" r:id="rId55"/>
    <p:sldId id="292" r:id="rId56"/>
  </p:sldIdLst>
  <p:sldSz cx="9144000" cy="5143500" type="screen16x9"/>
  <p:notesSz cx="9144000" cy="51435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Açık Stil 3 - Vurgu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97" autoAdjust="0"/>
    <p:restoredTop sz="94678" autoAdjust="0"/>
  </p:normalViewPr>
  <p:slideViewPr>
    <p:cSldViewPr>
      <p:cViewPr varScale="1">
        <p:scale>
          <a:sx n="109" d="100"/>
          <a:sy n="109" d="100"/>
        </p:scale>
        <p:origin x="706" y="82"/>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05:41:50.902"/>
    </inkml:context>
    <inkml:brush xml:id="br0">
      <inkml:brushProperty name="width" value="0.035" units="cm"/>
      <inkml:brushProperty name="height" value="0.035" units="cm"/>
      <inkml:brushProperty name="color" value="#E71224"/>
    </inkml:brush>
  </inkml:definitions>
  <inkml:trace contextRef="#ctx0" brushRef="#br0">1 33 24575,'0'-1'0,"1"-1"0,0 1 0,-1 0 0,1 0 0,0-1 0,0 1 0,0 0 0,0 0 0,0 0 0,0 0 0,0 0 0,0 0 0,0 0 0,0 1 0,1-1 0,1-1 0,24-10 0,-26 12 0,0-1 0,1 1 0,-1 0 0,1 0 0,-1-1 0,0 1 0,1 0 0,-1 0 0,1 0 0,-1 0 0,0 1 0,1-1 0,-1 0 0,0 1 0,1-1 0,-1 0 0,0 1 0,1 0 0,-1-1 0,0 1 0,0 0 0,0-1 0,1 1 0,-1 0 0,0 0 0,0 0 0,0 0 0,0 0 0,-1 0 0,1 1 0,1 1 0,0 2 0,0 0 0,0 1 0,-1-1 0,0 1 0,0 0 0,0 7 0,1-1 0,-1-9 0,0-1 0,1 1 0,0-1 0,-1 0 0,1 0 0,0 0 0,0 0 0,0 0 0,0 0 0,0 0 0,0-1 0,1 1 0,-1-1 0,0 0 0,6 2 0,19 16 0,-26-18 2,-1-1-1,1 1 1,0 0-1,-1 0 0,1 0 1,0 0-1,-1 0 1,1-1-1,-1 1 1,0 0-1,1 0 0,-1 0 1,0 0-1,0 0 1,1 1-1,-1-1 0,0 0 1,0 0-1,0 0 1,0 0-1,0 0 1,-1 0-1,1 0 0,0 0 1,0 0-1,-1 0 1,1 0-1,0 0 1,-1 0-1,1 0 0,-1 0 1,1 0-1,-1-1 1,0 1-1,1 0 1,-1 0-1,0-1 0,0 1 1,0 0-1,1-1 1,-1 1-1,-1 0 1,-6 4-81,0-1 1,0 0 0,0 0 0,-11 3-1,2 0-956,5-2-5791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05:41:53.431"/>
    </inkml:context>
    <inkml:brush xml:id="br0">
      <inkml:brushProperty name="width" value="0.035" units="cm"/>
      <inkml:brushProperty name="height" value="0.035" units="cm"/>
      <inkml:brushProperty name="color" value="#E71224"/>
    </inkml:brush>
  </inkml:definitions>
  <inkml:trace contextRef="#ctx0" brushRef="#br0">56 1 24575,'-1'13'0,"0"1"0,-1-1 0,-1 0 0,0 1 0,-1-1 0,0 0 0,-1-1 0,0 1 0,-9 12 0,11-17 0,1-5 0,1 0 0,-1 0 0,1 0 0,0 0 0,0 0 0,0 0 0,1 1 0,-1-1 0,1 0 0,0 1 0,-1-1 0,2 0 0,-1 1 0,1 5 0,0-7 0,0-1 0,0 1 0,0-1 0,0 0 0,0 1 0,0-1 0,0 0 0,0 0 0,0 1 0,1-1 0,-1 0 0,1 0 0,-1 0 0,1-1 0,-1 1 0,1 0 0,-1 0 0,1-1 0,0 1 0,-1-1 0,1 0 0,0 1 0,-1-1 0,1 0 0,0 0 0,0 0 0,-1 0 0,1 0 0,3-1 0,9 0-273,1-1 0,0 0 0,-1-1 0,20-6 0,-17 3-6553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05:41:54.326"/>
    </inkml:context>
    <inkml:brush xml:id="br0">
      <inkml:brushProperty name="width" value="0.035" units="cm"/>
      <inkml:brushProperty name="height" value="0.035" units="cm"/>
      <inkml:brushProperty name="color" value="#E71224"/>
    </inkml:brush>
  </inkml:definitions>
  <inkml:trace contextRef="#ctx0" brushRef="#br0">40 0 24575,'0'4'0,"0"4"0,-3 4 0,-1 3 0,0 3 0,0 1 0,2 1 0,0 1 0,1-1 0,-2-3 0,-5-5 0,0-4-8191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41959" y="1057402"/>
            <a:ext cx="7460081" cy="528319"/>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chemeClr val="bg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chemeClr val="bg1"/>
                </a:solidFill>
                <a:latin typeface="Arial Black"/>
                <a:cs typeface="Arial Black"/>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chemeClr val="bg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51435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000000"/>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51435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a:xfrm>
            <a:off x="1047089" y="2021535"/>
            <a:ext cx="7049820" cy="528955"/>
          </a:xfrm>
          <a:prstGeom prst="rect">
            <a:avLst/>
          </a:prstGeom>
        </p:spPr>
        <p:txBody>
          <a:bodyPr wrap="square" lIns="0" tIns="0" rIns="0" bIns="0">
            <a:spAutoFit/>
          </a:bodyPr>
          <a:lstStyle>
            <a:lvl1pPr>
              <a:defRPr sz="3300" b="0" i="0">
                <a:solidFill>
                  <a:schemeClr val="bg1"/>
                </a:solidFill>
                <a:latin typeface="Arial Black"/>
                <a:cs typeface="Arial Black"/>
              </a:defRPr>
            </a:lvl1pPr>
          </a:lstStyle>
          <a:p>
            <a:endParaRPr/>
          </a:p>
        </p:txBody>
      </p:sp>
      <p:sp>
        <p:nvSpPr>
          <p:cNvPr id="3" name="Holder 3"/>
          <p:cNvSpPr>
            <a:spLocks noGrp="1"/>
          </p:cNvSpPr>
          <p:nvPr>
            <p:ph type="body" idx="1"/>
          </p:nvPr>
        </p:nvSpPr>
        <p:spPr>
          <a:xfrm>
            <a:off x="1189736" y="1403350"/>
            <a:ext cx="6764527" cy="109347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9/21/2026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24.png"/><Relationship Id="rId7"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5.xml"/><Relationship Id="rId6" Type="http://schemas.openxmlformats.org/officeDocument/2006/relationships/customXml" Target="../ink/ink2.xml"/><Relationship Id="rId5" Type="http://schemas.openxmlformats.org/officeDocument/2006/relationships/image" Target="../media/image25.png"/><Relationship Id="rId4" Type="http://schemas.openxmlformats.org/officeDocument/2006/relationships/customXml" Target="../ink/ink1.xml"/><Relationship Id="rId9"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5.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42.jp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jp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000000"/>
          </a:solidFill>
        </p:spPr>
        <p:txBody>
          <a:bodyPr wrap="square" lIns="0" tIns="0" rIns="0" bIns="0" rtlCol="0"/>
          <a:lstStyle/>
          <a:p>
            <a:endParaRPr/>
          </a:p>
        </p:txBody>
      </p:sp>
      <p:sp>
        <p:nvSpPr>
          <p:cNvPr id="3" name="object 3"/>
          <p:cNvSpPr txBox="1"/>
          <p:nvPr/>
        </p:nvSpPr>
        <p:spPr>
          <a:xfrm>
            <a:off x="421335" y="1306449"/>
            <a:ext cx="8331200" cy="1735347"/>
          </a:xfrm>
          <a:prstGeom prst="rect">
            <a:avLst/>
          </a:prstGeom>
        </p:spPr>
        <p:txBody>
          <a:bodyPr vert="horz" wrap="square" lIns="0" tIns="13335" rIns="0" bIns="0" rtlCol="0">
            <a:spAutoFit/>
          </a:bodyPr>
          <a:lstStyle/>
          <a:p>
            <a:pPr algn="ctr">
              <a:lnSpc>
                <a:spcPts val="3650"/>
              </a:lnSpc>
              <a:spcBef>
                <a:spcPts val="105"/>
              </a:spcBef>
            </a:pPr>
            <a:r>
              <a:rPr sz="3200" dirty="0">
                <a:solidFill>
                  <a:srgbClr val="FFFFFF"/>
                </a:solidFill>
                <a:latin typeface="Arial Black"/>
                <a:cs typeface="Arial Black"/>
              </a:rPr>
              <a:t>Makine </a:t>
            </a:r>
            <a:r>
              <a:rPr sz="3200" spc="5" dirty="0">
                <a:solidFill>
                  <a:srgbClr val="FFFFFF"/>
                </a:solidFill>
                <a:latin typeface="Arial Black"/>
                <a:cs typeface="Arial Black"/>
              </a:rPr>
              <a:t>Öğrenmesinin</a:t>
            </a:r>
            <a:r>
              <a:rPr sz="3200" spc="-50" dirty="0">
                <a:solidFill>
                  <a:srgbClr val="FFFFFF"/>
                </a:solidFill>
                <a:latin typeface="Arial Black"/>
                <a:cs typeface="Arial Black"/>
              </a:rPr>
              <a:t> </a:t>
            </a:r>
            <a:r>
              <a:rPr sz="3200" spc="-20" dirty="0">
                <a:solidFill>
                  <a:srgbClr val="FFFFFF"/>
                </a:solidFill>
                <a:latin typeface="Arial Black"/>
                <a:cs typeface="Arial Black"/>
              </a:rPr>
              <a:t>Temelleri</a:t>
            </a:r>
            <a:endParaRPr sz="3200" dirty="0">
              <a:latin typeface="Arial Black"/>
              <a:cs typeface="Arial Black"/>
            </a:endParaRPr>
          </a:p>
          <a:p>
            <a:pPr marL="1270" algn="ctr">
              <a:lnSpc>
                <a:spcPts val="3650"/>
              </a:lnSpc>
            </a:pPr>
            <a:r>
              <a:rPr sz="3200" dirty="0">
                <a:solidFill>
                  <a:srgbClr val="FFFFFF"/>
                </a:solidFill>
                <a:latin typeface="Arial Black"/>
                <a:cs typeface="Arial Black"/>
              </a:rPr>
              <a:t>| Hafta</a:t>
            </a:r>
            <a:r>
              <a:rPr sz="3200" spc="-30" dirty="0">
                <a:solidFill>
                  <a:srgbClr val="FFFFFF"/>
                </a:solidFill>
                <a:latin typeface="Arial Black"/>
                <a:cs typeface="Arial Black"/>
              </a:rPr>
              <a:t> </a:t>
            </a:r>
            <a:r>
              <a:rPr sz="3200" dirty="0">
                <a:solidFill>
                  <a:srgbClr val="FFFFFF"/>
                </a:solidFill>
                <a:latin typeface="Arial Black"/>
                <a:cs typeface="Arial Black"/>
              </a:rPr>
              <a:t>2</a:t>
            </a:r>
            <a:endParaRPr sz="3200" dirty="0">
              <a:latin typeface="Arial Black"/>
              <a:cs typeface="Arial Black"/>
            </a:endParaRPr>
          </a:p>
          <a:p>
            <a:pPr marL="12700" marR="5080" algn="ctr">
              <a:lnSpc>
                <a:spcPct val="180100"/>
              </a:lnSpc>
            </a:pPr>
            <a:r>
              <a:rPr sz="3200" spc="25" dirty="0" err="1">
                <a:solidFill>
                  <a:srgbClr val="FFFFFF"/>
                </a:solidFill>
                <a:latin typeface="Arial Black"/>
                <a:cs typeface="Arial Black"/>
              </a:rPr>
              <a:t>Araştırma</a:t>
            </a:r>
            <a:r>
              <a:rPr sz="3200" spc="-110" dirty="0">
                <a:solidFill>
                  <a:srgbClr val="FFFFFF"/>
                </a:solidFill>
                <a:latin typeface="Arial Black"/>
                <a:cs typeface="Arial Black"/>
              </a:rPr>
              <a:t> </a:t>
            </a:r>
            <a:r>
              <a:rPr sz="3200" spc="5" dirty="0" err="1">
                <a:solidFill>
                  <a:srgbClr val="FFFFFF"/>
                </a:solidFill>
                <a:latin typeface="Arial Black"/>
                <a:cs typeface="Arial Black"/>
              </a:rPr>
              <a:t>Evreni</a:t>
            </a:r>
            <a:endParaRPr sz="3200" dirty="0">
              <a:latin typeface="Arial Black"/>
              <a:cs typeface="Arial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6551" y="197866"/>
            <a:ext cx="2563495" cy="452120"/>
          </a:xfrm>
          <a:prstGeom prst="rect">
            <a:avLst/>
          </a:prstGeom>
        </p:spPr>
        <p:txBody>
          <a:bodyPr vert="horz" wrap="square" lIns="0" tIns="12065" rIns="0" bIns="0" rtlCol="0">
            <a:spAutoFit/>
          </a:bodyPr>
          <a:lstStyle/>
          <a:p>
            <a:pPr marL="12700">
              <a:lnSpc>
                <a:spcPct val="100000"/>
              </a:lnSpc>
              <a:spcBef>
                <a:spcPts val="95"/>
              </a:spcBef>
              <a:tabLst>
                <a:tab pos="1183005" algn="l"/>
                <a:tab pos="1769745" algn="l"/>
              </a:tabLst>
            </a:pPr>
            <a:r>
              <a:rPr lang="tr-TR" sz="2800" dirty="0">
                <a:latin typeface="Times New Roman" panose="02020603050405020304" pitchFamily="18" charset="0"/>
                <a:cs typeface="Times New Roman" panose="02020603050405020304" pitchFamily="18" charset="0"/>
              </a:rPr>
              <a:t>Bilgi ve akıl</a:t>
            </a:r>
            <a:endParaRPr sz="2800" dirty="0">
              <a:latin typeface="Times New Roman" panose="02020603050405020304" pitchFamily="18" charset="0"/>
              <a:cs typeface="Times New Roman" panose="02020603050405020304" pitchFamily="18" charset="0"/>
            </a:endParaRPr>
          </a:p>
        </p:txBody>
      </p:sp>
      <p:sp>
        <p:nvSpPr>
          <p:cNvPr id="5" name="object 5"/>
          <p:cNvSpPr/>
          <p:nvPr/>
        </p:nvSpPr>
        <p:spPr>
          <a:xfrm>
            <a:off x="1021791" y="918465"/>
            <a:ext cx="5524500" cy="3992879"/>
          </a:xfrm>
          <a:prstGeom prst="rect">
            <a:avLst/>
          </a:prstGeom>
          <a:blipFill>
            <a:blip r:embed="rId2" cstate="print"/>
            <a:stretch>
              <a:fillRect/>
            </a:stretch>
          </a:blipFill>
        </p:spPr>
        <p:txBody>
          <a:bodyPr wrap="square" lIns="0" tIns="0" rIns="0" bIns="0" rtlCol="0"/>
          <a:lstStyle/>
          <a:p>
            <a:endParaRPr dirty="0"/>
          </a:p>
        </p:txBody>
      </p:sp>
      <p:sp>
        <p:nvSpPr>
          <p:cNvPr id="3" name="TextBox 2">
            <a:extLst>
              <a:ext uri="{FF2B5EF4-FFF2-40B4-BE49-F238E27FC236}">
                <a16:creationId xmlns:a16="http://schemas.microsoft.com/office/drawing/2014/main" id="{18388D6F-B24B-D476-F230-C69ED081B674}"/>
              </a:ext>
            </a:extLst>
          </p:cNvPr>
          <p:cNvSpPr txBox="1"/>
          <p:nvPr/>
        </p:nvSpPr>
        <p:spPr>
          <a:xfrm>
            <a:off x="5562600" y="2264763"/>
            <a:ext cx="2129109" cy="646331"/>
          </a:xfrm>
          <a:prstGeom prst="rect">
            <a:avLst/>
          </a:prstGeom>
          <a:noFill/>
        </p:spPr>
        <p:txBody>
          <a:bodyPr wrap="none" rtlCol="0">
            <a:spAutoFit/>
          </a:bodyPr>
          <a:lstStyle/>
          <a:p>
            <a:r>
              <a:rPr lang="tr-TR" dirty="0">
                <a:highlight>
                  <a:srgbClr val="FFFF00"/>
                </a:highlight>
              </a:rPr>
              <a:t>bilgi birikimi</a:t>
            </a:r>
          </a:p>
          <a:p>
            <a:r>
              <a:rPr lang="tr-TR" dirty="0">
                <a:highlight>
                  <a:srgbClr val="FFFF00"/>
                </a:highlight>
              </a:rPr>
              <a:t>nasıl OLDUĞUNU bil</a:t>
            </a:r>
          </a:p>
        </p:txBody>
      </p:sp>
      <p:sp>
        <p:nvSpPr>
          <p:cNvPr id="4" name="TextBox 3">
            <a:extLst>
              <a:ext uri="{FF2B5EF4-FFF2-40B4-BE49-F238E27FC236}">
                <a16:creationId xmlns:a16="http://schemas.microsoft.com/office/drawing/2014/main" id="{68D0FECC-30B4-BB3F-757F-2FE957EA7C19}"/>
              </a:ext>
            </a:extLst>
          </p:cNvPr>
          <p:cNvSpPr txBox="1"/>
          <p:nvPr/>
        </p:nvSpPr>
        <p:spPr>
          <a:xfrm>
            <a:off x="6079087" y="3257550"/>
            <a:ext cx="1648208" cy="369332"/>
          </a:xfrm>
          <a:prstGeom prst="rect">
            <a:avLst/>
          </a:prstGeom>
          <a:noFill/>
        </p:spPr>
        <p:txBody>
          <a:bodyPr wrap="none" rtlCol="0">
            <a:spAutoFit/>
          </a:bodyPr>
          <a:lstStyle/>
          <a:p>
            <a:r>
              <a:rPr lang="tr-TR" dirty="0">
                <a:highlight>
                  <a:srgbClr val="FFFF00"/>
                </a:highlight>
              </a:rPr>
              <a:t>ne olduğunu bil</a:t>
            </a:r>
          </a:p>
        </p:txBody>
      </p:sp>
      <p:sp>
        <p:nvSpPr>
          <p:cNvPr id="6" name="TextBox 5">
            <a:extLst>
              <a:ext uri="{FF2B5EF4-FFF2-40B4-BE49-F238E27FC236}">
                <a16:creationId xmlns:a16="http://schemas.microsoft.com/office/drawing/2014/main" id="{C7E68A44-7586-2334-F71F-4DAE8FB14F74}"/>
              </a:ext>
            </a:extLst>
          </p:cNvPr>
          <p:cNvSpPr txBox="1"/>
          <p:nvPr/>
        </p:nvSpPr>
        <p:spPr>
          <a:xfrm>
            <a:off x="6627154" y="4171950"/>
            <a:ext cx="2200282" cy="369332"/>
          </a:xfrm>
          <a:prstGeom prst="rect">
            <a:avLst/>
          </a:prstGeom>
          <a:noFill/>
        </p:spPr>
        <p:txBody>
          <a:bodyPr wrap="none" rtlCol="0">
            <a:spAutoFit/>
          </a:bodyPr>
          <a:lstStyle/>
          <a:p>
            <a:r>
              <a:rPr lang="tr-TR" dirty="0">
                <a:highlight>
                  <a:srgbClr val="FFFF00"/>
                </a:highlight>
              </a:rPr>
              <a:t>hiçbir şey bilmiyorum</a:t>
            </a:r>
          </a:p>
        </p:txBody>
      </p:sp>
      <p:sp>
        <p:nvSpPr>
          <p:cNvPr id="7" name="TextBox 6">
            <a:extLst>
              <a:ext uri="{FF2B5EF4-FFF2-40B4-BE49-F238E27FC236}">
                <a16:creationId xmlns:a16="http://schemas.microsoft.com/office/drawing/2014/main" id="{409A52B4-EA1B-3C09-4D3F-1695CF87447F}"/>
              </a:ext>
            </a:extLst>
          </p:cNvPr>
          <p:cNvSpPr txBox="1"/>
          <p:nvPr/>
        </p:nvSpPr>
        <p:spPr>
          <a:xfrm>
            <a:off x="5105400" y="1331313"/>
            <a:ext cx="1289135" cy="369332"/>
          </a:xfrm>
          <a:prstGeom prst="rect">
            <a:avLst/>
          </a:prstGeom>
          <a:noFill/>
        </p:spPr>
        <p:txBody>
          <a:bodyPr wrap="none" rtlCol="0">
            <a:spAutoFit/>
          </a:bodyPr>
          <a:lstStyle/>
          <a:p>
            <a:r>
              <a:rPr lang="tr-TR" dirty="0">
                <a:highlight>
                  <a:srgbClr val="FFFF00"/>
                </a:highlight>
              </a:rPr>
              <a:t>nedenini bil</a:t>
            </a:r>
          </a:p>
        </p:txBody>
      </p:sp>
      <p:sp>
        <p:nvSpPr>
          <p:cNvPr id="8" name="TextBox 7">
            <a:extLst>
              <a:ext uri="{FF2B5EF4-FFF2-40B4-BE49-F238E27FC236}">
                <a16:creationId xmlns:a16="http://schemas.microsoft.com/office/drawing/2014/main" id="{903BE6BB-90D1-563F-5F45-4079A9719E5D}"/>
              </a:ext>
            </a:extLst>
          </p:cNvPr>
          <p:cNvSpPr txBox="1"/>
          <p:nvPr/>
        </p:nvSpPr>
        <p:spPr>
          <a:xfrm>
            <a:off x="1774460" y="1276350"/>
            <a:ext cx="1279196" cy="369332"/>
          </a:xfrm>
          <a:prstGeom prst="rect">
            <a:avLst/>
          </a:prstGeom>
          <a:noFill/>
        </p:spPr>
        <p:txBody>
          <a:bodyPr wrap="none" rtlCol="0">
            <a:spAutoFit/>
          </a:bodyPr>
          <a:lstStyle/>
          <a:p>
            <a:r>
              <a:rPr lang="tr-TR" dirty="0">
                <a:highlight>
                  <a:srgbClr val="FFFF00"/>
                </a:highlight>
              </a:rPr>
              <a:t>Bilgelik, akıl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9200" y="610616"/>
            <a:ext cx="6096000" cy="528320"/>
          </a:xfrm>
          <a:prstGeom prst="rect">
            <a:avLst/>
          </a:prstGeom>
        </p:spPr>
        <p:txBody>
          <a:bodyPr vert="horz" wrap="square" lIns="0" tIns="12700" rIns="0" bIns="0" rtlCol="0">
            <a:spAutoFit/>
          </a:bodyPr>
          <a:lstStyle/>
          <a:p>
            <a:pPr marL="12700">
              <a:lnSpc>
                <a:spcPct val="100000"/>
              </a:lnSpc>
              <a:spcBef>
                <a:spcPts val="100"/>
              </a:spcBef>
            </a:pPr>
            <a:r>
              <a:rPr sz="3300" spc="20" dirty="0">
                <a:solidFill>
                  <a:srgbClr val="FFFFFF"/>
                </a:solidFill>
                <a:latin typeface="Arial Black"/>
                <a:cs typeface="Arial Black"/>
              </a:rPr>
              <a:t>Araştırma</a:t>
            </a:r>
            <a:r>
              <a:rPr sz="3300" spc="-65" dirty="0">
                <a:solidFill>
                  <a:srgbClr val="FFFFFF"/>
                </a:solidFill>
                <a:latin typeface="Arial Black"/>
                <a:cs typeface="Arial Black"/>
              </a:rPr>
              <a:t> </a:t>
            </a:r>
            <a:r>
              <a:rPr sz="3300" dirty="0">
                <a:solidFill>
                  <a:srgbClr val="FFFFFF"/>
                </a:solidFill>
                <a:latin typeface="Arial Black"/>
                <a:cs typeface="Arial Black"/>
              </a:rPr>
              <a:t>Evreni</a:t>
            </a:r>
            <a:endParaRPr sz="3300" dirty="0">
              <a:latin typeface="Arial Black"/>
              <a:cs typeface="Arial Black"/>
            </a:endParaRPr>
          </a:p>
        </p:txBody>
      </p:sp>
      <p:sp>
        <p:nvSpPr>
          <p:cNvPr id="3" name="object 3"/>
          <p:cNvSpPr txBox="1"/>
          <p:nvPr/>
        </p:nvSpPr>
        <p:spPr>
          <a:xfrm>
            <a:off x="1600200" y="1480425"/>
            <a:ext cx="5097400" cy="2182649"/>
          </a:xfrm>
          <a:prstGeom prst="rect">
            <a:avLst/>
          </a:prstGeom>
        </p:spPr>
        <p:txBody>
          <a:bodyPr vert="horz" wrap="square" lIns="0" tIns="12700" rIns="0" bIns="0" rtlCol="0">
            <a:spAutoFit/>
          </a:bodyPr>
          <a:lstStyle/>
          <a:p>
            <a:pPr marL="12700">
              <a:lnSpc>
                <a:spcPct val="100000"/>
              </a:lnSpc>
              <a:spcBef>
                <a:spcPts val="100"/>
              </a:spcBef>
              <a:spcAft>
                <a:spcPts val="600"/>
              </a:spcAft>
            </a:pPr>
            <a:r>
              <a:rPr lang="tr-TR" sz="1600" dirty="0">
                <a:solidFill>
                  <a:schemeClr val="bg1"/>
                </a:solidFill>
                <a:latin typeface="Times New Roman" panose="02020603050405020304" pitchFamily="18" charset="0"/>
                <a:cs typeface="Times New Roman" panose="02020603050405020304" pitchFamily="18" charset="0"/>
              </a:rPr>
              <a:t>Kimi zaman bir bitki hastalığı</a:t>
            </a:r>
          </a:p>
          <a:p>
            <a:pPr marL="12700">
              <a:lnSpc>
                <a:spcPct val="100000"/>
              </a:lnSpc>
              <a:spcBef>
                <a:spcPts val="100"/>
              </a:spcBef>
              <a:spcAft>
                <a:spcPts val="600"/>
              </a:spcAft>
            </a:pPr>
            <a:r>
              <a:rPr lang="tr-TR" sz="1600" dirty="0">
                <a:solidFill>
                  <a:schemeClr val="bg1"/>
                </a:solidFill>
                <a:latin typeface="Times New Roman" panose="02020603050405020304" pitchFamily="18" charset="0"/>
                <a:cs typeface="Times New Roman" panose="02020603050405020304" pitchFamily="18" charset="0"/>
              </a:rPr>
              <a:t>Kimi zaman bir borsa verisi analizi  </a:t>
            </a:r>
          </a:p>
          <a:p>
            <a:pPr marL="12700">
              <a:lnSpc>
                <a:spcPct val="100000"/>
              </a:lnSpc>
              <a:spcBef>
                <a:spcPts val="100"/>
              </a:spcBef>
              <a:spcAft>
                <a:spcPts val="600"/>
              </a:spcAft>
            </a:pPr>
            <a:r>
              <a:rPr lang="tr-TR" sz="1600" dirty="0">
                <a:solidFill>
                  <a:schemeClr val="bg1"/>
                </a:solidFill>
                <a:latin typeface="Times New Roman" panose="02020603050405020304" pitchFamily="18" charset="0"/>
                <a:cs typeface="Times New Roman" panose="02020603050405020304" pitchFamily="18" charset="0"/>
              </a:rPr>
              <a:t>Kimi zaman hava temizliği oranı tahmini</a:t>
            </a:r>
          </a:p>
          <a:p>
            <a:pPr marL="12700">
              <a:lnSpc>
                <a:spcPct val="100000"/>
              </a:lnSpc>
              <a:spcBef>
                <a:spcPts val="100"/>
              </a:spcBef>
              <a:spcAft>
                <a:spcPts val="600"/>
              </a:spcAft>
            </a:pPr>
            <a:r>
              <a:rPr lang="tr-TR" sz="1600" dirty="0">
                <a:solidFill>
                  <a:schemeClr val="bg1"/>
                </a:solidFill>
                <a:latin typeface="Times New Roman" panose="02020603050405020304" pitchFamily="18" charset="0"/>
                <a:cs typeface="Times New Roman" panose="02020603050405020304" pitchFamily="18" charset="0"/>
              </a:rPr>
              <a:t>Kimi zaman X-ray görüntüsü</a:t>
            </a:r>
          </a:p>
          <a:p>
            <a:pPr marL="12700">
              <a:lnSpc>
                <a:spcPct val="100000"/>
              </a:lnSpc>
              <a:spcBef>
                <a:spcPts val="100"/>
              </a:spcBef>
            </a:pPr>
            <a:endParaRPr lang="tr-TR" sz="1600" dirty="0">
              <a:solidFill>
                <a:schemeClr val="bg1"/>
              </a:solidFill>
              <a:latin typeface="Times New Roman" panose="02020603050405020304" pitchFamily="18" charset="0"/>
              <a:cs typeface="Times New Roman" panose="02020603050405020304" pitchFamily="18" charset="0"/>
            </a:endParaRPr>
          </a:p>
          <a:p>
            <a:pPr marL="12700">
              <a:lnSpc>
                <a:spcPct val="100000"/>
              </a:lnSpc>
              <a:spcBef>
                <a:spcPts val="100"/>
              </a:spcBef>
            </a:pPr>
            <a:r>
              <a:rPr lang="tr-TR" sz="1600" dirty="0">
                <a:solidFill>
                  <a:schemeClr val="bg1"/>
                </a:solidFill>
                <a:latin typeface="Times New Roman" panose="02020603050405020304" pitchFamily="18" charset="0"/>
                <a:cs typeface="Times New Roman" panose="02020603050405020304" pitchFamily="18" charset="0"/>
              </a:rPr>
              <a:t>….</a:t>
            </a:r>
          </a:p>
          <a:p>
            <a:pPr marL="12700">
              <a:lnSpc>
                <a:spcPct val="100000"/>
              </a:lnSpc>
              <a:spcBef>
                <a:spcPts val="100"/>
              </a:spcBef>
            </a:pPr>
            <a:endParaRPr sz="1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3548" y="126568"/>
            <a:ext cx="3902075" cy="528955"/>
          </a:xfrm>
          <a:prstGeom prst="rect">
            <a:avLst/>
          </a:prstGeom>
        </p:spPr>
        <p:txBody>
          <a:bodyPr vert="horz" wrap="square" lIns="0" tIns="12700" rIns="0" bIns="0" rtlCol="0">
            <a:spAutoFit/>
          </a:bodyPr>
          <a:lstStyle/>
          <a:p>
            <a:pPr marL="12700">
              <a:lnSpc>
                <a:spcPct val="100000"/>
              </a:lnSpc>
              <a:spcBef>
                <a:spcPts val="100"/>
              </a:spcBef>
            </a:pPr>
            <a:r>
              <a:rPr spc="25" dirty="0"/>
              <a:t>Araştırma</a:t>
            </a:r>
            <a:r>
              <a:rPr spc="-90" dirty="0"/>
              <a:t> </a:t>
            </a:r>
            <a:r>
              <a:rPr spc="5" dirty="0"/>
              <a:t>Evreni</a:t>
            </a:r>
          </a:p>
        </p:txBody>
      </p:sp>
      <p:sp>
        <p:nvSpPr>
          <p:cNvPr id="5" name="object 5"/>
          <p:cNvSpPr/>
          <p:nvPr/>
        </p:nvSpPr>
        <p:spPr>
          <a:xfrm>
            <a:off x="304800" y="1276350"/>
            <a:ext cx="4587240" cy="3590543"/>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4985552" y="1276350"/>
            <a:ext cx="4094988" cy="646176"/>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6551" y="197866"/>
            <a:ext cx="3540760" cy="452120"/>
          </a:xfrm>
          <a:prstGeom prst="rect">
            <a:avLst/>
          </a:prstGeom>
        </p:spPr>
        <p:txBody>
          <a:bodyPr vert="horz" wrap="square" lIns="0" tIns="12065" rIns="0" bIns="0" rtlCol="0">
            <a:spAutoFit/>
          </a:bodyPr>
          <a:lstStyle/>
          <a:p>
            <a:pPr marL="12700">
              <a:lnSpc>
                <a:spcPct val="100000"/>
              </a:lnSpc>
              <a:spcBef>
                <a:spcPts val="95"/>
              </a:spcBef>
              <a:tabLst>
                <a:tab pos="1183005" algn="l"/>
                <a:tab pos="2355215" algn="l"/>
              </a:tabLst>
            </a:pPr>
            <a:r>
              <a:rPr sz="2800" spc="520" dirty="0">
                <a:latin typeface="Arial"/>
                <a:cs typeface="Arial"/>
              </a:rPr>
              <a:t>Bilg</a:t>
            </a:r>
            <a:r>
              <a:rPr sz="2800" spc="280" dirty="0">
                <a:latin typeface="Arial"/>
                <a:cs typeface="Arial"/>
              </a:rPr>
              <a:t>i</a:t>
            </a:r>
            <a:r>
              <a:rPr sz="2800" dirty="0">
                <a:latin typeface="Arial"/>
                <a:cs typeface="Arial"/>
              </a:rPr>
              <a:t>	</a:t>
            </a:r>
            <a:r>
              <a:rPr sz="2800" spc="145" dirty="0">
                <a:latin typeface="Arial"/>
                <a:cs typeface="Arial"/>
              </a:rPr>
              <a:t>k</a:t>
            </a:r>
            <a:r>
              <a:rPr sz="2800" spc="445" dirty="0">
                <a:latin typeface="Arial"/>
                <a:cs typeface="Arial"/>
              </a:rPr>
              <a:t>eşfi</a:t>
            </a:r>
            <a:r>
              <a:rPr sz="2800" dirty="0">
                <a:latin typeface="Arial"/>
                <a:cs typeface="Arial"/>
              </a:rPr>
              <a:t>	</a:t>
            </a:r>
            <a:r>
              <a:rPr sz="2800" spc="55" dirty="0">
                <a:latin typeface="Arial"/>
                <a:cs typeface="Arial"/>
              </a:rPr>
              <a:t>s</a:t>
            </a:r>
            <a:r>
              <a:rPr sz="2800" spc="65" dirty="0">
                <a:latin typeface="Arial"/>
                <a:cs typeface="Arial"/>
              </a:rPr>
              <a:t>ü</a:t>
            </a:r>
            <a:r>
              <a:rPr sz="2800" spc="405" dirty="0">
                <a:latin typeface="Arial"/>
                <a:cs typeface="Arial"/>
              </a:rPr>
              <a:t>reci</a:t>
            </a:r>
            <a:endParaRPr sz="2800">
              <a:latin typeface="Arial"/>
              <a:cs typeface="Arial"/>
            </a:endParaRPr>
          </a:p>
        </p:txBody>
      </p:sp>
      <p:sp>
        <p:nvSpPr>
          <p:cNvPr id="5" name="object 5"/>
          <p:cNvSpPr/>
          <p:nvPr/>
        </p:nvSpPr>
        <p:spPr>
          <a:xfrm>
            <a:off x="1217675" y="874775"/>
            <a:ext cx="6847332" cy="40005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3000" y="361950"/>
            <a:ext cx="7315200" cy="520655"/>
          </a:xfrm>
          <a:prstGeom prst="rect">
            <a:avLst/>
          </a:prstGeom>
        </p:spPr>
        <p:txBody>
          <a:bodyPr vert="horz" wrap="square" lIns="0" tIns="12700" rIns="0" bIns="0" rtlCol="0">
            <a:spAutoFit/>
          </a:bodyPr>
          <a:lstStyle/>
          <a:p>
            <a:pPr marL="12700">
              <a:lnSpc>
                <a:spcPct val="100000"/>
              </a:lnSpc>
              <a:spcBef>
                <a:spcPts val="100"/>
              </a:spcBef>
            </a:pPr>
            <a:r>
              <a:rPr lang="tr-TR" sz="3300" spc="20" dirty="0" err="1">
                <a:solidFill>
                  <a:srgbClr val="FFFFFF"/>
                </a:solidFill>
                <a:latin typeface="Arial Black"/>
                <a:cs typeface="Arial Black"/>
              </a:rPr>
              <a:t>Prepare</a:t>
            </a:r>
            <a:r>
              <a:rPr lang="tr-TR" sz="3300" spc="20" dirty="0">
                <a:solidFill>
                  <a:srgbClr val="FFFFFF"/>
                </a:solidFill>
                <a:latin typeface="Arial Black"/>
                <a:cs typeface="Arial Black"/>
              </a:rPr>
              <a:t> Data (Veri Hazırlama)</a:t>
            </a:r>
            <a:endParaRPr sz="3300" dirty="0">
              <a:latin typeface="Arial Black"/>
              <a:cs typeface="Arial Black"/>
            </a:endParaRPr>
          </a:p>
        </p:txBody>
      </p:sp>
      <p:sp>
        <p:nvSpPr>
          <p:cNvPr id="3" name="object 3"/>
          <p:cNvSpPr txBox="1"/>
          <p:nvPr/>
        </p:nvSpPr>
        <p:spPr>
          <a:xfrm>
            <a:off x="342900" y="1010132"/>
            <a:ext cx="8458200" cy="3795911"/>
          </a:xfrm>
          <a:prstGeom prst="rect">
            <a:avLst/>
          </a:prstGeom>
        </p:spPr>
        <p:txBody>
          <a:bodyPr vert="horz" wrap="square" lIns="0" tIns="12700" rIns="0" bIns="0" rtlCol="0">
            <a:spAutoFit/>
          </a:bodyPr>
          <a:lstStyle/>
          <a:p>
            <a:pPr marL="12700">
              <a:lnSpc>
                <a:spcPct val="100000"/>
              </a:lnSpc>
              <a:spcBef>
                <a:spcPts val="100"/>
              </a:spcBef>
            </a:pPr>
            <a:r>
              <a:rPr lang="tr-TR" sz="1600" dirty="0">
                <a:solidFill>
                  <a:schemeClr val="bg1"/>
                </a:solidFill>
                <a:latin typeface="Times New Roman" panose="02020603050405020304" pitchFamily="18" charset="0"/>
                <a:cs typeface="Times New Roman" panose="02020603050405020304" pitchFamily="18" charset="0"/>
              </a:rPr>
              <a:t>Veri hazırlama işlemi, modeli eğitmek veya değerlendirmek için gerekli olan verileri düzenleme ve hazırlama sürecini ifade eder. Bu süreç, doğru sonuçlar elde etmek için kritik bir adımdır. Veri hazırlama sürecinin genel adımları:</a:t>
            </a:r>
          </a:p>
          <a:p>
            <a:pPr marL="12700">
              <a:lnSpc>
                <a:spcPct val="100000"/>
              </a:lnSpc>
              <a:spcBef>
                <a:spcPts val="100"/>
              </a:spcBef>
            </a:pPr>
            <a:endParaRPr lang="tr-TR" sz="1600" dirty="0">
              <a:solidFill>
                <a:schemeClr val="bg1"/>
              </a:solidFill>
              <a:latin typeface="Times New Roman" panose="02020603050405020304" pitchFamily="18" charset="0"/>
              <a:cs typeface="Times New Roman" panose="02020603050405020304" pitchFamily="18" charset="0"/>
            </a:endParaRPr>
          </a:p>
          <a:p>
            <a:pPr marL="12700">
              <a:lnSpc>
                <a:spcPct val="100000"/>
              </a:lnSpc>
              <a:spcBef>
                <a:spcPts val="100"/>
              </a:spcBef>
            </a:pPr>
            <a:r>
              <a:rPr lang="tr-TR" sz="1600" b="1" dirty="0">
                <a:solidFill>
                  <a:srgbClr val="FFFF00"/>
                </a:solidFill>
                <a:latin typeface="Times New Roman" panose="02020603050405020304" pitchFamily="18" charset="0"/>
                <a:cs typeface="Times New Roman" panose="02020603050405020304" pitchFamily="18" charset="0"/>
              </a:rPr>
              <a:t>Veri Toplama: </a:t>
            </a:r>
            <a:r>
              <a:rPr lang="tr-TR" sz="1600" dirty="0">
                <a:solidFill>
                  <a:schemeClr val="bg1"/>
                </a:solidFill>
                <a:latin typeface="Times New Roman" panose="02020603050405020304" pitchFamily="18" charset="0"/>
                <a:cs typeface="Times New Roman" panose="02020603050405020304" pitchFamily="18" charset="0"/>
              </a:rPr>
              <a:t>İlk adım, nesneleri algılamak istediğiniz verileri toplamaktır. Bu veriler genellikle görüntüler veya videolar şeklinde olur. Örneğin, trafik levhalarını algılamak istiyorsanız, farklı trafik levhalarının bulunduğu resimler veya videolar elde etmelisiniz.</a:t>
            </a:r>
          </a:p>
          <a:p>
            <a:pPr marL="12700">
              <a:lnSpc>
                <a:spcPct val="100000"/>
              </a:lnSpc>
              <a:spcBef>
                <a:spcPts val="100"/>
              </a:spcBef>
            </a:pPr>
            <a:endParaRPr lang="tr-TR" sz="1600" dirty="0">
              <a:solidFill>
                <a:schemeClr val="bg1"/>
              </a:solidFill>
              <a:latin typeface="Times New Roman" panose="02020603050405020304" pitchFamily="18" charset="0"/>
              <a:cs typeface="Times New Roman" panose="02020603050405020304" pitchFamily="18" charset="0"/>
            </a:endParaRPr>
          </a:p>
          <a:p>
            <a:pPr marL="12700">
              <a:lnSpc>
                <a:spcPct val="100000"/>
              </a:lnSpc>
              <a:spcBef>
                <a:spcPts val="100"/>
              </a:spcBef>
            </a:pPr>
            <a:r>
              <a:rPr lang="tr-TR" sz="1600" b="1" dirty="0">
                <a:solidFill>
                  <a:srgbClr val="FFFF00"/>
                </a:solidFill>
                <a:latin typeface="Times New Roman" panose="02020603050405020304" pitchFamily="18" charset="0"/>
                <a:cs typeface="Times New Roman" panose="02020603050405020304" pitchFamily="18" charset="0"/>
              </a:rPr>
              <a:t>Veri Etiketleme: </a:t>
            </a:r>
            <a:r>
              <a:rPr lang="tr-TR" sz="1600" dirty="0">
                <a:solidFill>
                  <a:schemeClr val="bg1"/>
                </a:solidFill>
                <a:latin typeface="Times New Roman" panose="02020603050405020304" pitchFamily="18" charset="0"/>
                <a:cs typeface="Times New Roman" panose="02020603050405020304" pitchFamily="18" charset="0"/>
              </a:rPr>
              <a:t>Topladığınız verileri etiketlemeniz gerekecektir. Her görüntü veya video içindeki nesneleri tanımlamak için etiketler eklemeniz gerekir. Bu etiketler nesnenin türünü (örneğin, "dur" işareti), konumunu (örneğin, x ve y koordinatları) ve boyutunu içerebilir.</a:t>
            </a:r>
          </a:p>
          <a:p>
            <a:pPr marL="12700">
              <a:lnSpc>
                <a:spcPct val="100000"/>
              </a:lnSpc>
              <a:spcBef>
                <a:spcPts val="100"/>
              </a:spcBef>
            </a:pPr>
            <a:endParaRPr lang="tr-TR" sz="1600" dirty="0">
              <a:solidFill>
                <a:schemeClr val="bg1"/>
              </a:solidFill>
              <a:latin typeface="Times New Roman" panose="02020603050405020304" pitchFamily="18" charset="0"/>
              <a:cs typeface="Times New Roman" panose="02020603050405020304" pitchFamily="18" charset="0"/>
            </a:endParaRPr>
          </a:p>
          <a:p>
            <a:pPr marL="12700">
              <a:lnSpc>
                <a:spcPct val="100000"/>
              </a:lnSpc>
              <a:spcBef>
                <a:spcPts val="100"/>
              </a:spcBef>
            </a:pPr>
            <a:r>
              <a:rPr lang="tr-TR" sz="1600" b="1" dirty="0">
                <a:solidFill>
                  <a:srgbClr val="FFFF00"/>
                </a:solidFill>
                <a:latin typeface="Times New Roman" panose="02020603050405020304" pitchFamily="18" charset="0"/>
                <a:cs typeface="Times New Roman" panose="02020603050405020304" pitchFamily="18" charset="0"/>
              </a:rPr>
              <a:t>Veri Temizleme: </a:t>
            </a:r>
            <a:r>
              <a:rPr lang="tr-TR" sz="1600" dirty="0">
                <a:solidFill>
                  <a:schemeClr val="bg1"/>
                </a:solidFill>
                <a:latin typeface="Times New Roman" panose="02020603050405020304" pitchFamily="18" charset="0"/>
                <a:cs typeface="Times New Roman" panose="02020603050405020304" pitchFamily="18" charset="0"/>
              </a:rPr>
              <a:t>Verilerinizi inceleyin ve gereksiz veya hatalı verileri temizleyin. Bu, veri kümenizin kalitesini artırır ve modelinizi daha iyi eğitmenize yardımcı olur.</a:t>
            </a:r>
          </a:p>
          <a:p>
            <a:pPr marL="12700">
              <a:lnSpc>
                <a:spcPct val="100000"/>
              </a:lnSpc>
              <a:spcBef>
                <a:spcPts val="100"/>
              </a:spcBef>
            </a:pPr>
            <a:endParaRPr lang="tr-TR"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8920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3000" y="280809"/>
            <a:ext cx="7315200" cy="520655"/>
          </a:xfrm>
          <a:prstGeom prst="rect">
            <a:avLst/>
          </a:prstGeom>
        </p:spPr>
        <p:txBody>
          <a:bodyPr vert="horz" wrap="square" lIns="0" tIns="12700" rIns="0" bIns="0" rtlCol="0">
            <a:spAutoFit/>
          </a:bodyPr>
          <a:lstStyle/>
          <a:p>
            <a:pPr marL="12700">
              <a:lnSpc>
                <a:spcPct val="100000"/>
              </a:lnSpc>
              <a:spcBef>
                <a:spcPts val="100"/>
              </a:spcBef>
            </a:pPr>
            <a:r>
              <a:rPr lang="tr-TR" sz="3300" spc="20" dirty="0" err="1">
                <a:solidFill>
                  <a:srgbClr val="FFFFFF"/>
                </a:solidFill>
                <a:latin typeface="Arial Black"/>
                <a:cs typeface="Arial Black"/>
              </a:rPr>
              <a:t>Prepare</a:t>
            </a:r>
            <a:r>
              <a:rPr lang="tr-TR" sz="3300" spc="20" dirty="0">
                <a:solidFill>
                  <a:srgbClr val="FFFFFF"/>
                </a:solidFill>
                <a:latin typeface="Arial Black"/>
                <a:cs typeface="Arial Black"/>
              </a:rPr>
              <a:t> Data (Veri Hazırlama)</a:t>
            </a:r>
            <a:endParaRPr sz="3300" dirty="0">
              <a:latin typeface="Arial Black"/>
              <a:cs typeface="Arial Black"/>
            </a:endParaRPr>
          </a:p>
        </p:txBody>
      </p:sp>
      <p:sp>
        <p:nvSpPr>
          <p:cNvPr id="3" name="object 3"/>
          <p:cNvSpPr txBox="1"/>
          <p:nvPr/>
        </p:nvSpPr>
        <p:spPr>
          <a:xfrm>
            <a:off x="285750" y="971550"/>
            <a:ext cx="8572500" cy="3919022"/>
          </a:xfrm>
          <a:prstGeom prst="rect">
            <a:avLst/>
          </a:prstGeom>
        </p:spPr>
        <p:txBody>
          <a:bodyPr vert="horz" wrap="square" lIns="0" tIns="12700" rIns="0" bIns="0" rtlCol="0">
            <a:spAutoFit/>
          </a:bodyPr>
          <a:lstStyle/>
          <a:p>
            <a:pPr marL="298450" indent="-285750">
              <a:lnSpc>
                <a:spcPct val="100000"/>
              </a:lnSpc>
              <a:spcBef>
                <a:spcPts val="100"/>
              </a:spcBef>
              <a:spcAft>
                <a:spcPts val="1000"/>
              </a:spcAft>
              <a:buFont typeface="Arial" panose="020B0604020202020204" pitchFamily="34" charset="0"/>
              <a:buChar char="•"/>
            </a:pPr>
            <a:r>
              <a:rPr lang="tr-TR" sz="1600" b="1" dirty="0">
                <a:solidFill>
                  <a:srgbClr val="FFFF00"/>
                </a:solidFill>
                <a:latin typeface="Times New Roman" panose="02020603050405020304" pitchFamily="18" charset="0"/>
                <a:cs typeface="Times New Roman" panose="02020603050405020304" pitchFamily="18" charset="0"/>
              </a:rPr>
              <a:t>Veri Bölme: </a:t>
            </a:r>
            <a:r>
              <a:rPr lang="tr-TR" sz="1600" dirty="0">
                <a:solidFill>
                  <a:schemeClr val="bg1"/>
                </a:solidFill>
                <a:latin typeface="Times New Roman" panose="02020603050405020304" pitchFamily="18" charset="0"/>
                <a:cs typeface="Times New Roman" panose="02020603050405020304" pitchFamily="18" charset="0"/>
              </a:rPr>
              <a:t>Verilerinizi eğitim ve test veri kümeleri olarak bölün. Eğitim veri kümesi, modelinizi eğitmek için kullanılacak verileri içerirken, test veri kümesi modelinizi değerlendirmek için kullanılır.</a:t>
            </a:r>
          </a:p>
          <a:p>
            <a:pPr marL="298450" indent="-285750">
              <a:lnSpc>
                <a:spcPct val="100000"/>
              </a:lnSpc>
              <a:spcBef>
                <a:spcPts val="100"/>
              </a:spcBef>
              <a:spcAft>
                <a:spcPts val="1000"/>
              </a:spcAft>
              <a:buFont typeface="Arial" panose="020B0604020202020204" pitchFamily="34" charset="0"/>
              <a:buChar char="•"/>
            </a:pPr>
            <a:r>
              <a:rPr lang="tr-TR" sz="1600" b="1" dirty="0">
                <a:solidFill>
                  <a:srgbClr val="FFFF00"/>
                </a:solidFill>
                <a:latin typeface="Times New Roman" panose="02020603050405020304" pitchFamily="18" charset="0"/>
                <a:cs typeface="Times New Roman" panose="02020603050405020304" pitchFamily="18" charset="0"/>
              </a:rPr>
              <a:t>Veri Ön İşleme: </a:t>
            </a:r>
            <a:r>
              <a:rPr lang="tr-TR" sz="1600" dirty="0">
                <a:solidFill>
                  <a:schemeClr val="bg1"/>
                </a:solidFill>
                <a:latin typeface="Times New Roman" panose="02020603050405020304" pitchFamily="18" charset="0"/>
                <a:cs typeface="Times New Roman" panose="02020603050405020304" pitchFamily="18" charset="0"/>
              </a:rPr>
              <a:t>Verilerinizi modelin anlayabileceği bir formata dönüştürün. Görüntüleri boyutlandırın, normalleştirin veya herhangi bir ön işleme adımı uygulayın.</a:t>
            </a:r>
          </a:p>
          <a:p>
            <a:pPr marL="298450" indent="-285750">
              <a:lnSpc>
                <a:spcPct val="100000"/>
              </a:lnSpc>
              <a:spcBef>
                <a:spcPts val="100"/>
              </a:spcBef>
              <a:spcAft>
                <a:spcPts val="1000"/>
              </a:spcAft>
              <a:buFont typeface="Arial" panose="020B0604020202020204" pitchFamily="34" charset="0"/>
              <a:buChar char="•"/>
            </a:pPr>
            <a:r>
              <a:rPr lang="tr-TR" sz="1600" b="1" dirty="0">
                <a:solidFill>
                  <a:srgbClr val="FFFF00"/>
                </a:solidFill>
                <a:latin typeface="Times New Roman" panose="02020603050405020304" pitchFamily="18" charset="0"/>
                <a:cs typeface="Times New Roman" panose="02020603050405020304" pitchFamily="18" charset="0"/>
              </a:rPr>
              <a:t>Veri </a:t>
            </a:r>
            <a:r>
              <a:rPr lang="tr-TR" sz="1600" b="1" dirty="0" err="1">
                <a:solidFill>
                  <a:srgbClr val="FFFF00"/>
                </a:solidFill>
                <a:latin typeface="Times New Roman" panose="02020603050405020304" pitchFamily="18" charset="0"/>
                <a:cs typeface="Times New Roman" panose="02020603050405020304" pitchFamily="18" charset="0"/>
              </a:rPr>
              <a:t>Augmentasyon</a:t>
            </a:r>
            <a:r>
              <a:rPr lang="tr-TR" sz="1600" b="1" dirty="0">
                <a:solidFill>
                  <a:srgbClr val="FFFF00"/>
                </a:solidFill>
                <a:latin typeface="Times New Roman" panose="02020603050405020304" pitchFamily="18" charset="0"/>
                <a:cs typeface="Times New Roman" panose="02020603050405020304" pitchFamily="18" charset="0"/>
              </a:rPr>
              <a:t> (Artırma): </a:t>
            </a:r>
            <a:r>
              <a:rPr lang="tr-TR" sz="1600" dirty="0">
                <a:solidFill>
                  <a:schemeClr val="bg1"/>
                </a:solidFill>
                <a:latin typeface="Times New Roman" panose="02020603050405020304" pitchFamily="18" charset="0"/>
                <a:cs typeface="Times New Roman" panose="02020603050405020304" pitchFamily="18" charset="0"/>
              </a:rPr>
              <a:t>Veri kümenizi çeşitlendirmek için veri artırma teknikleri kullanabilirsiniz. Bu, modelinizin daha genel ve dayanıklı olmasına yardımcı olabilir.</a:t>
            </a:r>
          </a:p>
          <a:p>
            <a:pPr marL="298450" indent="-285750">
              <a:lnSpc>
                <a:spcPct val="100000"/>
              </a:lnSpc>
              <a:spcBef>
                <a:spcPts val="100"/>
              </a:spcBef>
              <a:spcAft>
                <a:spcPts val="1000"/>
              </a:spcAft>
              <a:buFont typeface="Arial" panose="020B0604020202020204" pitchFamily="34" charset="0"/>
              <a:buChar char="•"/>
            </a:pPr>
            <a:r>
              <a:rPr lang="tr-TR" sz="1600" b="1" dirty="0">
                <a:solidFill>
                  <a:srgbClr val="FFFF00"/>
                </a:solidFill>
                <a:latin typeface="Times New Roman" panose="02020603050405020304" pitchFamily="18" charset="0"/>
                <a:cs typeface="Times New Roman" panose="02020603050405020304" pitchFamily="18" charset="0"/>
              </a:rPr>
              <a:t>Veri Saklama ve Yedekleme: </a:t>
            </a:r>
            <a:r>
              <a:rPr lang="tr-TR" sz="1600" dirty="0">
                <a:solidFill>
                  <a:schemeClr val="bg1"/>
                </a:solidFill>
                <a:latin typeface="Times New Roman" panose="02020603050405020304" pitchFamily="18" charset="0"/>
                <a:cs typeface="Times New Roman" panose="02020603050405020304" pitchFamily="18" charset="0"/>
              </a:rPr>
              <a:t>Verilerinizi güvenli bir şekilde saklayın ve düzenli olarak yedekleyin.</a:t>
            </a:r>
          </a:p>
          <a:p>
            <a:pPr marL="298450" indent="-285750">
              <a:lnSpc>
                <a:spcPct val="100000"/>
              </a:lnSpc>
              <a:spcBef>
                <a:spcPts val="100"/>
              </a:spcBef>
              <a:spcAft>
                <a:spcPts val="1000"/>
              </a:spcAft>
              <a:buFont typeface="Arial" panose="020B0604020202020204" pitchFamily="34" charset="0"/>
              <a:buChar char="•"/>
            </a:pPr>
            <a:r>
              <a:rPr lang="tr-TR" sz="1600" b="1" dirty="0">
                <a:solidFill>
                  <a:srgbClr val="FFFF00"/>
                </a:solidFill>
                <a:latin typeface="Times New Roman" panose="02020603050405020304" pitchFamily="18" charset="0"/>
                <a:cs typeface="Times New Roman" panose="02020603050405020304" pitchFamily="18" charset="0"/>
              </a:rPr>
              <a:t>Veri Seti Düzenleme ve Biçimlendirme: </a:t>
            </a:r>
            <a:r>
              <a:rPr lang="tr-TR" sz="1600" dirty="0">
                <a:solidFill>
                  <a:schemeClr val="bg1"/>
                </a:solidFill>
                <a:latin typeface="Times New Roman" panose="02020603050405020304" pitchFamily="18" charset="0"/>
                <a:cs typeface="Times New Roman" panose="02020603050405020304" pitchFamily="18" charset="0"/>
              </a:rPr>
              <a:t>Veri kümenizi kullanacağınız nesne algılama modelinin beklediği biçime dönüştürün. Bu, verileri modelinize beslemeden önce yapılması gereken bir adımdır.</a:t>
            </a:r>
          </a:p>
          <a:p>
            <a:pPr marL="298450" indent="-285750">
              <a:lnSpc>
                <a:spcPct val="100000"/>
              </a:lnSpc>
              <a:spcBef>
                <a:spcPts val="100"/>
              </a:spcBef>
              <a:spcAft>
                <a:spcPts val="1000"/>
              </a:spcAft>
              <a:buFont typeface="Arial" panose="020B0604020202020204" pitchFamily="34" charset="0"/>
              <a:buChar char="•"/>
            </a:pPr>
            <a:r>
              <a:rPr lang="tr-TR" sz="1600" dirty="0">
                <a:solidFill>
                  <a:schemeClr val="bg1"/>
                </a:solidFill>
                <a:latin typeface="Times New Roman" panose="02020603050405020304" pitchFamily="18" charset="0"/>
                <a:cs typeface="Times New Roman" panose="02020603050405020304" pitchFamily="18" charset="0"/>
              </a:rPr>
              <a:t>Veri hazırlama süreci, modelinizin başarı oranını büyük ölçüde etkileyebilir. Bu nedenle verilerinizi doğru bir şekilde hazırlamak ve düzenlemek çok önemlidir.</a:t>
            </a:r>
          </a:p>
        </p:txBody>
      </p:sp>
    </p:spTree>
    <p:extLst>
      <p:ext uri="{BB962C8B-B14F-4D97-AF65-F5344CB8AC3E}">
        <p14:creationId xmlns:p14="http://schemas.microsoft.com/office/powerpoint/2010/main" val="3732159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B895EF56-E23E-F641-346E-C03390B14D9E}"/>
              </a:ext>
            </a:extLst>
          </p:cNvPr>
          <p:cNvPicPr>
            <a:picLocks noChangeAspect="1"/>
          </p:cNvPicPr>
          <p:nvPr/>
        </p:nvPicPr>
        <p:blipFill>
          <a:blip r:embed="rId2"/>
          <a:stretch>
            <a:fillRect/>
          </a:stretch>
        </p:blipFill>
        <p:spPr>
          <a:xfrm>
            <a:off x="856928" y="361758"/>
            <a:ext cx="7430144" cy="44199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60298" y="707136"/>
            <a:ext cx="7423404" cy="3729228"/>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8600" y="590550"/>
            <a:ext cx="4343400" cy="3813429"/>
          </a:xfrm>
          <a:prstGeom prst="rect">
            <a:avLst/>
          </a:prstGeom>
          <a:blipFill>
            <a:blip r:embed="rId2" cstate="print"/>
            <a:stretch>
              <a:fillRect/>
            </a:stretch>
          </a:blipFill>
        </p:spPr>
        <p:txBody>
          <a:bodyPr wrap="square" lIns="0" tIns="0" rIns="0" bIns="0" rtlCol="0"/>
          <a:lstStyle/>
          <a:p>
            <a:endParaRPr lang="tr-TR" dirty="0"/>
          </a:p>
        </p:txBody>
      </p:sp>
      <p:sp>
        <p:nvSpPr>
          <p:cNvPr id="4" name="TextBox 3">
            <a:extLst>
              <a:ext uri="{FF2B5EF4-FFF2-40B4-BE49-F238E27FC236}">
                <a16:creationId xmlns:a16="http://schemas.microsoft.com/office/drawing/2014/main" id="{61E8695F-4F63-3D5F-D457-2CB87C364D1E}"/>
              </a:ext>
            </a:extLst>
          </p:cNvPr>
          <p:cNvSpPr txBox="1"/>
          <p:nvPr/>
        </p:nvSpPr>
        <p:spPr>
          <a:xfrm>
            <a:off x="4724400" y="133350"/>
            <a:ext cx="4038600" cy="4339650"/>
          </a:xfrm>
          <a:prstGeom prst="rect">
            <a:avLst/>
          </a:prstGeom>
          <a:noFill/>
        </p:spPr>
        <p:txBody>
          <a:bodyPr wrap="square">
            <a:spAutoFit/>
          </a:bodyPr>
          <a:lstStyle/>
          <a:p>
            <a:pPr algn="just"/>
            <a:r>
              <a:rPr lang="tr-TR" sz="1200" b="1" u="sng" dirty="0">
                <a:solidFill>
                  <a:srgbClr val="FFFF00"/>
                </a:solidFill>
                <a:latin typeface="Times New Roman" panose="02020603050405020304" pitchFamily="18" charset="0"/>
                <a:cs typeface="Times New Roman" panose="02020603050405020304" pitchFamily="18" charset="0"/>
              </a:rPr>
              <a:t>Nominal</a:t>
            </a:r>
            <a:r>
              <a:rPr lang="tr-TR" sz="1200" b="1" u="sng">
                <a:solidFill>
                  <a:srgbClr val="FFFF00"/>
                </a:solidFill>
                <a:latin typeface="Times New Roman" panose="02020603050405020304" pitchFamily="18" charset="0"/>
                <a:cs typeface="Times New Roman" panose="02020603050405020304" pitchFamily="18" charset="0"/>
              </a:rPr>
              <a:t>: </a:t>
            </a:r>
            <a:r>
              <a:rPr lang="tr-TR" sz="1200">
                <a:solidFill>
                  <a:schemeClr val="bg1"/>
                </a:solidFill>
                <a:latin typeface="Times New Roman" panose="02020603050405020304" pitchFamily="18" charset="0"/>
                <a:cs typeface="Times New Roman" panose="02020603050405020304" pitchFamily="18" charset="0"/>
              </a:rPr>
              <a:t>Nominal</a:t>
            </a:r>
            <a:r>
              <a:rPr lang="tr-TR" sz="1200" dirty="0">
                <a:solidFill>
                  <a:schemeClr val="bg1"/>
                </a:solidFill>
                <a:latin typeface="Times New Roman" panose="02020603050405020304" pitchFamily="18" charset="0"/>
                <a:cs typeface="Times New Roman" panose="02020603050405020304" pitchFamily="18" charset="0"/>
              </a:rPr>
              <a:t>, ölçümün sıralanamadığı veya hiyerarşik bir yapı oluşturulamadığı kategorik verileri tanımlar. Nominal nitelikler, verileri sınıflandırmak veya kategorilere ayırmak için kullanılır, ancak bu kategoriler arasında sayısal bir sıralama veya derecelendirme yapılamaz. TC No., kişinin cinsiyeti, göz rengi, posta kodu gibi.</a:t>
            </a:r>
          </a:p>
          <a:p>
            <a:pPr algn="just"/>
            <a:endParaRPr lang="tr-TR" sz="1200" dirty="0">
              <a:solidFill>
                <a:schemeClr val="bg1"/>
              </a:solidFill>
              <a:latin typeface="Times New Roman" panose="02020603050405020304" pitchFamily="18" charset="0"/>
              <a:cs typeface="Times New Roman" panose="02020603050405020304" pitchFamily="18" charset="0"/>
            </a:endParaRPr>
          </a:p>
          <a:p>
            <a:pPr algn="just"/>
            <a:r>
              <a:rPr lang="tr-TR" sz="1200" b="1" u="sng" dirty="0">
                <a:solidFill>
                  <a:srgbClr val="FFFF00"/>
                </a:solidFill>
                <a:latin typeface="Times New Roman" panose="02020603050405020304" pitchFamily="18" charset="0"/>
                <a:cs typeface="Times New Roman" panose="02020603050405020304" pitchFamily="18" charset="0"/>
              </a:rPr>
              <a:t>Ordinal: </a:t>
            </a:r>
          </a:p>
          <a:p>
            <a:pPr marL="171450" indent="-171450" algn="just">
              <a:buFont typeface="Arial" panose="020B0604020202020204" pitchFamily="34" charset="0"/>
              <a:buChar char="•"/>
            </a:pPr>
            <a:r>
              <a:rPr lang="tr-TR" sz="1200" dirty="0">
                <a:solidFill>
                  <a:schemeClr val="bg1"/>
                </a:solidFill>
                <a:latin typeface="Times New Roman" panose="02020603050405020304" pitchFamily="18" charset="0"/>
                <a:cs typeface="Times New Roman" panose="02020603050405020304" pitchFamily="18" charset="0"/>
              </a:rPr>
              <a:t>Nesneleri sıralamak için yeterli bilgi sağlar. Ordinal, verilerin belirli bir sıralamaya veya derecelendirmeye tabi olduğu kategorik bir değişken türünü tanımlar. Yani, bu tür bir değişken, verileri sınıflandırırken sıralama veya derecelendirme önemlidir, ancak bu sıralama sayısal bir ölçüm değil, kategorik bir sıralamadır. </a:t>
            </a:r>
          </a:p>
          <a:p>
            <a:pPr marL="171450" indent="-171450" algn="just">
              <a:buFont typeface="Arial" panose="020B0604020202020204" pitchFamily="34" charset="0"/>
              <a:buChar char="•"/>
            </a:pPr>
            <a:endParaRPr lang="tr-TR" sz="1200" dirty="0">
              <a:solidFill>
                <a:schemeClr val="bg1"/>
              </a:solidFill>
              <a:latin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tr-TR" sz="1200" dirty="0">
                <a:solidFill>
                  <a:schemeClr val="bg1"/>
                </a:solidFill>
                <a:latin typeface="Times New Roman" panose="02020603050405020304" pitchFamily="18" charset="0"/>
                <a:cs typeface="Times New Roman" panose="02020603050405020304" pitchFamily="18" charset="0"/>
              </a:rPr>
              <a:t>Örnek olarak, eğitim seviyeleri nominal bir değişkenken, eğitim seviyelerini "ilkokul," "ortaokul," "lise," "lisans," "yüksek lisans" ve "doktora" gibi bir sıralamaya tabi olarak düşünün. Bu durumda, eğitim seviyeleri ordinal bir nitelik olarak kabul edilir çünkü bu seviyeler belirli bir sıraya sahiptir, ancak aralarındaki fark sayısal bir ölçüm değildir. Sıralamalar, Notlar, Yükseklik gibi.</a:t>
            </a:r>
          </a:p>
          <a:p>
            <a:endParaRPr lang="tr-TR" sz="12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58210E7-DB98-A93C-7582-56FF2730C22F}"/>
              </a:ext>
            </a:extLst>
          </p:cNvPr>
          <p:cNvPicPr>
            <a:picLocks noChangeAspect="1"/>
          </p:cNvPicPr>
          <p:nvPr/>
        </p:nvPicPr>
        <p:blipFill>
          <a:blip r:embed="rId3"/>
          <a:stretch>
            <a:fillRect/>
          </a:stretch>
        </p:blipFill>
        <p:spPr>
          <a:xfrm>
            <a:off x="3124200" y="209550"/>
            <a:ext cx="1104900" cy="866775"/>
          </a:xfrm>
          <a:prstGeom prst="rect">
            <a:avLst/>
          </a:prstGeom>
        </p:spPr>
      </p:pic>
      <p:cxnSp>
        <p:nvCxnSpPr>
          <p:cNvPr id="8" name="Straight Arrow Connector 7">
            <a:extLst>
              <a:ext uri="{FF2B5EF4-FFF2-40B4-BE49-F238E27FC236}">
                <a16:creationId xmlns:a16="http://schemas.microsoft.com/office/drawing/2014/main" id="{06359142-3F0A-498B-CA3E-ABE9ABCF88AB}"/>
              </a:ext>
            </a:extLst>
          </p:cNvPr>
          <p:cNvCxnSpPr>
            <a:cxnSpLocks/>
          </p:cNvCxnSpPr>
          <p:nvPr/>
        </p:nvCxnSpPr>
        <p:spPr>
          <a:xfrm flipH="1">
            <a:off x="838200" y="971550"/>
            <a:ext cx="236220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A1F2748-703A-DAA4-1D9D-84BAD60C96DC}"/>
              </a:ext>
            </a:extLst>
          </p:cNvPr>
          <p:cNvCxnSpPr>
            <a:cxnSpLocks/>
          </p:cNvCxnSpPr>
          <p:nvPr/>
        </p:nvCxnSpPr>
        <p:spPr>
          <a:xfrm flipH="1">
            <a:off x="762000" y="895350"/>
            <a:ext cx="23622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0D90025-F6B3-5F5C-64FD-C61B207C0A17}"/>
              </a:ext>
            </a:extLst>
          </p:cNvPr>
          <p:cNvCxnSpPr>
            <a:cxnSpLocks/>
          </p:cNvCxnSpPr>
          <p:nvPr/>
        </p:nvCxnSpPr>
        <p:spPr>
          <a:xfrm flipH="1">
            <a:off x="692426" y="776080"/>
            <a:ext cx="2438400" cy="3209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5963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200" y="590550"/>
            <a:ext cx="4343400" cy="3813429"/>
          </a:xfrm>
          <a:prstGeom prst="rect">
            <a:avLst/>
          </a:prstGeom>
          <a:blipFill>
            <a:blip r:embed="rId2" cstate="print"/>
            <a:stretch>
              <a:fillRect/>
            </a:stretch>
          </a:blipFill>
        </p:spPr>
        <p:txBody>
          <a:bodyPr wrap="square" lIns="0" tIns="0" rIns="0" bIns="0" rtlCol="0"/>
          <a:lstStyle/>
          <a:p>
            <a:endParaRPr lang="tr-TR" dirty="0"/>
          </a:p>
        </p:txBody>
      </p:sp>
      <p:sp>
        <p:nvSpPr>
          <p:cNvPr id="4" name="TextBox 3">
            <a:extLst>
              <a:ext uri="{FF2B5EF4-FFF2-40B4-BE49-F238E27FC236}">
                <a16:creationId xmlns:a16="http://schemas.microsoft.com/office/drawing/2014/main" id="{61E8695F-4F63-3D5F-D457-2CB87C364D1E}"/>
              </a:ext>
            </a:extLst>
          </p:cNvPr>
          <p:cNvSpPr txBox="1"/>
          <p:nvPr/>
        </p:nvSpPr>
        <p:spPr>
          <a:xfrm>
            <a:off x="4343400" y="133350"/>
            <a:ext cx="4648200" cy="5155257"/>
          </a:xfrm>
          <a:prstGeom prst="rect">
            <a:avLst/>
          </a:prstGeom>
          <a:noFill/>
        </p:spPr>
        <p:txBody>
          <a:bodyPr wrap="square">
            <a:spAutoFit/>
          </a:bodyPr>
          <a:lstStyle/>
          <a:p>
            <a:r>
              <a:rPr lang="tr-TR" sz="1300" b="1" u="sng" dirty="0" err="1">
                <a:solidFill>
                  <a:srgbClr val="FFFF00"/>
                </a:solidFill>
                <a:latin typeface="Times New Roman" panose="02020603050405020304" pitchFamily="18" charset="0"/>
                <a:cs typeface="Times New Roman" panose="02020603050405020304" pitchFamily="18" charset="0"/>
              </a:rPr>
              <a:t>Binary</a:t>
            </a:r>
            <a:r>
              <a:rPr lang="tr-TR" sz="1300" b="1" u="sng" dirty="0">
                <a:solidFill>
                  <a:srgbClr val="FFFF00"/>
                </a:solidFill>
                <a:latin typeface="Times New Roman" panose="02020603050405020304" pitchFamily="18" charset="0"/>
                <a:cs typeface="Times New Roman" panose="02020603050405020304" pitchFamily="18" charset="0"/>
              </a:rPr>
              <a:t>:</a:t>
            </a:r>
            <a:r>
              <a:rPr lang="tr-TR" sz="1300" dirty="0">
                <a:solidFill>
                  <a:schemeClr val="bg1"/>
                </a:solidFill>
                <a:latin typeface="Times New Roman" panose="02020603050405020304" pitchFamily="18" charset="0"/>
                <a:cs typeface="Times New Roman" panose="02020603050405020304" pitchFamily="18" charset="0"/>
              </a:rPr>
              <a:t> Burada 0, herhangi bir özelliğin yokluğu ve 1, herhangi bir özelliğin varlığını temsil eder.</a:t>
            </a:r>
          </a:p>
          <a:p>
            <a:endParaRPr lang="tr-TR" sz="1300" dirty="0">
              <a:solidFill>
                <a:schemeClr val="bg1"/>
              </a:solidFill>
              <a:latin typeface="Times New Roman" panose="02020603050405020304" pitchFamily="18" charset="0"/>
              <a:cs typeface="Times New Roman" panose="02020603050405020304" pitchFamily="18" charset="0"/>
            </a:endParaRPr>
          </a:p>
          <a:p>
            <a:r>
              <a:rPr lang="tr-TR" sz="1300" b="1" u="sng" dirty="0" err="1">
                <a:solidFill>
                  <a:srgbClr val="FFFF00"/>
                </a:solidFill>
                <a:latin typeface="Times New Roman" panose="02020603050405020304" pitchFamily="18" charset="0"/>
                <a:cs typeface="Times New Roman" panose="02020603050405020304" pitchFamily="18" charset="0"/>
              </a:rPr>
              <a:t>Interval</a:t>
            </a:r>
            <a:r>
              <a:rPr lang="tr-TR" sz="1300" b="1" u="sng" dirty="0">
                <a:solidFill>
                  <a:srgbClr val="FFFF00"/>
                </a:solidFill>
                <a:latin typeface="Times New Roman" panose="02020603050405020304" pitchFamily="18" charset="0"/>
                <a:cs typeface="Times New Roman" panose="02020603050405020304" pitchFamily="18" charset="0"/>
              </a:rPr>
              <a:t>:  </a:t>
            </a:r>
          </a:p>
          <a:p>
            <a:pPr marL="285750" indent="-285750">
              <a:spcAft>
                <a:spcPts val="1200"/>
              </a:spcAft>
              <a:buFont typeface="Arial" panose="020B0604020202020204" pitchFamily="34" charset="0"/>
              <a:buChar char="•"/>
            </a:pPr>
            <a:r>
              <a:rPr lang="tr-TR" sz="1300" dirty="0" err="1">
                <a:solidFill>
                  <a:schemeClr val="bg1"/>
                </a:solidFill>
                <a:latin typeface="Times New Roman" panose="02020603050405020304" pitchFamily="18" charset="0"/>
                <a:cs typeface="Times New Roman" panose="02020603050405020304" pitchFamily="18" charset="0"/>
              </a:rPr>
              <a:t>Interval</a:t>
            </a:r>
            <a:r>
              <a:rPr lang="tr-TR" sz="1300" dirty="0">
                <a:solidFill>
                  <a:schemeClr val="bg1"/>
                </a:solidFill>
                <a:latin typeface="Times New Roman" panose="02020603050405020304" pitchFamily="18" charset="0"/>
                <a:cs typeface="Times New Roman" panose="02020603050405020304" pitchFamily="18" charset="0"/>
              </a:rPr>
              <a:t> nitelikler, sayısal bir ölçüm birimi kullanılarak ölçülebilen ve aralarındaki farkların anlamlı olduğu verileri temsil ederler. Bu tür veriler, sayılar arasındaki aritmetik işlemlerin yapılmasına izin verir.</a:t>
            </a:r>
          </a:p>
          <a:p>
            <a:pPr marL="285750" indent="-285750">
              <a:spcAft>
                <a:spcPts val="1200"/>
              </a:spcAft>
              <a:buFont typeface="Arial" panose="020B0604020202020204" pitchFamily="34" charset="0"/>
              <a:buChar char="•"/>
            </a:pPr>
            <a:r>
              <a:rPr lang="tr-TR" sz="1300" dirty="0" err="1">
                <a:solidFill>
                  <a:schemeClr val="bg1"/>
                </a:solidFill>
                <a:latin typeface="Times New Roman" panose="02020603050405020304" pitchFamily="18" charset="0"/>
                <a:cs typeface="Times New Roman" panose="02020603050405020304" pitchFamily="18" charset="0"/>
              </a:rPr>
              <a:t>Interval</a:t>
            </a:r>
            <a:r>
              <a:rPr lang="tr-TR" sz="1300" dirty="0">
                <a:solidFill>
                  <a:schemeClr val="bg1"/>
                </a:solidFill>
                <a:latin typeface="Times New Roman" panose="02020603050405020304" pitchFamily="18" charset="0"/>
                <a:cs typeface="Times New Roman" panose="02020603050405020304" pitchFamily="18" charset="0"/>
              </a:rPr>
              <a:t> nitelikler, belirli bir ölçüm birimi (örneğin santimetre, derece </a:t>
            </a:r>
            <a:r>
              <a:rPr lang="tr-TR" sz="1300" dirty="0" err="1">
                <a:solidFill>
                  <a:schemeClr val="bg1"/>
                </a:solidFill>
                <a:latin typeface="Times New Roman" panose="02020603050405020304" pitchFamily="18" charset="0"/>
                <a:cs typeface="Times New Roman" panose="02020603050405020304" pitchFamily="18" charset="0"/>
              </a:rPr>
              <a:t>Celsius</a:t>
            </a:r>
            <a:r>
              <a:rPr lang="tr-TR" sz="1300" dirty="0">
                <a:solidFill>
                  <a:schemeClr val="bg1"/>
                </a:solidFill>
                <a:latin typeface="Times New Roman" panose="02020603050405020304" pitchFamily="18" charset="0"/>
                <a:cs typeface="Times New Roman" panose="02020603050405020304" pitchFamily="18" charset="0"/>
              </a:rPr>
              <a:t>) kullanılarak ölçülen verileri temsil ederler. Bu, verilerin sayısal değerlerle ifade edilebileceği anlamına gelir.</a:t>
            </a:r>
          </a:p>
          <a:p>
            <a:pPr marL="285750" indent="-285750">
              <a:spcAft>
                <a:spcPts val="1200"/>
              </a:spcAft>
              <a:buFont typeface="Arial" panose="020B0604020202020204" pitchFamily="34" charset="0"/>
              <a:buChar char="•"/>
            </a:pPr>
            <a:r>
              <a:rPr lang="tr-TR" sz="1300" dirty="0">
                <a:solidFill>
                  <a:schemeClr val="bg1"/>
                </a:solidFill>
                <a:latin typeface="Times New Roman" panose="02020603050405020304" pitchFamily="18" charset="0"/>
                <a:cs typeface="Times New Roman" panose="02020603050405020304" pitchFamily="18" charset="0"/>
              </a:rPr>
              <a:t>Verileri sıralamak ve sıralamalar arasındaki farkları incelemek için kullanılır. Örneğin, sıcaklık ölçümünde 20 derece ile 30 derece arasındaki farkın 10 derece olduğu bilinir. Eşit büyüklükteki birimlerden oluşan bir ölçekte ölçülür. Ölçülen değerler arasındaki farkların anlamlı olduğu, ancak sıfır noktasının keyfi olduğu niteliklerdir. Başka bir deyişle, iki veri noktası arasındaki fark yorumlanabilir, ancak sıfır noktasının varlığı bir yokluk anlamına gelmez. Örneğin, 0°C sıcaklığın tamamen yok olduğu anlamına gelmez, bu sadece bir referans noktasıdır. Saatler (Günün saatleri). 0:00 günün başlangıcı olsa da bir yokluğu ifade etmez.</a:t>
            </a:r>
          </a:p>
          <a:p>
            <a:pPr marL="285750" indent="-285750">
              <a:spcAft>
                <a:spcPts val="1200"/>
              </a:spcAft>
              <a:buFont typeface="Arial" panose="020B0604020202020204" pitchFamily="34" charset="0"/>
              <a:buChar char="•"/>
            </a:pPr>
            <a:endParaRPr lang="tr-TR" sz="13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58210E7-DB98-A93C-7582-56FF2730C22F}"/>
              </a:ext>
            </a:extLst>
          </p:cNvPr>
          <p:cNvPicPr>
            <a:picLocks noChangeAspect="1"/>
          </p:cNvPicPr>
          <p:nvPr/>
        </p:nvPicPr>
        <p:blipFill>
          <a:blip r:embed="rId3"/>
          <a:stretch>
            <a:fillRect/>
          </a:stretch>
        </p:blipFill>
        <p:spPr>
          <a:xfrm>
            <a:off x="2971800" y="209550"/>
            <a:ext cx="1104900" cy="866775"/>
          </a:xfrm>
          <a:prstGeom prst="rect">
            <a:avLst/>
          </a:prstGeom>
        </p:spPr>
      </p:pic>
      <p:cxnSp>
        <p:nvCxnSpPr>
          <p:cNvPr id="8" name="Straight Arrow Connector 7">
            <a:extLst>
              <a:ext uri="{FF2B5EF4-FFF2-40B4-BE49-F238E27FC236}">
                <a16:creationId xmlns:a16="http://schemas.microsoft.com/office/drawing/2014/main" id="{06359142-3F0A-498B-CA3E-ABE9ABCF88AB}"/>
              </a:ext>
            </a:extLst>
          </p:cNvPr>
          <p:cNvCxnSpPr>
            <a:cxnSpLocks/>
          </p:cNvCxnSpPr>
          <p:nvPr/>
        </p:nvCxnSpPr>
        <p:spPr>
          <a:xfrm flipH="1">
            <a:off x="685800" y="971550"/>
            <a:ext cx="236220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A1F2748-703A-DAA4-1D9D-84BAD60C96DC}"/>
              </a:ext>
            </a:extLst>
          </p:cNvPr>
          <p:cNvCxnSpPr>
            <a:cxnSpLocks/>
          </p:cNvCxnSpPr>
          <p:nvPr/>
        </p:nvCxnSpPr>
        <p:spPr>
          <a:xfrm flipH="1">
            <a:off x="609600" y="895350"/>
            <a:ext cx="23622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0D90025-F6B3-5F5C-64FD-C61B207C0A17}"/>
              </a:ext>
            </a:extLst>
          </p:cNvPr>
          <p:cNvCxnSpPr>
            <a:cxnSpLocks/>
          </p:cNvCxnSpPr>
          <p:nvPr/>
        </p:nvCxnSpPr>
        <p:spPr>
          <a:xfrm flipH="1">
            <a:off x="540026" y="776080"/>
            <a:ext cx="2438400" cy="3209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8600" y="590550"/>
            <a:ext cx="4343400" cy="3813429"/>
          </a:xfrm>
          <a:prstGeom prst="rect">
            <a:avLst/>
          </a:prstGeom>
          <a:blipFill>
            <a:blip r:embed="rId2" cstate="print"/>
            <a:stretch>
              <a:fillRect/>
            </a:stretch>
          </a:blipFill>
        </p:spPr>
        <p:txBody>
          <a:bodyPr wrap="square" lIns="0" tIns="0" rIns="0" bIns="0" rtlCol="0"/>
          <a:lstStyle/>
          <a:p>
            <a:endParaRPr lang="tr-TR" dirty="0"/>
          </a:p>
        </p:txBody>
      </p:sp>
      <p:sp>
        <p:nvSpPr>
          <p:cNvPr id="4" name="TextBox 3">
            <a:extLst>
              <a:ext uri="{FF2B5EF4-FFF2-40B4-BE49-F238E27FC236}">
                <a16:creationId xmlns:a16="http://schemas.microsoft.com/office/drawing/2014/main" id="{61E8695F-4F63-3D5F-D457-2CB87C364D1E}"/>
              </a:ext>
            </a:extLst>
          </p:cNvPr>
          <p:cNvSpPr txBox="1"/>
          <p:nvPr/>
        </p:nvSpPr>
        <p:spPr>
          <a:xfrm>
            <a:off x="4724400" y="590550"/>
            <a:ext cx="4038600" cy="3770263"/>
          </a:xfrm>
          <a:prstGeom prst="rect">
            <a:avLst/>
          </a:prstGeom>
          <a:noFill/>
        </p:spPr>
        <p:txBody>
          <a:bodyPr wrap="square">
            <a:spAutoFit/>
          </a:bodyPr>
          <a:lstStyle/>
          <a:p>
            <a:r>
              <a:rPr lang="tr-TR" sz="1400" b="1" u="sng" dirty="0" err="1">
                <a:solidFill>
                  <a:srgbClr val="FFFF00"/>
                </a:solidFill>
                <a:latin typeface="Times New Roman" panose="02020603050405020304" pitchFamily="18" charset="0"/>
                <a:cs typeface="Times New Roman" panose="02020603050405020304" pitchFamily="18" charset="0"/>
              </a:rPr>
              <a:t>Ratio</a:t>
            </a:r>
            <a:r>
              <a:rPr lang="tr-TR" sz="1400" b="1" u="sng" dirty="0">
                <a:solidFill>
                  <a:srgbClr val="FFFF00"/>
                </a:solidFill>
                <a:latin typeface="Times New Roman" panose="02020603050405020304" pitchFamily="18" charset="0"/>
                <a:cs typeface="Times New Roman" panose="02020603050405020304" pitchFamily="18" charset="0"/>
              </a:rPr>
              <a:t>: </a:t>
            </a:r>
          </a:p>
          <a:p>
            <a:pPr marL="285750" indent="-285750">
              <a:spcAft>
                <a:spcPts val="600"/>
              </a:spcAft>
              <a:buFont typeface="Arial" panose="020B0604020202020204" pitchFamily="34" charset="0"/>
              <a:buChar char="•"/>
            </a:pPr>
            <a:r>
              <a:rPr lang="tr-TR" sz="1400" dirty="0">
                <a:solidFill>
                  <a:schemeClr val="bg1"/>
                </a:solidFill>
                <a:latin typeface="Times New Roman" panose="02020603050405020304" pitchFamily="18" charset="0"/>
                <a:cs typeface="Times New Roman" panose="02020603050405020304" pitchFamily="18" charset="0"/>
              </a:rPr>
              <a:t>Hem farklılıklar hem de oran önemlidir. Örneğin. yaş, boy, Kilo. </a:t>
            </a:r>
          </a:p>
          <a:p>
            <a:pPr marL="285750" indent="-285750">
              <a:spcAft>
                <a:spcPts val="600"/>
              </a:spcAft>
              <a:buFont typeface="Arial" panose="020B0604020202020204" pitchFamily="34" charset="0"/>
              <a:buChar char="•"/>
            </a:pPr>
            <a:r>
              <a:rPr lang="tr-TR" sz="1400" dirty="0" err="1">
                <a:solidFill>
                  <a:schemeClr val="bg1"/>
                </a:solidFill>
                <a:latin typeface="Times New Roman" panose="02020603050405020304" pitchFamily="18" charset="0"/>
                <a:cs typeface="Times New Roman" panose="02020603050405020304" pitchFamily="18" charset="0"/>
              </a:rPr>
              <a:t>Ratio</a:t>
            </a:r>
            <a:r>
              <a:rPr lang="tr-TR" sz="1400" dirty="0">
                <a:solidFill>
                  <a:schemeClr val="bg1"/>
                </a:solidFill>
                <a:latin typeface="Times New Roman" panose="02020603050405020304" pitchFamily="18" charset="0"/>
                <a:cs typeface="Times New Roman" panose="02020603050405020304" pitchFamily="18" charset="0"/>
              </a:rPr>
              <a:t> nitelikler, sayısal bir ölçüm birimi kullanılarak ölçülen ve aralarındaki farkların ve oranların anlamlı olduğu verileri temsil ederler. </a:t>
            </a:r>
          </a:p>
          <a:p>
            <a:pPr marL="285750" indent="-285750">
              <a:spcAft>
                <a:spcPts val="600"/>
              </a:spcAft>
              <a:buFont typeface="Arial" panose="020B0604020202020204" pitchFamily="34" charset="0"/>
              <a:buChar char="•"/>
            </a:pPr>
            <a:r>
              <a:rPr lang="tr-TR" sz="1400" dirty="0" err="1">
                <a:solidFill>
                  <a:schemeClr val="bg1"/>
                </a:solidFill>
                <a:latin typeface="Times New Roman" panose="02020603050405020304" pitchFamily="18" charset="0"/>
                <a:cs typeface="Times New Roman" panose="02020603050405020304" pitchFamily="18" charset="0"/>
              </a:rPr>
              <a:t>Ratio</a:t>
            </a:r>
            <a:r>
              <a:rPr lang="tr-TR" sz="1400" dirty="0">
                <a:solidFill>
                  <a:schemeClr val="bg1"/>
                </a:solidFill>
                <a:latin typeface="Times New Roman" panose="02020603050405020304" pitchFamily="18" charset="0"/>
                <a:cs typeface="Times New Roman" panose="02020603050405020304" pitchFamily="18" charset="0"/>
              </a:rPr>
              <a:t> nitelikler, belirli bir ölçüm birimi (örneğin kilogram, santimetre, saniye) kullanılarak ölçülen verileri temsil ederler. Bu, verilerin sayısal değerlerle ifade edilebileceği anlamına gelir.</a:t>
            </a:r>
          </a:p>
          <a:p>
            <a:pPr marL="285750" indent="-285750">
              <a:spcAft>
                <a:spcPts val="600"/>
              </a:spcAft>
              <a:buFont typeface="Arial" panose="020B0604020202020204" pitchFamily="34" charset="0"/>
              <a:buChar char="•"/>
            </a:pPr>
            <a:r>
              <a:rPr lang="tr-TR" sz="1400" dirty="0" err="1">
                <a:solidFill>
                  <a:schemeClr val="bg1"/>
                </a:solidFill>
                <a:latin typeface="Times New Roman" panose="02020603050405020304" pitchFamily="18" charset="0"/>
                <a:cs typeface="Times New Roman" panose="02020603050405020304" pitchFamily="18" charset="0"/>
              </a:rPr>
              <a:t>Ratio</a:t>
            </a:r>
            <a:r>
              <a:rPr lang="tr-TR" sz="1400" dirty="0">
                <a:solidFill>
                  <a:schemeClr val="bg1"/>
                </a:solidFill>
                <a:latin typeface="Times New Roman" panose="02020603050405020304" pitchFamily="18" charset="0"/>
                <a:cs typeface="Times New Roman" panose="02020603050405020304" pitchFamily="18" charset="0"/>
              </a:rPr>
              <a:t> nitelikler, verileri sıralamak ve sıralamalar arasındaki farkları ve oranları incelemek için kullanılır. Örneğin, bir kişinin kilosundaki 60 kilogram ile 70 kilogram arasındaki farkın, 10 kilogram olduğu ve 70 kilogramın 60 kilogramın 1.1667 katı olduğu bilinir.</a:t>
            </a:r>
          </a:p>
        </p:txBody>
      </p:sp>
      <p:pic>
        <p:nvPicPr>
          <p:cNvPr id="6" name="Picture 5">
            <a:extLst>
              <a:ext uri="{FF2B5EF4-FFF2-40B4-BE49-F238E27FC236}">
                <a16:creationId xmlns:a16="http://schemas.microsoft.com/office/drawing/2014/main" id="{558210E7-DB98-A93C-7582-56FF2730C22F}"/>
              </a:ext>
            </a:extLst>
          </p:cNvPr>
          <p:cNvPicPr>
            <a:picLocks noChangeAspect="1"/>
          </p:cNvPicPr>
          <p:nvPr/>
        </p:nvPicPr>
        <p:blipFill>
          <a:blip r:embed="rId3"/>
          <a:stretch>
            <a:fillRect/>
          </a:stretch>
        </p:blipFill>
        <p:spPr>
          <a:xfrm>
            <a:off x="3124200" y="209550"/>
            <a:ext cx="1104900" cy="866775"/>
          </a:xfrm>
          <a:prstGeom prst="rect">
            <a:avLst/>
          </a:prstGeom>
        </p:spPr>
      </p:pic>
      <p:cxnSp>
        <p:nvCxnSpPr>
          <p:cNvPr id="8" name="Straight Arrow Connector 7">
            <a:extLst>
              <a:ext uri="{FF2B5EF4-FFF2-40B4-BE49-F238E27FC236}">
                <a16:creationId xmlns:a16="http://schemas.microsoft.com/office/drawing/2014/main" id="{06359142-3F0A-498B-CA3E-ABE9ABCF88AB}"/>
              </a:ext>
            </a:extLst>
          </p:cNvPr>
          <p:cNvCxnSpPr>
            <a:cxnSpLocks/>
          </p:cNvCxnSpPr>
          <p:nvPr/>
        </p:nvCxnSpPr>
        <p:spPr>
          <a:xfrm flipH="1">
            <a:off x="838200" y="971550"/>
            <a:ext cx="236220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A1F2748-703A-DAA4-1D9D-84BAD60C96DC}"/>
              </a:ext>
            </a:extLst>
          </p:cNvPr>
          <p:cNvCxnSpPr>
            <a:cxnSpLocks/>
          </p:cNvCxnSpPr>
          <p:nvPr/>
        </p:nvCxnSpPr>
        <p:spPr>
          <a:xfrm flipH="1">
            <a:off x="762000" y="895350"/>
            <a:ext cx="23622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0D90025-F6B3-5F5C-64FD-C61B207C0A17}"/>
              </a:ext>
            </a:extLst>
          </p:cNvPr>
          <p:cNvCxnSpPr>
            <a:cxnSpLocks/>
          </p:cNvCxnSpPr>
          <p:nvPr/>
        </p:nvCxnSpPr>
        <p:spPr>
          <a:xfrm flipH="1">
            <a:off x="692426" y="776080"/>
            <a:ext cx="2438400" cy="3209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9151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65732" y="1331975"/>
            <a:ext cx="5314188" cy="2770632"/>
          </a:xfrm>
          <a:prstGeom prst="rect">
            <a:avLst/>
          </a:prstGeom>
          <a:blipFill>
            <a:blip r:embed="rId2" cstate="print"/>
            <a:stretch>
              <a:fillRect/>
            </a:stretch>
          </a:blipFill>
        </p:spPr>
        <p:txBody>
          <a:bodyPr wrap="square" lIns="0" tIns="0" rIns="0" bIns="0" rtlCol="0"/>
          <a:lstStyle/>
          <a:p>
            <a:endParaRPr/>
          </a:p>
        </p:txBody>
      </p:sp>
      <p:sp>
        <p:nvSpPr>
          <p:cNvPr id="3" name="Speech Bubble: Oval 2">
            <a:extLst>
              <a:ext uri="{FF2B5EF4-FFF2-40B4-BE49-F238E27FC236}">
                <a16:creationId xmlns:a16="http://schemas.microsoft.com/office/drawing/2014/main" id="{070ED425-31A3-1055-2D85-57F694F3D87F}"/>
              </a:ext>
            </a:extLst>
          </p:cNvPr>
          <p:cNvSpPr/>
          <p:nvPr/>
        </p:nvSpPr>
        <p:spPr>
          <a:xfrm>
            <a:off x="1339200" y="629478"/>
            <a:ext cx="1404000" cy="648000"/>
          </a:xfrm>
          <a:prstGeom prst="wedgeEllipseCallout">
            <a:avLst/>
          </a:prstGeom>
          <a:ln w="6350"/>
        </p:spPr>
        <p:style>
          <a:lnRef idx="2">
            <a:schemeClr val="accent1"/>
          </a:lnRef>
          <a:fillRef idx="1">
            <a:schemeClr val="lt1"/>
          </a:fillRef>
          <a:effectRef idx="0">
            <a:schemeClr val="accent1"/>
          </a:effectRef>
          <a:fontRef idx="minor">
            <a:schemeClr val="dk1"/>
          </a:fontRef>
        </p:style>
        <p:txBody>
          <a:bodyPr rtlCol="0" anchor="ctr"/>
          <a:lstStyle/>
          <a:p>
            <a:pPr algn="ctr"/>
            <a:r>
              <a:rPr lang="tr-TR" dirty="0"/>
              <a:t>Nominal</a:t>
            </a:r>
          </a:p>
        </p:txBody>
      </p:sp>
      <p:sp>
        <p:nvSpPr>
          <p:cNvPr id="4" name="Speech Bubble: Oval 3">
            <a:extLst>
              <a:ext uri="{FF2B5EF4-FFF2-40B4-BE49-F238E27FC236}">
                <a16:creationId xmlns:a16="http://schemas.microsoft.com/office/drawing/2014/main" id="{2EFE3F95-EE13-1712-423D-F61B92DED861}"/>
              </a:ext>
            </a:extLst>
          </p:cNvPr>
          <p:cNvSpPr/>
          <p:nvPr/>
        </p:nvSpPr>
        <p:spPr>
          <a:xfrm>
            <a:off x="2918826" y="553278"/>
            <a:ext cx="1404000" cy="648000"/>
          </a:xfrm>
          <a:prstGeom prst="wedgeEllipseCallout">
            <a:avLst/>
          </a:prstGeom>
          <a:ln w="6350"/>
        </p:spPr>
        <p:style>
          <a:lnRef idx="2">
            <a:schemeClr val="accent1"/>
          </a:lnRef>
          <a:fillRef idx="1">
            <a:schemeClr val="lt1"/>
          </a:fillRef>
          <a:effectRef idx="0">
            <a:schemeClr val="accent1"/>
          </a:effectRef>
          <a:fontRef idx="minor">
            <a:schemeClr val="dk1"/>
          </a:fontRef>
        </p:style>
        <p:txBody>
          <a:bodyPr rtlCol="0" anchor="ctr"/>
          <a:lstStyle/>
          <a:p>
            <a:pPr algn="ctr"/>
            <a:r>
              <a:rPr lang="tr-TR" dirty="0" err="1"/>
              <a:t>Ratio</a:t>
            </a:r>
            <a:endParaRPr lang="tr-TR" dirty="0"/>
          </a:p>
        </p:txBody>
      </p:sp>
      <p:sp>
        <p:nvSpPr>
          <p:cNvPr id="5" name="Speech Bubble: Oval 4">
            <a:extLst>
              <a:ext uri="{FF2B5EF4-FFF2-40B4-BE49-F238E27FC236}">
                <a16:creationId xmlns:a16="http://schemas.microsoft.com/office/drawing/2014/main" id="{A4D6C35E-E7FF-9835-362D-ECCC818905F8}"/>
              </a:ext>
            </a:extLst>
          </p:cNvPr>
          <p:cNvSpPr/>
          <p:nvPr/>
        </p:nvSpPr>
        <p:spPr>
          <a:xfrm>
            <a:off x="5911200" y="590550"/>
            <a:ext cx="1404000" cy="648000"/>
          </a:xfrm>
          <a:prstGeom prst="wedgeEllipseCallout">
            <a:avLst/>
          </a:prstGeom>
          <a:ln w="6350"/>
        </p:spPr>
        <p:style>
          <a:lnRef idx="2">
            <a:schemeClr val="accent1"/>
          </a:lnRef>
          <a:fillRef idx="1">
            <a:schemeClr val="lt1"/>
          </a:fillRef>
          <a:effectRef idx="0">
            <a:schemeClr val="accent1"/>
          </a:effectRef>
          <a:fontRef idx="minor">
            <a:schemeClr val="dk1"/>
          </a:fontRef>
        </p:style>
        <p:txBody>
          <a:bodyPr rtlCol="0" anchor="ctr"/>
          <a:lstStyle/>
          <a:p>
            <a:pPr algn="ctr"/>
            <a:r>
              <a:rPr lang="tr-TR" dirty="0"/>
              <a:t>Nominal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90600" y="1200150"/>
            <a:ext cx="5372099" cy="2743200"/>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1672208" y="4370933"/>
            <a:ext cx="9398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0000"/>
                </a:solidFill>
                <a:latin typeface="Arial Black"/>
                <a:cs typeface="Arial Black"/>
              </a:rPr>
              <a:t>İris.csv</a:t>
            </a:r>
            <a:endParaRPr sz="1800">
              <a:latin typeface="Arial Black"/>
              <a:cs typeface="Arial Black"/>
            </a:endParaRPr>
          </a:p>
        </p:txBody>
      </p:sp>
      <p:pic>
        <p:nvPicPr>
          <p:cNvPr id="5" name="Picture 4">
            <a:extLst>
              <a:ext uri="{FF2B5EF4-FFF2-40B4-BE49-F238E27FC236}">
                <a16:creationId xmlns:a16="http://schemas.microsoft.com/office/drawing/2014/main" id="{A9910379-E6CC-48FE-1C77-6B6F8943B0F4}"/>
              </a:ext>
            </a:extLst>
          </p:cNvPr>
          <p:cNvPicPr>
            <a:picLocks noChangeAspect="1"/>
          </p:cNvPicPr>
          <p:nvPr/>
        </p:nvPicPr>
        <p:blipFill>
          <a:blip r:embed="rId3"/>
          <a:stretch>
            <a:fillRect/>
          </a:stretch>
        </p:blipFill>
        <p:spPr>
          <a:xfrm>
            <a:off x="6705600" y="1197665"/>
            <a:ext cx="2171700" cy="2362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24276" y="4370933"/>
            <a:ext cx="22860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FFFF00"/>
                </a:solidFill>
                <a:latin typeface="Arial Black"/>
                <a:cs typeface="Arial Black"/>
              </a:rPr>
              <a:t>Heart</a:t>
            </a:r>
            <a:r>
              <a:rPr sz="1800" spc="-70" dirty="0">
                <a:solidFill>
                  <a:srgbClr val="FFFF00"/>
                </a:solidFill>
                <a:latin typeface="Arial Black"/>
                <a:cs typeface="Arial Black"/>
              </a:rPr>
              <a:t> </a:t>
            </a:r>
            <a:r>
              <a:rPr sz="1800" dirty="0">
                <a:solidFill>
                  <a:srgbClr val="FFFF00"/>
                </a:solidFill>
                <a:latin typeface="Arial Black"/>
                <a:cs typeface="Arial Black"/>
              </a:rPr>
              <a:t>disease.csv</a:t>
            </a:r>
          </a:p>
        </p:txBody>
      </p:sp>
      <p:sp>
        <p:nvSpPr>
          <p:cNvPr id="3" name="object 3"/>
          <p:cNvSpPr/>
          <p:nvPr/>
        </p:nvSpPr>
        <p:spPr>
          <a:xfrm>
            <a:off x="3299459" y="1434083"/>
            <a:ext cx="2935224" cy="1760220"/>
          </a:xfrm>
          <a:prstGeom prst="rect">
            <a:avLst/>
          </a:prstGeom>
          <a:blipFill>
            <a:blip r:embed="rId2" cstate="print"/>
            <a:stretch>
              <a:fillRect/>
            </a:stretch>
          </a:blipFill>
        </p:spPr>
        <p:txBody>
          <a:bodyPr wrap="square" lIns="0" tIns="0" rIns="0" bIns="0" rtlCol="0"/>
          <a:lstStyle/>
          <a:p>
            <a:endParaRPr/>
          </a:p>
        </p:txBody>
      </p:sp>
      <p:sp>
        <p:nvSpPr>
          <p:cNvPr id="4" name="Konuşma Balonu: Oval 3">
            <a:extLst>
              <a:ext uri="{FF2B5EF4-FFF2-40B4-BE49-F238E27FC236}">
                <a16:creationId xmlns:a16="http://schemas.microsoft.com/office/drawing/2014/main" id="{5EBF60E5-4616-8BB7-F0A4-E95C57F83D49}"/>
              </a:ext>
            </a:extLst>
          </p:cNvPr>
          <p:cNvSpPr/>
          <p:nvPr/>
        </p:nvSpPr>
        <p:spPr>
          <a:xfrm>
            <a:off x="1981200" y="2950091"/>
            <a:ext cx="1447800" cy="1066800"/>
          </a:xfrm>
          <a:prstGeom prst="wedgeEllipseCallout">
            <a:avLst>
              <a:gd name="adj1" fmla="val 72242"/>
              <a:gd name="adj2" fmla="val -54793"/>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tr-TR" dirty="0"/>
              <a:t>Eksik Veriler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304800" y="285750"/>
            <a:ext cx="8305800" cy="997068"/>
          </a:xfrm>
          <a:prstGeom prst="rect">
            <a:avLst/>
          </a:prstGeom>
        </p:spPr>
        <p:txBody>
          <a:bodyPr vert="horz" wrap="square" lIns="0" tIns="12065" rIns="0" bIns="0" rtlCol="0">
            <a:spAutoFit/>
          </a:bodyPr>
          <a:lstStyle/>
          <a:p>
            <a:pPr marL="12700" algn="just">
              <a:lnSpc>
                <a:spcPct val="100000"/>
              </a:lnSpc>
              <a:spcBef>
                <a:spcPts val="95"/>
              </a:spcBef>
            </a:pPr>
            <a:r>
              <a:rPr sz="1600" u="sng" spc="-15" dirty="0">
                <a:solidFill>
                  <a:srgbClr val="FFFF00"/>
                </a:solidFill>
                <a:latin typeface="Times New Roman" panose="02020603050405020304" pitchFamily="18" charset="0"/>
                <a:cs typeface="Times New Roman" panose="02020603050405020304" pitchFamily="18" charset="0"/>
              </a:rPr>
              <a:t>Delete Rows </a:t>
            </a:r>
            <a:r>
              <a:rPr sz="1600" u="sng" spc="-10" dirty="0">
                <a:solidFill>
                  <a:srgbClr val="FFFF00"/>
                </a:solidFill>
                <a:latin typeface="Times New Roman" panose="02020603050405020304" pitchFamily="18" charset="0"/>
                <a:cs typeface="Times New Roman" panose="02020603050405020304" pitchFamily="18" charset="0"/>
              </a:rPr>
              <a:t>with </a:t>
            </a:r>
            <a:r>
              <a:rPr sz="1600" u="sng" spc="-5" dirty="0">
                <a:solidFill>
                  <a:srgbClr val="FFFF00"/>
                </a:solidFill>
                <a:latin typeface="Times New Roman" panose="02020603050405020304" pitchFamily="18" charset="0"/>
                <a:cs typeface="Times New Roman" panose="02020603050405020304" pitchFamily="18" charset="0"/>
              </a:rPr>
              <a:t>Missing</a:t>
            </a:r>
            <a:r>
              <a:rPr sz="1600" u="sng" spc="25" dirty="0">
                <a:solidFill>
                  <a:srgbClr val="FFFF00"/>
                </a:solidFill>
                <a:latin typeface="Times New Roman" panose="02020603050405020304" pitchFamily="18" charset="0"/>
                <a:cs typeface="Times New Roman" panose="02020603050405020304" pitchFamily="18" charset="0"/>
              </a:rPr>
              <a:t> </a:t>
            </a:r>
            <a:r>
              <a:rPr sz="1600" u="sng" spc="-15" dirty="0">
                <a:solidFill>
                  <a:srgbClr val="FFFF00"/>
                </a:solidFill>
                <a:latin typeface="Times New Roman" panose="02020603050405020304" pitchFamily="18" charset="0"/>
                <a:cs typeface="Times New Roman" panose="02020603050405020304" pitchFamily="18" charset="0"/>
              </a:rPr>
              <a:t>Values</a:t>
            </a:r>
            <a:r>
              <a:rPr lang="tr-TR" sz="1600" u="sng" spc="-15" dirty="0">
                <a:solidFill>
                  <a:srgbClr val="FFFF00"/>
                </a:solidFill>
                <a:latin typeface="Times New Roman" panose="02020603050405020304" pitchFamily="18" charset="0"/>
                <a:cs typeface="Times New Roman" panose="02020603050405020304" pitchFamily="18" charset="0"/>
              </a:rPr>
              <a:t> (Eksik Değerler)</a:t>
            </a:r>
            <a:r>
              <a:rPr sz="1600" u="sng" spc="-15" dirty="0">
                <a:solidFill>
                  <a:srgbClr val="FFFF00"/>
                </a:solidFill>
                <a:latin typeface="Times New Roman" panose="02020603050405020304" pitchFamily="18" charset="0"/>
                <a:cs typeface="Times New Roman" panose="02020603050405020304" pitchFamily="18" charset="0"/>
              </a:rPr>
              <a:t>:</a:t>
            </a:r>
            <a:endParaRPr sz="1600" u="sng" dirty="0">
              <a:solidFill>
                <a:srgbClr val="FFFF00"/>
              </a:solidFill>
              <a:latin typeface="Times New Roman" panose="02020603050405020304" pitchFamily="18" charset="0"/>
              <a:cs typeface="Times New Roman" panose="02020603050405020304" pitchFamily="18" charset="0"/>
            </a:endParaRPr>
          </a:p>
          <a:p>
            <a:pPr marL="12700" marR="5080" algn="just">
              <a:lnSpc>
                <a:spcPct val="100000"/>
              </a:lnSpc>
            </a:pPr>
            <a:r>
              <a:rPr sz="1600" spc="-10" dirty="0">
                <a:latin typeface="Times New Roman" panose="02020603050405020304" pitchFamily="18" charset="0"/>
                <a:cs typeface="Times New Roman" panose="02020603050405020304" pitchFamily="18" charset="0"/>
              </a:rPr>
              <a:t>Missing values can </a:t>
            </a:r>
            <a:r>
              <a:rPr sz="1600" spc="-5" dirty="0">
                <a:latin typeface="Times New Roman" panose="02020603050405020304" pitchFamily="18" charset="0"/>
                <a:cs typeface="Times New Roman" panose="02020603050405020304" pitchFamily="18" charset="0"/>
              </a:rPr>
              <a:t>be handled </a:t>
            </a:r>
            <a:r>
              <a:rPr sz="1600" spc="-10" dirty="0">
                <a:latin typeface="Times New Roman" panose="02020603050405020304" pitchFamily="18" charset="0"/>
                <a:cs typeface="Times New Roman" panose="02020603050405020304" pitchFamily="18" charset="0"/>
              </a:rPr>
              <a:t>by </a:t>
            </a:r>
            <a:r>
              <a:rPr sz="1600" spc="-5" dirty="0">
                <a:latin typeface="Times New Roman" panose="02020603050405020304" pitchFamily="18" charset="0"/>
                <a:cs typeface="Times New Roman" panose="02020603050405020304" pitchFamily="18" charset="0"/>
              </a:rPr>
              <a:t>deleting the </a:t>
            </a:r>
            <a:r>
              <a:rPr sz="1600" spc="-15" dirty="0">
                <a:latin typeface="Times New Roman" panose="02020603050405020304" pitchFamily="18" charset="0"/>
                <a:cs typeface="Times New Roman" panose="02020603050405020304" pitchFamily="18" charset="0"/>
              </a:rPr>
              <a:t>rows </a:t>
            </a:r>
            <a:r>
              <a:rPr sz="1600" dirty="0">
                <a:latin typeface="Times New Roman" panose="02020603050405020304" pitchFamily="18" charset="0"/>
                <a:cs typeface="Times New Roman" panose="02020603050405020304" pitchFamily="18" charset="0"/>
              </a:rPr>
              <a:t>or </a:t>
            </a:r>
            <a:r>
              <a:rPr sz="1600" spc="-10" dirty="0">
                <a:latin typeface="Times New Roman" panose="02020603050405020304" pitchFamily="18" charset="0"/>
                <a:cs typeface="Times New Roman" panose="02020603050405020304" pitchFamily="18" charset="0"/>
              </a:rPr>
              <a:t>columns having null values.  </a:t>
            </a:r>
            <a:r>
              <a:rPr sz="1600" dirty="0">
                <a:latin typeface="Times New Roman" panose="02020603050405020304" pitchFamily="18" charset="0"/>
                <a:cs typeface="Times New Roman" panose="02020603050405020304" pitchFamily="18" charset="0"/>
              </a:rPr>
              <a:t>If </a:t>
            </a:r>
            <a:r>
              <a:rPr sz="1600" spc="-10" dirty="0">
                <a:latin typeface="Times New Roman" panose="02020603050405020304" pitchFamily="18" charset="0"/>
                <a:cs typeface="Times New Roman" panose="02020603050405020304" pitchFamily="18" charset="0"/>
              </a:rPr>
              <a:t>columns </a:t>
            </a:r>
            <a:r>
              <a:rPr sz="1600" spc="-15" dirty="0">
                <a:latin typeface="Times New Roman" panose="02020603050405020304" pitchFamily="18" charset="0"/>
                <a:cs typeface="Times New Roman" panose="02020603050405020304" pitchFamily="18" charset="0"/>
              </a:rPr>
              <a:t>have </a:t>
            </a:r>
            <a:r>
              <a:rPr sz="1600" spc="-10" dirty="0">
                <a:latin typeface="Times New Roman" panose="02020603050405020304" pitchFamily="18" charset="0"/>
                <a:cs typeface="Times New Roman" panose="02020603050405020304" pitchFamily="18" charset="0"/>
              </a:rPr>
              <a:t>more </a:t>
            </a:r>
            <a:r>
              <a:rPr sz="1600" spc="-5" dirty="0">
                <a:latin typeface="Times New Roman" panose="02020603050405020304" pitchFamily="18" charset="0"/>
                <a:cs typeface="Times New Roman" panose="02020603050405020304" pitchFamily="18" charset="0"/>
              </a:rPr>
              <a:t>than </a:t>
            </a:r>
            <a:r>
              <a:rPr sz="1600" spc="-10" dirty="0">
                <a:latin typeface="Times New Roman" panose="02020603050405020304" pitchFamily="18" charset="0"/>
                <a:cs typeface="Times New Roman" panose="02020603050405020304" pitchFamily="18" charset="0"/>
              </a:rPr>
              <a:t>half </a:t>
            </a:r>
            <a:r>
              <a:rPr sz="1600" spc="-5" dirty="0">
                <a:latin typeface="Times New Roman" panose="02020603050405020304" pitchFamily="18" charset="0"/>
                <a:cs typeface="Times New Roman" panose="02020603050405020304" pitchFamily="18" charset="0"/>
              </a:rPr>
              <a:t>of </a:t>
            </a:r>
            <a:r>
              <a:rPr sz="1600" spc="-15" dirty="0">
                <a:latin typeface="Times New Roman" panose="02020603050405020304" pitchFamily="18" charset="0"/>
                <a:cs typeface="Times New Roman" panose="02020603050405020304" pitchFamily="18" charset="0"/>
              </a:rPr>
              <a:t>rows </a:t>
            </a:r>
            <a:r>
              <a:rPr sz="1600" spc="-5" dirty="0">
                <a:latin typeface="Times New Roman" panose="02020603050405020304" pitchFamily="18" charset="0"/>
                <a:cs typeface="Times New Roman" panose="02020603050405020304" pitchFamily="18" charset="0"/>
              </a:rPr>
              <a:t>as null then the </a:t>
            </a:r>
            <a:r>
              <a:rPr sz="1600" spc="-10" dirty="0">
                <a:latin typeface="Times New Roman" panose="02020603050405020304" pitchFamily="18" charset="0"/>
                <a:cs typeface="Times New Roman" panose="02020603050405020304" pitchFamily="18" charset="0"/>
              </a:rPr>
              <a:t>entire column can </a:t>
            </a:r>
            <a:r>
              <a:rPr sz="1600" spc="-5" dirty="0">
                <a:latin typeface="Times New Roman" panose="02020603050405020304" pitchFamily="18" charset="0"/>
                <a:cs typeface="Times New Roman" panose="02020603050405020304" pitchFamily="18" charset="0"/>
              </a:rPr>
              <a:t>be  </a:t>
            </a:r>
            <a:r>
              <a:rPr sz="1600" spc="-10" dirty="0">
                <a:latin typeface="Times New Roman" panose="02020603050405020304" pitchFamily="18" charset="0"/>
                <a:cs typeface="Times New Roman" panose="02020603050405020304" pitchFamily="18" charset="0"/>
              </a:rPr>
              <a:t>dropped. </a:t>
            </a:r>
            <a:r>
              <a:rPr sz="1600" spc="-5" dirty="0">
                <a:latin typeface="Times New Roman" panose="02020603050405020304" pitchFamily="18" charset="0"/>
                <a:cs typeface="Times New Roman" panose="02020603050405020304" pitchFamily="18" charset="0"/>
              </a:rPr>
              <a:t>The </a:t>
            </a:r>
            <a:r>
              <a:rPr sz="1600" spc="-10" dirty="0">
                <a:latin typeface="Times New Roman" panose="02020603050405020304" pitchFamily="18" charset="0"/>
                <a:cs typeface="Times New Roman" panose="02020603050405020304" pitchFamily="18" charset="0"/>
              </a:rPr>
              <a:t>rows </a:t>
            </a:r>
            <a:r>
              <a:rPr sz="1600" spc="-5" dirty="0">
                <a:latin typeface="Times New Roman" panose="02020603050405020304" pitchFamily="18" charset="0"/>
                <a:cs typeface="Times New Roman" panose="02020603050405020304" pitchFamily="18" charset="0"/>
              </a:rPr>
              <a:t>which </a:t>
            </a:r>
            <a:r>
              <a:rPr sz="1600" spc="-10" dirty="0">
                <a:latin typeface="Times New Roman" panose="02020603050405020304" pitchFamily="18" charset="0"/>
                <a:cs typeface="Times New Roman" panose="02020603050405020304" pitchFamily="18" charset="0"/>
              </a:rPr>
              <a:t>are having </a:t>
            </a:r>
            <a:r>
              <a:rPr sz="1600" spc="-5" dirty="0">
                <a:latin typeface="Times New Roman" panose="02020603050405020304" pitchFamily="18" charset="0"/>
                <a:cs typeface="Times New Roman" panose="02020603050405020304" pitchFamily="18" charset="0"/>
              </a:rPr>
              <a:t>one </a:t>
            </a:r>
            <a:r>
              <a:rPr sz="1600" dirty="0">
                <a:latin typeface="Times New Roman" panose="02020603050405020304" pitchFamily="18" charset="0"/>
                <a:cs typeface="Times New Roman" panose="02020603050405020304" pitchFamily="18" charset="0"/>
              </a:rPr>
              <a:t>or </a:t>
            </a:r>
            <a:r>
              <a:rPr sz="1600" spc="-5" dirty="0">
                <a:latin typeface="Times New Roman" panose="02020603050405020304" pitchFamily="18" charset="0"/>
                <a:cs typeface="Times New Roman" panose="02020603050405020304" pitchFamily="18" charset="0"/>
              </a:rPr>
              <a:t>more </a:t>
            </a:r>
            <a:r>
              <a:rPr sz="1600" spc="-10" dirty="0">
                <a:latin typeface="Times New Roman" panose="02020603050405020304" pitchFamily="18" charset="0"/>
                <a:cs typeface="Times New Roman" panose="02020603050405020304" pitchFamily="18" charset="0"/>
              </a:rPr>
              <a:t>columns values </a:t>
            </a:r>
            <a:r>
              <a:rPr sz="1600" spc="-5" dirty="0">
                <a:latin typeface="Times New Roman" panose="02020603050405020304" pitchFamily="18" charset="0"/>
                <a:cs typeface="Times New Roman" panose="02020603050405020304" pitchFamily="18" charset="0"/>
              </a:rPr>
              <a:t>as </a:t>
            </a:r>
            <a:r>
              <a:rPr sz="1600" spc="-10" dirty="0">
                <a:latin typeface="Times New Roman" panose="02020603050405020304" pitchFamily="18" charset="0"/>
                <a:cs typeface="Times New Roman" panose="02020603050405020304" pitchFamily="18" charset="0"/>
              </a:rPr>
              <a:t>null can </a:t>
            </a:r>
            <a:r>
              <a:rPr sz="1600" spc="-5" dirty="0">
                <a:latin typeface="Times New Roman" panose="02020603050405020304" pitchFamily="18" charset="0"/>
                <a:cs typeface="Times New Roman" panose="02020603050405020304" pitchFamily="18" charset="0"/>
              </a:rPr>
              <a:t>also  be</a:t>
            </a:r>
            <a:r>
              <a:rPr sz="1600" dirty="0">
                <a:latin typeface="Times New Roman" panose="02020603050405020304" pitchFamily="18" charset="0"/>
                <a:cs typeface="Times New Roman" panose="02020603050405020304" pitchFamily="18" charset="0"/>
              </a:rPr>
              <a:t> </a:t>
            </a:r>
            <a:r>
              <a:rPr sz="1600" spc="-10" dirty="0">
                <a:latin typeface="Times New Roman" panose="02020603050405020304" pitchFamily="18" charset="0"/>
                <a:cs typeface="Times New Roman" panose="02020603050405020304" pitchFamily="18" charset="0"/>
              </a:rPr>
              <a:t>dropped.</a:t>
            </a:r>
            <a:endParaRPr sz="1600" dirty="0">
              <a:latin typeface="Times New Roman" panose="02020603050405020304" pitchFamily="18" charset="0"/>
              <a:cs typeface="Times New Roman" panose="02020603050405020304" pitchFamily="18" charset="0"/>
            </a:endParaRPr>
          </a:p>
        </p:txBody>
      </p:sp>
      <p:sp>
        <p:nvSpPr>
          <p:cNvPr id="5" name="object 5"/>
          <p:cNvSpPr/>
          <p:nvPr/>
        </p:nvSpPr>
        <p:spPr>
          <a:xfrm>
            <a:off x="2167890" y="1428750"/>
            <a:ext cx="4808220" cy="2104644"/>
          </a:xfrm>
          <a:prstGeom prst="rect">
            <a:avLst/>
          </a:prstGeom>
          <a:blipFill>
            <a:blip r:embed="rId2" cstate="print"/>
            <a:stretch>
              <a:fillRect/>
            </a:stretch>
          </a:blipFill>
        </p:spPr>
        <p:txBody>
          <a:bodyPr wrap="square" lIns="0" tIns="0" rIns="0" bIns="0" rtlCol="0"/>
          <a:lstStyle/>
          <a:p>
            <a:endParaRPr/>
          </a:p>
        </p:txBody>
      </p:sp>
      <p:sp>
        <p:nvSpPr>
          <p:cNvPr id="6" name="object 6"/>
          <p:cNvSpPr txBox="1"/>
          <p:nvPr/>
        </p:nvSpPr>
        <p:spPr>
          <a:xfrm>
            <a:off x="457200" y="3679326"/>
            <a:ext cx="7543800" cy="1166495"/>
          </a:xfrm>
          <a:prstGeom prst="rect">
            <a:avLst/>
          </a:prstGeom>
        </p:spPr>
        <p:txBody>
          <a:bodyPr vert="horz" wrap="square" lIns="0" tIns="40640" rIns="0" bIns="0" rtlCol="0">
            <a:spAutoFit/>
          </a:bodyPr>
          <a:lstStyle/>
          <a:p>
            <a:pPr marL="1550670">
              <a:lnSpc>
                <a:spcPct val="100000"/>
              </a:lnSpc>
              <a:spcBef>
                <a:spcPts val="320"/>
              </a:spcBef>
            </a:pPr>
            <a:r>
              <a:rPr sz="1100" b="1" spc="-5" dirty="0">
                <a:solidFill>
                  <a:srgbClr val="FFFFFF"/>
                </a:solidFill>
                <a:latin typeface="Times New Roman" panose="02020603050405020304" pitchFamily="18" charset="0"/>
                <a:cs typeface="Times New Roman" panose="02020603050405020304" pitchFamily="18" charset="0"/>
              </a:rPr>
              <a:t>Left: </a:t>
            </a:r>
            <a:r>
              <a:rPr sz="1100" dirty="0">
                <a:solidFill>
                  <a:srgbClr val="FFFFFF"/>
                </a:solidFill>
                <a:latin typeface="Times New Roman" panose="02020603050405020304" pitchFamily="18" charset="0"/>
                <a:cs typeface="Times New Roman" panose="02020603050405020304" pitchFamily="18" charset="0"/>
              </a:rPr>
              <a:t>Data with </a:t>
            </a:r>
            <a:r>
              <a:rPr sz="1100" spc="-5" dirty="0">
                <a:solidFill>
                  <a:srgbClr val="FFFFFF"/>
                </a:solidFill>
                <a:latin typeface="Times New Roman" panose="02020603050405020304" pitchFamily="18" charset="0"/>
                <a:cs typeface="Times New Roman" panose="02020603050405020304" pitchFamily="18" charset="0"/>
              </a:rPr>
              <a:t>Null </a:t>
            </a:r>
            <a:r>
              <a:rPr sz="1100" dirty="0">
                <a:solidFill>
                  <a:srgbClr val="FFFFFF"/>
                </a:solidFill>
                <a:latin typeface="Times New Roman" panose="02020603050405020304" pitchFamily="18" charset="0"/>
                <a:cs typeface="Times New Roman" panose="02020603050405020304" pitchFamily="18" charset="0"/>
              </a:rPr>
              <a:t>values, </a:t>
            </a:r>
            <a:r>
              <a:rPr sz="1100" b="1" dirty="0">
                <a:solidFill>
                  <a:srgbClr val="FFFFFF"/>
                </a:solidFill>
                <a:latin typeface="Times New Roman" panose="02020603050405020304" pitchFamily="18" charset="0"/>
                <a:cs typeface="Times New Roman" panose="02020603050405020304" pitchFamily="18" charset="0"/>
              </a:rPr>
              <a:t>Right: </a:t>
            </a:r>
            <a:r>
              <a:rPr sz="1100" dirty="0">
                <a:solidFill>
                  <a:srgbClr val="FFFFFF"/>
                </a:solidFill>
                <a:latin typeface="Times New Roman" panose="02020603050405020304" pitchFamily="18" charset="0"/>
                <a:cs typeface="Times New Roman" panose="02020603050405020304" pitchFamily="18" charset="0"/>
              </a:rPr>
              <a:t>Data after </a:t>
            </a:r>
            <a:r>
              <a:rPr sz="1100" spc="5" dirty="0">
                <a:solidFill>
                  <a:srgbClr val="FFFFFF"/>
                </a:solidFill>
                <a:latin typeface="Times New Roman" panose="02020603050405020304" pitchFamily="18" charset="0"/>
                <a:cs typeface="Times New Roman" panose="02020603050405020304" pitchFamily="18" charset="0"/>
              </a:rPr>
              <a:t>removal of </a:t>
            </a:r>
            <a:r>
              <a:rPr sz="1100" spc="-5" dirty="0">
                <a:solidFill>
                  <a:srgbClr val="FFFFFF"/>
                </a:solidFill>
                <a:latin typeface="Times New Roman" panose="02020603050405020304" pitchFamily="18" charset="0"/>
                <a:cs typeface="Times New Roman" panose="02020603050405020304" pitchFamily="18" charset="0"/>
              </a:rPr>
              <a:t>Null</a:t>
            </a:r>
            <a:r>
              <a:rPr sz="1100" spc="-175" dirty="0">
                <a:solidFill>
                  <a:srgbClr val="FFFFFF"/>
                </a:solidFill>
                <a:latin typeface="Times New Roman" panose="02020603050405020304" pitchFamily="18" charset="0"/>
                <a:cs typeface="Times New Roman" panose="02020603050405020304" pitchFamily="18" charset="0"/>
              </a:rPr>
              <a:t> </a:t>
            </a:r>
            <a:r>
              <a:rPr sz="1100" dirty="0">
                <a:solidFill>
                  <a:srgbClr val="FFFFFF"/>
                </a:solidFill>
                <a:latin typeface="Times New Roman" panose="02020603050405020304" pitchFamily="18" charset="0"/>
                <a:cs typeface="Times New Roman" panose="02020603050405020304" pitchFamily="18" charset="0"/>
              </a:rPr>
              <a:t>values</a:t>
            </a:r>
            <a:endParaRPr sz="1100" dirty="0">
              <a:latin typeface="Times New Roman" panose="02020603050405020304" pitchFamily="18" charset="0"/>
              <a:cs typeface="Times New Roman" panose="02020603050405020304" pitchFamily="18" charset="0"/>
            </a:endParaRPr>
          </a:p>
          <a:p>
            <a:pPr marL="12700">
              <a:lnSpc>
                <a:spcPct val="100000"/>
              </a:lnSpc>
              <a:spcBef>
                <a:spcPts val="235"/>
              </a:spcBef>
            </a:pPr>
            <a:r>
              <a:rPr sz="1200" b="1" spc="-5" dirty="0">
                <a:solidFill>
                  <a:srgbClr val="FFFFFF"/>
                </a:solidFill>
                <a:latin typeface="Times New Roman" panose="02020603050405020304" pitchFamily="18" charset="0"/>
                <a:cs typeface="Times New Roman" panose="02020603050405020304" pitchFamily="18" charset="0"/>
              </a:rPr>
              <a:t>Pros</a:t>
            </a:r>
            <a:r>
              <a:rPr lang="tr-TR" sz="1200" b="1" spc="-5" dirty="0">
                <a:solidFill>
                  <a:srgbClr val="FFFFFF"/>
                </a:solidFill>
                <a:latin typeface="Times New Roman" panose="02020603050405020304" pitchFamily="18" charset="0"/>
                <a:cs typeface="Times New Roman" panose="02020603050405020304" pitchFamily="18" charset="0"/>
              </a:rPr>
              <a:t> (+)</a:t>
            </a:r>
            <a:r>
              <a:rPr sz="1200" b="1" spc="-5" dirty="0">
                <a:solidFill>
                  <a:srgbClr val="FFFFFF"/>
                </a:solidFill>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66675" indent="-54610">
              <a:lnSpc>
                <a:spcPct val="100000"/>
              </a:lnSpc>
              <a:buSzPct val="91666"/>
              <a:buFont typeface="Arial"/>
              <a:buChar char="•"/>
              <a:tabLst>
                <a:tab pos="67310" algn="l"/>
              </a:tabLst>
            </a:pPr>
            <a:r>
              <a:rPr sz="1200" dirty="0">
                <a:solidFill>
                  <a:srgbClr val="FFFFFF"/>
                </a:solidFill>
                <a:latin typeface="Times New Roman" panose="02020603050405020304" pitchFamily="18" charset="0"/>
                <a:cs typeface="Times New Roman" panose="02020603050405020304" pitchFamily="18" charset="0"/>
              </a:rPr>
              <a:t>A model </a:t>
            </a:r>
            <a:r>
              <a:rPr sz="1200" spc="-5" dirty="0">
                <a:solidFill>
                  <a:srgbClr val="FFFFFF"/>
                </a:solidFill>
                <a:latin typeface="Times New Roman" panose="02020603050405020304" pitchFamily="18" charset="0"/>
                <a:cs typeface="Times New Roman" panose="02020603050405020304" pitchFamily="18" charset="0"/>
              </a:rPr>
              <a:t>trained with </a:t>
            </a:r>
            <a:r>
              <a:rPr sz="1200" dirty="0">
                <a:solidFill>
                  <a:srgbClr val="FFFFFF"/>
                </a:solidFill>
                <a:latin typeface="Times New Roman" panose="02020603050405020304" pitchFamily="18" charset="0"/>
                <a:cs typeface="Times New Roman" panose="02020603050405020304" pitchFamily="18" charset="0"/>
              </a:rPr>
              <a:t>the </a:t>
            </a:r>
            <a:r>
              <a:rPr sz="1200" spc="-5" dirty="0">
                <a:solidFill>
                  <a:srgbClr val="FFFFFF"/>
                </a:solidFill>
                <a:latin typeface="Times New Roman" panose="02020603050405020304" pitchFamily="18" charset="0"/>
                <a:cs typeface="Times New Roman" panose="02020603050405020304" pitchFamily="18" charset="0"/>
              </a:rPr>
              <a:t>removal of </a:t>
            </a:r>
            <a:r>
              <a:rPr sz="1200" dirty="0">
                <a:solidFill>
                  <a:srgbClr val="FFFFFF"/>
                </a:solidFill>
                <a:latin typeface="Times New Roman" panose="02020603050405020304" pitchFamily="18" charset="0"/>
                <a:cs typeface="Times New Roman" panose="02020603050405020304" pitchFamily="18" charset="0"/>
              </a:rPr>
              <a:t>all missing </a:t>
            </a:r>
            <a:r>
              <a:rPr sz="1200" spc="-5" dirty="0">
                <a:solidFill>
                  <a:srgbClr val="FFFFFF"/>
                </a:solidFill>
                <a:latin typeface="Times New Roman" panose="02020603050405020304" pitchFamily="18" charset="0"/>
                <a:cs typeface="Times New Roman" panose="02020603050405020304" pitchFamily="18" charset="0"/>
              </a:rPr>
              <a:t>values </a:t>
            </a:r>
            <a:r>
              <a:rPr sz="1200" spc="-10" dirty="0">
                <a:solidFill>
                  <a:srgbClr val="FFFFFF"/>
                </a:solidFill>
                <a:latin typeface="Times New Roman" panose="02020603050405020304" pitchFamily="18" charset="0"/>
                <a:cs typeface="Times New Roman" panose="02020603050405020304" pitchFamily="18" charset="0"/>
              </a:rPr>
              <a:t>creates </a:t>
            </a:r>
            <a:r>
              <a:rPr sz="1200" dirty="0">
                <a:solidFill>
                  <a:srgbClr val="FFFFFF"/>
                </a:solidFill>
                <a:latin typeface="Times New Roman" panose="02020603050405020304" pitchFamily="18" charset="0"/>
                <a:cs typeface="Times New Roman" panose="02020603050405020304" pitchFamily="18" charset="0"/>
              </a:rPr>
              <a:t>a </a:t>
            </a:r>
            <a:r>
              <a:rPr sz="1200" spc="-10" dirty="0">
                <a:solidFill>
                  <a:srgbClr val="FFFFFF"/>
                </a:solidFill>
                <a:latin typeface="Times New Roman" panose="02020603050405020304" pitchFamily="18" charset="0"/>
                <a:cs typeface="Times New Roman" panose="02020603050405020304" pitchFamily="18" charset="0"/>
              </a:rPr>
              <a:t>robust</a:t>
            </a:r>
            <a:r>
              <a:rPr sz="1200" spc="-60" dirty="0">
                <a:solidFill>
                  <a:srgbClr val="FFFFFF"/>
                </a:solidFill>
                <a:latin typeface="Times New Roman" panose="02020603050405020304" pitchFamily="18" charset="0"/>
                <a:cs typeface="Times New Roman" panose="02020603050405020304" pitchFamily="18" charset="0"/>
              </a:rPr>
              <a:t> </a:t>
            </a:r>
            <a:r>
              <a:rPr sz="1200" dirty="0">
                <a:solidFill>
                  <a:srgbClr val="FFFFFF"/>
                </a:solidFill>
                <a:latin typeface="Times New Roman" panose="02020603050405020304" pitchFamily="18" charset="0"/>
                <a:cs typeface="Times New Roman" panose="02020603050405020304" pitchFamily="18" charset="0"/>
              </a:rPr>
              <a:t>model.</a:t>
            </a:r>
            <a:endParaRPr sz="1200" dirty="0">
              <a:latin typeface="Times New Roman" panose="02020603050405020304" pitchFamily="18" charset="0"/>
              <a:cs typeface="Times New Roman" panose="02020603050405020304" pitchFamily="18" charset="0"/>
            </a:endParaRPr>
          </a:p>
          <a:p>
            <a:pPr marL="12700">
              <a:lnSpc>
                <a:spcPct val="100000"/>
              </a:lnSpc>
            </a:pPr>
            <a:r>
              <a:rPr sz="1200" b="1" spc="-5" dirty="0">
                <a:solidFill>
                  <a:srgbClr val="FFFFFF"/>
                </a:solidFill>
                <a:latin typeface="Times New Roman" panose="02020603050405020304" pitchFamily="18" charset="0"/>
                <a:cs typeface="Times New Roman" panose="02020603050405020304" pitchFamily="18" charset="0"/>
              </a:rPr>
              <a:t>Cons</a:t>
            </a:r>
            <a:r>
              <a:rPr lang="tr-TR" sz="1200" b="1" spc="-5" dirty="0">
                <a:solidFill>
                  <a:srgbClr val="FFFFFF"/>
                </a:solidFill>
                <a:latin typeface="Times New Roman" panose="02020603050405020304" pitchFamily="18" charset="0"/>
                <a:cs typeface="Times New Roman" panose="02020603050405020304" pitchFamily="18" charset="0"/>
              </a:rPr>
              <a:t>(-)</a:t>
            </a:r>
            <a:r>
              <a:rPr sz="1200" b="1" spc="-5" dirty="0">
                <a:solidFill>
                  <a:srgbClr val="FFFFFF"/>
                </a:solidFill>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66675" indent="-54610">
              <a:lnSpc>
                <a:spcPct val="100000"/>
              </a:lnSpc>
              <a:spcBef>
                <a:spcPts val="5"/>
              </a:spcBef>
              <a:buSzPct val="91666"/>
              <a:buFont typeface="Arial"/>
              <a:buChar char="•"/>
              <a:tabLst>
                <a:tab pos="67310" algn="l"/>
              </a:tabLst>
            </a:pPr>
            <a:r>
              <a:rPr sz="1200" spc="-5" dirty="0">
                <a:solidFill>
                  <a:srgbClr val="FFFFFF"/>
                </a:solidFill>
                <a:latin typeface="Times New Roman" panose="02020603050405020304" pitchFamily="18" charset="0"/>
                <a:cs typeface="Times New Roman" panose="02020603050405020304" pitchFamily="18" charset="0"/>
              </a:rPr>
              <a:t>Loss of </a:t>
            </a:r>
            <a:r>
              <a:rPr sz="1200" dirty="0">
                <a:solidFill>
                  <a:srgbClr val="FFFFFF"/>
                </a:solidFill>
                <a:latin typeface="Times New Roman" panose="02020603050405020304" pitchFamily="18" charset="0"/>
                <a:cs typeface="Times New Roman" panose="02020603050405020304" pitchFamily="18" charset="0"/>
              </a:rPr>
              <a:t>a lot </a:t>
            </a:r>
            <a:r>
              <a:rPr sz="1200" spc="-5" dirty="0">
                <a:solidFill>
                  <a:srgbClr val="FFFFFF"/>
                </a:solidFill>
                <a:latin typeface="Times New Roman" panose="02020603050405020304" pitchFamily="18" charset="0"/>
                <a:cs typeface="Times New Roman" panose="02020603050405020304" pitchFamily="18" charset="0"/>
              </a:rPr>
              <a:t>of</a:t>
            </a:r>
            <a:r>
              <a:rPr sz="1200" spc="20" dirty="0">
                <a:solidFill>
                  <a:srgbClr val="FFFFFF"/>
                </a:solidFill>
                <a:latin typeface="Times New Roman" panose="02020603050405020304" pitchFamily="18" charset="0"/>
                <a:cs typeface="Times New Roman" panose="02020603050405020304" pitchFamily="18" charset="0"/>
              </a:rPr>
              <a:t> </a:t>
            </a:r>
            <a:r>
              <a:rPr sz="1200" spc="-5" dirty="0">
                <a:solidFill>
                  <a:srgbClr val="FFFFFF"/>
                </a:solidFill>
                <a:latin typeface="Times New Roman" panose="02020603050405020304" pitchFamily="18" charset="0"/>
                <a:cs typeface="Times New Roman" panose="02020603050405020304" pitchFamily="18" charset="0"/>
              </a:rPr>
              <a:t>information.</a:t>
            </a:r>
            <a:endParaRPr sz="1200" dirty="0">
              <a:latin typeface="Times New Roman" panose="02020603050405020304" pitchFamily="18" charset="0"/>
              <a:cs typeface="Times New Roman" panose="02020603050405020304" pitchFamily="18" charset="0"/>
            </a:endParaRPr>
          </a:p>
          <a:p>
            <a:pPr marL="66675" indent="-54610">
              <a:lnSpc>
                <a:spcPct val="100000"/>
              </a:lnSpc>
              <a:buSzPct val="91666"/>
              <a:buFont typeface="Arial"/>
              <a:buChar char="•"/>
              <a:tabLst>
                <a:tab pos="67310" algn="l"/>
              </a:tabLst>
            </a:pPr>
            <a:r>
              <a:rPr sz="1200" spc="-15" dirty="0">
                <a:solidFill>
                  <a:srgbClr val="FFFFFF"/>
                </a:solidFill>
                <a:latin typeface="Times New Roman" panose="02020603050405020304" pitchFamily="18" charset="0"/>
                <a:cs typeface="Times New Roman" panose="02020603050405020304" pitchFamily="18" charset="0"/>
              </a:rPr>
              <a:t>Works </a:t>
            </a:r>
            <a:r>
              <a:rPr sz="1200" dirty="0">
                <a:solidFill>
                  <a:srgbClr val="FFFFFF"/>
                </a:solidFill>
                <a:latin typeface="Times New Roman" panose="02020603050405020304" pitchFamily="18" charset="0"/>
                <a:cs typeface="Times New Roman" panose="02020603050405020304" pitchFamily="18" charset="0"/>
              </a:rPr>
              <a:t>poorly if the </a:t>
            </a:r>
            <a:r>
              <a:rPr sz="1200" spc="-5" dirty="0">
                <a:solidFill>
                  <a:srgbClr val="FFFFFF"/>
                </a:solidFill>
                <a:latin typeface="Times New Roman" panose="02020603050405020304" pitchFamily="18" charset="0"/>
                <a:cs typeface="Times New Roman" panose="02020603050405020304" pitchFamily="18" charset="0"/>
              </a:rPr>
              <a:t>percentage of </a:t>
            </a:r>
            <a:r>
              <a:rPr sz="1200" dirty="0">
                <a:solidFill>
                  <a:srgbClr val="FFFFFF"/>
                </a:solidFill>
                <a:latin typeface="Times New Roman" panose="02020603050405020304" pitchFamily="18" charset="0"/>
                <a:cs typeface="Times New Roman" panose="02020603050405020304" pitchFamily="18" charset="0"/>
              </a:rPr>
              <a:t>missing </a:t>
            </a:r>
            <a:r>
              <a:rPr sz="1200" spc="-5" dirty="0">
                <a:solidFill>
                  <a:srgbClr val="FFFFFF"/>
                </a:solidFill>
                <a:latin typeface="Times New Roman" panose="02020603050405020304" pitchFamily="18" charset="0"/>
                <a:cs typeface="Times New Roman" panose="02020603050405020304" pitchFamily="18" charset="0"/>
              </a:rPr>
              <a:t>values </a:t>
            </a:r>
            <a:r>
              <a:rPr sz="1200" dirty="0">
                <a:solidFill>
                  <a:srgbClr val="FFFFFF"/>
                </a:solidFill>
                <a:latin typeface="Times New Roman" panose="02020603050405020304" pitchFamily="18" charset="0"/>
                <a:cs typeface="Times New Roman" panose="02020603050405020304" pitchFamily="18" charset="0"/>
              </a:rPr>
              <a:t>is </a:t>
            </a:r>
            <a:r>
              <a:rPr sz="1200" spc="-10" dirty="0">
                <a:solidFill>
                  <a:srgbClr val="FFFFFF"/>
                </a:solidFill>
                <a:latin typeface="Times New Roman" panose="02020603050405020304" pitchFamily="18" charset="0"/>
                <a:cs typeface="Times New Roman" panose="02020603050405020304" pitchFamily="18" charset="0"/>
              </a:rPr>
              <a:t>excessive </a:t>
            </a:r>
            <a:r>
              <a:rPr sz="1200" dirty="0">
                <a:solidFill>
                  <a:srgbClr val="FFFFFF"/>
                </a:solidFill>
                <a:latin typeface="Times New Roman" panose="02020603050405020304" pitchFamily="18" charset="0"/>
                <a:cs typeface="Times New Roman" panose="02020603050405020304" pitchFamily="18" charset="0"/>
              </a:rPr>
              <a:t>in </a:t>
            </a:r>
            <a:r>
              <a:rPr sz="1200" spc="-5" dirty="0">
                <a:solidFill>
                  <a:srgbClr val="FFFFFF"/>
                </a:solidFill>
                <a:latin typeface="Times New Roman" panose="02020603050405020304" pitchFamily="18" charset="0"/>
                <a:cs typeface="Times New Roman" panose="02020603050405020304" pitchFamily="18" charset="0"/>
              </a:rPr>
              <a:t>comparison to </a:t>
            </a:r>
            <a:r>
              <a:rPr sz="1200" dirty="0">
                <a:solidFill>
                  <a:srgbClr val="FFFFFF"/>
                </a:solidFill>
                <a:latin typeface="Times New Roman" panose="02020603050405020304" pitchFamily="18" charset="0"/>
                <a:cs typeface="Times New Roman" panose="02020603050405020304" pitchFamily="18" charset="0"/>
              </a:rPr>
              <a:t>the </a:t>
            </a:r>
            <a:r>
              <a:rPr sz="1200" spc="-10" dirty="0">
                <a:solidFill>
                  <a:srgbClr val="FFFFFF"/>
                </a:solidFill>
                <a:latin typeface="Times New Roman" panose="02020603050405020304" pitchFamily="18" charset="0"/>
                <a:cs typeface="Times New Roman" panose="02020603050405020304" pitchFamily="18" charset="0"/>
              </a:rPr>
              <a:t>complete</a:t>
            </a:r>
            <a:r>
              <a:rPr sz="1200" spc="15" dirty="0">
                <a:solidFill>
                  <a:srgbClr val="FFFFFF"/>
                </a:solidFill>
                <a:latin typeface="Times New Roman" panose="02020603050405020304" pitchFamily="18" charset="0"/>
                <a:cs typeface="Times New Roman" panose="02020603050405020304" pitchFamily="18" charset="0"/>
              </a:rPr>
              <a:t> </a:t>
            </a:r>
            <a:r>
              <a:rPr sz="1200" spc="-5" dirty="0">
                <a:solidFill>
                  <a:srgbClr val="FFFFFF"/>
                </a:solidFill>
                <a:latin typeface="Times New Roman" panose="02020603050405020304" pitchFamily="18" charset="0"/>
                <a:cs typeface="Times New Roman" panose="02020603050405020304" pitchFamily="18" charset="0"/>
              </a:rPr>
              <a:t>dataset.</a:t>
            </a:r>
            <a:endParaRPr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592719" y="299726"/>
            <a:ext cx="8077200" cy="1443344"/>
          </a:xfrm>
          <a:prstGeom prst="rect">
            <a:avLst/>
          </a:prstGeom>
        </p:spPr>
        <p:txBody>
          <a:bodyPr vert="horz" wrap="square" lIns="0" tIns="12065" rIns="0" bIns="0" rtlCol="0">
            <a:spAutoFit/>
          </a:bodyPr>
          <a:lstStyle/>
          <a:p>
            <a:pPr marL="12700" algn="just">
              <a:lnSpc>
                <a:spcPct val="100000"/>
              </a:lnSpc>
              <a:spcBef>
                <a:spcPts val="95"/>
              </a:spcBef>
              <a:spcAft>
                <a:spcPts val="600"/>
              </a:spcAft>
            </a:pPr>
            <a:r>
              <a:rPr sz="1600" b="1" spc="-10" dirty="0">
                <a:solidFill>
                  <a:srgbClr val="FFFF00"/>
                </a:solidFill>
                <a:latin typeface="Times New Roman" panose="02020603050405020304" pitchFamily="18" charset="0"/>
                <a:cs typeface="Times New Roman" panose="02020603050405020304" pitchFamily="18" charset="0"/>
              </a:rPr>
              <a:t>Imputation</a:t>
            </a:r>
            <a:r>
              <a:rPr lang="tr-TR" sz="1600" b="1" spc="-10" dirty="0">
                <a:solidFill>
                  <a:srgbClr val="FFFF00"/>
                </a:solidFill>
                <a:latin typeface="Times New Roman" panose="02020603050405020304" pitchFamily="18" charset="0"/>
                <a:cs typeface="Times New Roman" panose="02020603050405020304" pitchFamily="18" charset="0"/>
              </a:rPr>
              <a:t> (Eksik Verileri Tamamlama)</a:t>
            </a:r>
            <a:r>
              <a:rPr sz="1600" b="1" spc="-10" dirty="0">
                <a:solidFill>
                  <a:srgbClr val="FFFF00"/>
                </a:solidFill>
                <a:latin typeface="Times New Roman" panose="02020603050405020304" pitchFamily="18" charset="0"/>
                <a:cs typeface="Times New Roman" panose="02020603050405020304" pitchFamily="18" charset="0"/>
              </a:rPr>
              <a:t> </a:t>
            </a:r>
            <a:r>
              <a:rPr lang="tr-TR" sz="1600" b="1" spc="-10" dirty="0">
                <a:solidFill>
                  <a:srgbClr val="FFFF00"/>
                </a:solidFill>
                <a:latin typeface="Times New Roman" panose="02020603050405020304" pitchFamily="18" charset="0"/>
                <a:cs typeface="Times New Roman" panose="02020603050405020304" pitchFamily="18" charset="0"/>
              </a:rPr>
              <a:t>-&gt; </a:t>
            </a:r>
            <a:r>
              <a:rPr sz="1600" b="1" spc="-5" dirty="0">
                <a:solidFill>
                  <a:srgbClr val="FFFF00"/>
                </a:solidFill>
                <a:latin typeface="Times New Roman" panose="02020603050405020304" pitchFamily="18" charset="0"/>
                <a:cs typeface="Times New Roman" panose="02020603050405020304" pitchFamily="18" charset="0"/>
              </a:rPr>
              <a:t>using </a:t>
            </a:r>
            <a:r>
              <a:rPr sz="1600" b="1" spc="-20" dirty="0">
                <a:solidFill>
                  <a:srgbClr val="FFFF00"/>
                </a:solidFill>
                <a:latin typeface="Times New Roman" panose="02020603050405020304" pitchFamily="18" charset="0"/>
                <a:cs typeface="Times New Roman" panose="02020603050405020304" pitchFamily="18" charset="0"/>
              </a:rPr>
              <a:t>zero, </a:t>
            </a:r>
            <a:r>
              <a:rPr sz="1600" b="1" spc="-10" dirty="0">
                <a:solidFill>
                  <a:srgbClr val="FFFF00"/>
                </a:solidFill>
                <a:latin typeface="Times New Roman" panose="02020603050405020304" pitchFamily="18" charset="0"/>
                <a:cs typeface="Times New Roman" panose="02020603050405020304" pitchFamily="18" charset="0"/>
              </a:rPr>
              <a:t>mean, </a:t>
            </a:r>
            <a:r>
              <a:rPr sz="1600" b="1" spc="-5" dirty="0">
                <a:solidFill>
                  <a:srgbClr val="FFFF00"/>
                </a:solidFill>
                <a:latin typeface="Times New Roman" panose="02020603050405020304" pitchFamily="18" charset="0"/>
                <a:cs typeface="Times New Roman" panose="02020603050405020304" pitchFamily="18" charset="0"/>
              </a:rPr>
              <a:t>median</a:t>
            </a:r>
            <a:r>
              <a:rPr lang="tr-TR" sz="1600" b="1" spc="-5" dirty="0">
                <a:solidFill>
                  <a:srgbClr val="FFFF00"/>
                </a:solidFill>
                <a:latin typeface="Times New Roman" panose="02020603050405020304" pitchFamily="18" charset="0"/>
                <a:cs typeface="Times New Roman" panose="02020603050405020304" pitchFamily="18" charset="0"/>
              </a:rPr>
              <a:t>, </a:t>
            </a:r>
            <a:r>
              <a:rPr lang="tr-TR" sz="1600" b="1" spc="-5" dirty="0" err="1">
                <a:solidFill>
                  <a:srgbClr val="FFFF00"/>
                </a:solidFill>
                <a:latin typeface="Times New Roman" panose="02020603050405020304" pitchFamily="18" charset="0"/>
                <a:cs typeface="Times New Roman" panose="02020603050405020304" pitchFamily="18" charset="0"/>
              </a:rPr>
              <a:t>mode</a:t>
            </a:r>
            <a:r>
              <a:rPr lang="tr-TR" sz="1600" b="1" spc="-5" dirty="0">
                <a:solidFill>
                  <a:srgbClr val="FFFF00"/>
                </a:solidFill>
                <a:latin typeface="Times New Roman" panose="02020603050405020304" pitchFamily="18" charset="0"/>
                <a:cs typeface="Times New Roman" panose="02020603050405020304" pitchFamily="18" charset="0"/>
              </a:rPr>
              <a:t>(</a:t>
            </a:r>
            <a:r>
              <a:rPr sz="1600" b="1" spc="-10" dirty="0">
                <a:solidFill>
                  <a:srgbClr val="FFFF00"/>
                </a:solidFill>
                <a:latin typeface="Times New Roman" panose="02020603050405020304" pitchFamily="18" charset="0"/>
                <a:cs typeface="Times New Roman" panose="02020603050405020304" pitchFamily="18" charset="0"/>
              </a:rPr>
              <a:t>most </a:t>
            </a:r>
            <a:r>
              <a:rPr sz="1600" b="1" spc="-15" dirty="0">
                <a:solidFill>
                  <a:srgbClr val="FFFF00"/>
                </a:solidFill>
                <a:latin typeface="Times New Roman" panose="02020603050405020304" pitchFamily="18" charset="0"/>
                <a:cs typeface="Times New Roman" panose="02020603050405020304" pitchFamily="18" charset="0"/>
              </a:rPr>
              <a:t>frequent</a:t>
            </a:r>
            <a:r>
              <a:rPr sz="1600" b="1" spc="120" dirty="0">
                <a:solidFill>
                  <a:srgbClr val="FFFF00"/>
                </a:solidFill>
                <a:latin typeface="Times New Roman" panose="02020603050405020304" pitchFamily="18" charset="0"/>
                <a:cs typeface="Times New Roman" panose="02020603050405020304" pitchFamily="18" charset="0"/>
              </a:rPr>
              <a:t> </a:t>
            </a:r>
            <a:r>
              <a:rPr sz="1600" b="1" spc="-10" dirty="0">
                <a:solidFill>
                  <a:srgbClr val="FFFF00"/>
                </a:solidFill>
                <a:latin typeface="Times New Roman" panose="02020603050405020304" pitchFamily="18" charset="0"/>
                <a:cs typeface="Times New Roman" panose="02020603050405020304" pitchFamily="18" charset="0"/>
              </a:rPr>
              <a:t>value</a:t>
            </a:r>
            <a:r>
              <a:rPr lang="tr-TR" sz="1600" b="1" spc="-10" dirty="0">
                <a:solidFill>
                  <a:srgbClr val="FFFF00"/>
                </a:solidFill>
                <a:latin typeface="Times New Roman" panose="02020603050405020304" pitchFamily="18" charset="0"/>
                <a:cs typeface="Times New Roman" panose="02020603050405020304" pitchFamily="18" charset="0"/>
              </a:rPr>
              <a:t>)</a:t>
            </a:r>
            <a:endParaRPr sz="1600" dirty="0">
              <a:solidFill>
                <a:srgbClr val="FFFF00"/>
              </a:solidFill>
              <a:latin typeface="Times New Roman" panose="02020603050405020304" pitchFamily="18" charset="0"/>
              <a:cs typeface="Times New Roman" panose="02020603050405020304" pitchFamily="18" charset="0"/>
            </a:endParaRPr>
          </a:p>
          <a:p>
            <a:pPr marL="12700" marR="5080" algn="just">
              <a:lnSpc>
                <a:spcPct val="100000"/>
              </a:lnSpc>
              <a:spcBef>
                <a:spcPts val="5"/>
              </a:spcBef>
            </a:pPr>
            <a:r>
              <a:rPr sz="1400" spc="-5" dirty="0">
                <a:latin typeface="Times New Roman" panose="02020603050405020304" pitchFamily="18" charset="0"/>
                <a:cs typeface="Times New Roman" panose="02020603050405020304" pitchFamily="18" charset="0"/>
              </a:rPr>
              <a:t>Columns </a:t>
            </a:r>
            <a:r>
              <a:rPr sz="1400" dirty="0">
                <a:latin typeface="Times New Roman" panose="02020603050405020304" pitchFamily="18" charset="0"/>
                <a:cs typeface="Times New Roman" panose="02020603050405020304" pitchFamily="18" charset="0"/>
              </a:rPr>
              <a:t>in the </a:t>
            </a:r>
            <a:r>
              <a:rPr sz="1400" spc="-5" dirty="0">
                <a:latin typeface="Times New Roman" panose="02020603050405020304" pitchFamily="18" charset="0"/>
                <a:cs typeface="Times New Roman" panose="02020603050405020304" pitchFamily="18" charset="0"/>
              </a:rPr>
              <a:t>dataset </a:t>
            </a:r>
            <a:r>
              <a:rPr lang="tr-TR" sz="1400" spc="-5" dirty="0" err="1">
                <a:latin typeface="Times New Roman" panose="02020603050405020304" pitchFamily="18" charset="0"/>
                <a:cs typeface="Times New Roman" panose="02020603050405020304" pitchFamily="18" charset="0"/>
              </a:rPr>
              <a:t>which</a:t>
            </a:r>
            <a:r>
              <a:rPr lang="tr-TR" sz="1400" spc="-5" dirty="0">
                <a:latin typeface="Times New Roman" panose="02020603050405020304" pitchFamily="18" charset="0"/>
                <a:cs typeface="Times New Roman" panose="02020603050405020304" pitchFamily="18" charset="0"/>
              </a:rPr>
              <a:t> </a:t>
            </a:r>
            <a:r>
              <a:rPr lang="tr-TR" sz="1400" spc="-5" dirty="0" err="1">
                <a:latin typeface="Times New Roman" panose="02020603050405020304" pitchFamily="18" charset="0"/>
                <a:cs typeface="Times New Roman" panose="02020603050405020304" pitchFamily="18" charset="0"/>
              </a:rPr>
              <a:t>are</a:t>
            </a:r>
            <a:r>
              <a:rPr lang="tr-TR" sz="1400" spc="-5" dirty="0">
                <a:latin typeface="Times New Roman" panose="02020603050405020304" pitchFamily="18" charset="0"/>
                <a:cs typeface="Times New Roman" panose="02020603050405020304" pitchFamily="18" charset="0"/>
              </a:rPr>
              <a:t> </a:t>
            </a:r>
            <a:r>
              <a:rPr lang="tr-TR" sz="1400" spc="-5" dirty="0" err="1">
                <a:latin typeface="Times New Roman" panose="02020603050405020304" pitchFamily="18" charset="0"/>
                <a:cs typeface="Times New Roman" panose="02020603050405020304" pitchFamily="18" charset="0"/>
              </a:rPr>
              <a:t>having</a:t>
            </a:r>
            <a:r>
              <a:rPr sz="1400" spc="-5" dirty="0">
                <a:latin typeface="Times New Roman" panose="02020603050405020304" pitchFamily="18" charset="0"/>
                <a:cs typeface="Times New Roman" panose="02020603050405020304" pitchFamily="18" charset="0"/>
              </a:rPr>
              <a:t> numeric continuous values can </a:t>
            </a:r>
            <a:r>
              <a:rPr sz="1400" dirty="0">
                <a:latin typeface="Times New Roman" panose="02020603050405020304" pitchFamily="18" charset="0"/>
                <a:cs typeface="Times New Roman" panose="02020603050405020304" pitchFamily="18" charset="0"/>
              </a:rPr>
              <a:t>be </a:t>
            </a:r>
            <a:r>
              <a:rPr sz="1400" spc="-5" dirty="0">
                <a:latin typeface="Times New Roman" panose="02020603050405020304" pitchFamily="18" charset="0"/>
                <a:cs typeface="Times New Roman" panose="02020603050405020304" pitchFamily="18" charset="0"/>
              </a:rPr>
              <a:t>replaced </a:t>
            </a:r>
            <a:r>
              <a:rPr sz="1400" dirty="0">
                <a:latin typeface="Times New Roman" panose="02020603050405020304" pitchFamily="18" charset="0"/>
                <a:cs typeface="Times New Roman" panose="02020603050405020304" pitchFamily="18" charset="0"/>
              </a:rPr>
              <a:t>with </a:t>
            </a:r>
            <a:r>
              <a:rPr sz="1400" spc="5" dirty="0">
                <a:latin typeface="Times New Roman" panose="02020603050405020304" pitchFamily="18" charset="0"/>
                <a:cs typeface="Times New Roman" panose="02020603050405020304" pitchFamily="18" charset="0"/>
              </a:rPr>
              <a:t>the</a:t>
            </a:r>
            <a:r>
              <a:rPr lang="tr-TR" sz="1400" spc="5" dirty="0">
                <a:latin typeface="Times New Roman" panose="02020603050405020304" pitchFamily="18" charset="0"/>
                <a:cs typeface="Times New Roman" panose="02020603050405020304" pitchFamily="18" charset="0"/>
              </a:rPr>
              <a:t> </a:t>
            </a:r>
            <a:r>
              <a:rPr sz="1400" spc="-5" dirty="0">
                <a:latin typeface="Times New Roman" panose="02020603050405020304" pitchFamily="18" charset="0"/>
                <a:cs typeface="Times New Roman" panose="02020603050405020304" pitchFamily="18" charset="0"/>
              </a:rPr>
              <a:t>mean, median, </a:t>
            </a:r>
            <a:r>
              <a:rPr sz="1400" dirty="0">
                <a:latin typeface="Times New Roman" panose="02020603050405020304" pitchFamily="18" charset="0"/>
                <a:cs typeface="Times New Roman" panose="02020603050405020304" pitchFamily="18" charset="0"/>
              </a:rPr>
              <a:t>or </a:t>
            </a:r>
            <a:r>
              <a:rPr sz="1400" spc="-10" dirty="0">
                <a:latin typeface="Times New Roman" panose="02020603050405020304" pitchFamily="18" charset="0"/>
                <a:cs typeface="Times New Roman" panose="02020603050405020304" pitchFamily="18" charset="0"/>
              </a:rPr>
              <a:t>mode </a:t>
            </a:r>
            <a:r>
              <a:rPr sz="1400" dirty="0">
                <a:latin typeface="Times New Roman" panose="02020603050405020304" pitchFamily="18" charset="0"/>
                <a:cs typeface="Times New Roman" panose="02020603050405020304" pitchFamily="18" charset="0"/>
              </a:rPr>
              <a:t>of </a:t>
            </a:r>
            <a:r>
              <a:rPr sz="1400" spc="-5" dirty="0">
                <a:latin typeface="Times New Roman" panose="02020603050405020304" pitchFamily="18" charset="0"/>
                <a:cs typeface="Times New Roman" panose="02020603050405020304" pitchFamily="18" charset="0"/>
              </a:rPr>
              <a:t>remaining values </a:t>
            </a:r>
            <a:r>
              <a:rPr sz="1400" dirty="0">
                <a:latin typeface="Times New Roman" panose="02020603050405020304" pitchFamily="18" charset="0"/>
                <a:cs typeface="Times New Roman" panose="02020603050405020304" pitchFamily="18" charset="0"/>
              </a:rPr>
              <a:t>in the </a:t>
            </a:r>
            <a:r>
              <a:rPr sz="1400" spc="-5" dirty="0">
                <a:latin typeface="Times New Roman" panose="02020603050405020304" pitchFamily="18" charset="0"/>
                <a:cs typeface="Times New Roman" panose="02020603050405020304" pitchFamily="18" charset="0"/>
              </a:rPr>
              <a:t>column. </a:t>
            </a:r>
            <a:r>
              <a:rPr sz="1400" dirty="0">
                <a:latin typeface="Times New Roman" panose="02020603050405020304" pitchFamily="18" charset="0"/>
                <a:cs typeface="Times New Roman" panose="02020603050405020304" pitchFamily="18" charset="0"/>
              </a:rPr>
              <a:t>This </a:t>
            </a:r>
            <a:r>
              <a:rPr sz="1400" spc="-5" dirty="0">
                <a:latin typeface="Times New Roman" panose="02020603050405020304" pitchFamily="18" charset="0"/>
                <a:cs typeface="Times New Roman" panose="02020603050405020304" pitchFamily="18" charset="0"/>
              </a:rPr>
              <a:t>method can </a:t>
            </a:r>
            <a:r>
              <a:rPr sz="1400" spc="-10" dirty="0">
                <a:latin typeface="Times New Roman" panose="02020603050405020304" pitchFamily="18" charset="0"/>
                <a:cs typeface="Times New Roman" panose="02020603050405020304" pitchFamily="18" charset="0"/>
              </a:rPr>
              <a:t>prevent </a:t>
            </a:r>
            <a:r>
              <a:rPr sz="1400" dirty="0">
                <a:latin typeface="Times New Roman" panose="02020603050405020304" pitchFamily="18" charset="0"/>
                <a:cs typeface="Times New Roman" panose="02020603050405020304" pitchFamily="18" charset="0"/>
              </a:rPr>
              <a:t>the </a:t>
            </a:r>
            <a:r>
              <a:rPr sz="1400" spc="-5" dirty="0">
                <a:latin typeface="Times New Roman" panose="02020603050405020304" pitchFamily="18" charset="0"/>
                <a:cs typeface="Times New Roman" panose="02020603050405020304" pitchFamily="18" charset="0"/>
              </a:rPr>
              <a:t>loss</a:t>
            </a:r>
            <a:r>
              <a:rPr lang="tr-TR" sz="1400" spc="-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of </a:t>
            </a:r>
            <a:r>
              <a:rPr sz="1400" spc="-10" dirty="0">
                <a:latin typeface="Times New Roman" panose="02020603050405020304" pitchFamily="18" charset="0"/>
                <a:cs typeface="Times New Roman" panose="02020603050405020304" pitchFamily="18" charset="0"/>
              </a:rPr>
              <a:t>data compared </a:t>
            </a:r>
            <a:r>
              <a:rPr sz="1400" spc="-5" dirty="0">
                <a:latin typeface="Times New Roman" panose="02020603050405020304" pitchFamily="18" charset="0"/>
                <a:cs typeface="Times New Roman" panose="02020603050405020304" pitchFamily="18" charset="0"/>
              </a:rPr>
              <a:t>to the </a:t>
            </a:r>
            <a:r>
              <a:rPr sz="1400" dirty="0">
                <a:latin typeface="Times New Roman" panose="02020603050405020304" pitchFamily="18" charset="0"/>
                <a:cs typeface="Times New Roman" panose="02020603050405020304" pitchFamily="18" charset="0"/>
              </a:rPr>
              <a:t>earlier </a:t>
            </a:r>
            <a:r>
              <a:rPr sz="1400" spc="-5" dirty="0">
                <a:latin typeface="Times New Roman" panose="02020603050405020304" pitchFamily="18" charset="0"/>
                <a:cs typeface="Times New Roman" panose="02020603050405020304" pitchFamily="18" charset="0"/>
              </a:rPr>
              <a:t>method. Replacing </a:t>
            </a:r>
            <a:r>
              <a:rPr sz="1400" dirty="0">
                <a:latin typeface="Times New Roman" panose="02020603050405020304" pitchFamily="18" charset="0"/>
                <a:cs typeface="Times New Roman" panose="02020603050405020304" pitchFamily="18" charset="0"/>
              </a:rPr>
              <a:t>the above </a:t>
            </a:r>
            <a:r>
              <a:rPr sz="1400" spc="-10" dirty="0">
                <a:latin typeface="Times New Roman" panose="02020603050405020304" pitchFamily="18" charset="0"/>
                <a:cs typeface="Times New Roman" panose="02020603050405020304" pitchFamily="18" charset="0"/>
              </a:rPr>
              <a:t>two approximations </a:t>
            </a:r>
            <a:r>
              <a:rPr sz="1400" spc="-5" dirty="0">
                <a:latin typeface="Times New Roman" panose="02020603050405020304" pitchFamily="18" charset="0"/>
                <a:cs typeface="Times New Roman" panose="02020603050405020304" pitchFamily="18" charset="0"/>
              </a:rPr>
              <a:t>(mean,  median) </a:t>
            </a:r>
            <a:r>
              <a:rPr sz="1400" dirty="0">
                <a:latin typeface="Times New Roman" panose="02020603050405020304" pitchFamily="18" charset="0"/>
                <a:cs typeface="Times New Roman" panose="02020603050405020304" pitchFamily="18" charset="0"/>
              </a:rPr>
              <a:t>is a </a:t>
            </a:r>
            <a:r>
              <a:rPr sz="1400" spc="-10" dirty="0">
                <a:latin typeface="Times New Roman" panose="02020603050405020304" pitchFamily="18" charset="0"/>
                <a:cs typeface="Times New Roman" panose="02020603050405020304" pitchFamily="18" charset="0"/>
              </a:rPr>
              <a:t>statistical approach </a:t>
            </a:r>
            <a:r>
              <a:rPr sz="1400" spc="-5" dirty="0">
                <a:latin typeface="Times New Roman" panose="02020603050405020304" pitchFamily="18" charset="0"/>
                <a:cs typeface="Times New Roman" panose="02020603050405020304" pitchFamily="18" charset="0"/>
              </a:rPr>
              <a:t>to handle the </a:t>
            </a:r>
            <a:r>
              <a:rPr sz="1400" dirty="0">
                <a:latin typeface="Times New Roman" panose="02020603050405020304" pitchFamily="18" charset="0"/>
                <a:cs typeface="Times New Roman" panose="02020603050405020304" pitchFamily="18" charset="0"/>
              </a:rPr>
              <a:t>missing</a:t>
            </a:r>
            <a:r>
              <a:rPr sz="1400" spc="60" dirty="0">
                <a:latin typeface="Times New Roman" panose="02020603050405020304" pitchFamily="18" charset="0"/>
                <a:cs typeface="Times New Roman" panose="02020603050405020304" pitchFamily="18" charset="0"/>
              </a:rPr>
              <a:t> </a:t>
            </a:r>
            <a:r>
              <a:rPr sz="1400" spc="-5" dirty="0">
                <a:latin typeface="Times New Roman" panose="02020603050405020304" pitchFamily="18" charset="0"/>
                <a:cs typeface="Times New Roman" panose="02020603050405020304" pitchFamily="18" charset="0"/>
              </a:rPr>
              <a:t>values.</a:t>
            </a:r>
            <a:endParaRPr sz="14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777240" y="3790950"/>
            <a:ext cx="7176134" cy="692785"/>
          </a:xfrm>
          <a:prstGeom prst="rect">
            <a:avLst/>
          </a:prstGeom>
        </p:spPr>
        <p:txBody>
          <a:bodyPr vert="horz" wrap="square" lIns="0" tIns="71120" rIns="0" bIns="0" rtlCol="0">
            <a:spAutoFit/>
          </a:bodyPr>
          <a:lstStyle/>
          <a:p>
            <a:pPr marL="681990">
              <a:lnSpc>
                <a:spcPct val="100000"/>
              </a:lnSpc>
              <a:spcBef>
                <a:spcPts val="560"/>
              </a:spcBef>
            </a:pPr>
            <a:r>
              <a:rPr sz="1200" spc="-5" dirty="0">
                <a:solidFill>
                  <a:srgbClr val="FFFFFF"/>
                </a:solidFill>
                <a:latin typeface="Times New Roman" panose="02020603050405020304" pitchFamily="18" charset="0"/>
                <a:cs typeface="Times New Roman" panose="02020603050405020304" pitchFamily="18" charset="0"/>
              </a:rPr>
              <a:t>Left: Age column </a:t>
            </a:r>
            <a:r>
              <a:rPr sz="1200" spc="-10" dirty="0">
                <a:solidFill>
                  <a:srgbClr val="FFFFFF"/>
                </a:solidFill>
                <a:latin typeface="Times New Roman" panose="02020603050405020304" pitchFamily="18" charset="0"/>
                <a:cs typeface="Times New Roman" panose="02020603050405020304" pitchFamily="18" charset="0"/>
              </a:rPr>
              <a:t>before </a:t>
            </a:r>
            <a:r>
              <a:rPr sz="1200" spc="-5" dirty="0">
                <a:solidFill>
                  <a:srgbClr val="FFFFFF"/>
                </a:solidFill>
                <a:latin typeface="Times New Roman" panose="02020603050405020304" pitchFamily="18" charset="0"/>
                <a:cs typeface="Times New Roman" panose="02020603050405020304" pitchFamily="18" charset="0"/>
              </a:rPr>
              <a:t>Imputation, Right: Age column after imputation </a:t>
            </a:r>
            <a:r>
              <a:rPr sz="1200" dirty="0">
                <a:solidFill>
                  <a:srgbClr val="FFFFFF"/>
                </a:solidFill>
                <a:latin typeface="Times New Roman" panose="02020603050405020304" pitchFamily="18" charset="0"/>
                <a:cs typeface="Times New Roman" panose="02020603050405020304" pitchFamily="18" charset="0"/>
              </a:rPr>
              <a:t>by the mean</a:t>
            </a:r>
            <a:r>
              <a:rPr sz="1200" spc="-110" dirty="0">
                <a:solidFill>
                  <a:srgbClr val="FFFFFF"/>
                </a:solidFill>
                <a:latin typeface="Times New Roman" panose="02020603050405020304" pitchFamily="18" charset="0"/>
                <a:cs typeface="Times New Roman" panose="02020603050405020304" pitchFamily="18" charset="0"/>
              </a:rPr>
              <a:t> </a:t>
            </a:r>
            <a:r>
              <a:rPr sz="1200" spc="-5" dirty="0">
                <a:solidFill>
                  <a:srgbClr val="FFFFFF"/>
                </a:solidFill>
                <a:latin typeface="Times New Roman" panose="02020603050405020304" pitchFamily="18" charset="0"/>
                <a:cs typeface="Times New Roman" panose="02020603050405020304" pitchFamily="18" charset="0"/>
              </a:rPr>
              <a:t>value</a:t>
            </a:r>
            <a:endParaRPr sz="1200" dirty="0">
              <a:latin typeface="Times New Roman" panose="02020603050405020304" pitchFamily="18" charset="0"/>
              <a:cs typeface="Times New Roman" panose="02020603050405020304" pitchFamily="18" charset="0"/>
            </a:endParaRPr>
          </a:p>
          <a:p>
            <a:pPr marL="12700">
              <a:lnSpc>
                <a:spcPct val="100000"/>
              </a:lnSpc>
              <a:spcBef>
                <a:spcPts val="465"/>
              </a:spcBef>
            </a:pPr>
            <a:r>
              <a:rPr sz="1200" dirty="0">
                <a:solidFill>
                  <a:srgbClr val="FFFFFF"/>
                </a:solidFill>
                <a:latin typeface="Times New Roman" panose="02020603050405020304" pitchFamily="18" charset="0"/>
                <a:cs typeface="Times New Roman" panose="02020603050405020304" pitchFamily="18" charset="0"/>
              </a:rPr>
              <a:t>The </a:t>
            </a:r>
            <a:r>
              <a:rPr sz="1200" spc="-5" dirty="0">
                <a:solidFill>
                  <a:srgbClr val="FFFFFF"/>
                </a:solidFill>
                <a:latin typeface="Times New Roman" panose="02020603050405020304" pitchFamily="18" charset="0"/>
                <a:cs typeface="Times New Roman" panose="02020603050405020304" pitchFamily="18" charset="0"/>
              </a:rPr>
              <a:t>missing values are replaced </a:t>
            </a:r>
            <a:r>
              <a:rPr sz="1200" dirty="0">
                <a:solidFill>
                  <a:srgbClr val="FFFFFF"/>
                </a:solidFill>
                <a:latin typeface="Times New Roman" panose="02020603050405020304" pitchFamily="18" charset="0"/>
                <a:cs typeface="Times New Roman" panose="02020603050405020304" pitchFamily="18" charset="0"/>
              </a:rPr>
              <a:t>by the mean </a:t>
            </a:r>
            <a:r>
              <a:rPr sz="1200" spc="-5" dirty="0">
                <a:solidFill>
                  <a:srgbClr val="FFFFFF"/>
                </a:solidFill>
                <a:latin typeface="Times New Roman" panose="02020603050405020304" pitchFamily="18" charset="0"/>
                <a:cs typeface="Times New Roman" panose="02020603050405020304" pitchFamily="18" charset="0"/>
              </a:rPr>
              <a:t>value </a:t>
            </a:r>
            <a:r>
              <a:rPr sz="1200" dirty="0">
                <a:solidFill>
                  <a:srgbClr val="FFFFFF"/>
                </a:solidFill>
                <a:latin typeface="Times New Roman" panose="02020603050405020304" pitchFamily="18" charset="0"/>
                <a:cs typeface="Times New Roman" panose="02020603050405020304" pitchFamily="18" charset="0"/>
              </a:rPr>
              <a:t>in the </a:t>
            </a:r>
            <a:r>
              <a:rPr sz="1200" spc="-5" dirty="0">
                <a:solidFill>
                  <a:srgbClr val="FFFFFF"/>
                </a:solidFill>
                <a:latin typeface="Times New Roman" panose="02020603050405020304" pitchFamily="18" charset="0"/>
                <a:cs typeface="Times New Roman" panose="02020603050405020304" pitchFamily="18" charset="0"/>
              </a:rPr>
              <a:t>above example, </a:t>
            </a:r>
            <a:r>
              <a:rPr sz="1200" dirty="0">
                <a:solidFill>
                  <a:srgbClr val="FFFFFF"/>
                </a:solidFill>
                <a:latin typeface="Times New Roman" panose="02020603050405020304" pitchFamily="18" charset="0"/>
                <a:cs typeface="Times New Roman" panose="02020603050405020304" pitchFamily="18" charset="0"/>
              </a:rPr>
              <a:t>in the </a:t>
            </a:r>
            <a:r>
              <a:rPr sz="1200" spc="-5" dirty="0">
                <a:solidFill>
                  <a:srgbClr val="FFFFFF"/>
                </a:solidFill>
                <a:latin typeface="Times New Roman" panose="02020603050405020304" pitchFamily="18" charset="0"/>
                <a:cs typeface="Times New Roman" panose="02020603050405020304" pitchFamily="18" charset="0"/>
              </a:rPr>
              <a:t>same </a:t>
            </a:r>
            <a:r>
              <a:rPr sz="1200" spc="-35" dirty="0">
                <a:solidFill>
                  <a:srgbClr val="FFFFFF"/>
                </a:solidFill>
                <a:latin typeface="Times New Roman" panose="02020603050405020304" pitchFamily="18" charset="0"/>
                <a:cs typeface="Times New Roman" panose="02020603050405020304" pitchFamily="18" charset="0"/>
              </a:rPr>
              <a:t>way, </a:t>
            </a:r>
            <a:r>
              <a:rPr sz="1200" dirty="0">
                <a:solidFill>
                  <a:srgbClr val="FFFFFF"/>
                </a:solidFill>
                <a:latin typeface="Times New Roman" panose="02020603050405020304" pitchFamily="18" charset="0"/>
                <a:cs typeface="Times New Roman" panose="02020603050405020304" pitchFamily="18" charset="0"/>
              </a:rPr>
              <a:t>it </a:t>
            </a:r>
            <a:r>
              <a:rPr sz="1200" spc="-10" dirty="0">
                <a:solidFill>
                  <a:srgbClr val="FFFFFF"/>
                </a:solidFill>
                <a:latin typeface="Times New Roman" panose="02020603050405020304" pitchFamily="18" charset="0"/>
                <a:cs typeface="Times New Roman" panose="02020603050405020304" pitchFamily="18" charset="0"/>
              </a:rPr>
              <a:t>can </a:t>
            </a:r>
            <a:r>
              <a:rPr sz="1200" dirty="0">
                <a:solidFill>
                  <a:srgbClr val="FFFFFF"/>
                </a:solidFill>
                <a:latin typeface="Times New Roman" panose="02020603050405020304" pitchFamily="18" charset="0"/>
                <a:cs typeface="Times New Roman" panose="02020603050405020304" pitchFamily="18" charset="0"/>
              </a:rPr>
              <a:t>be </a:t>
            </a:r>
            <a:r>
              <a:rPr sz="1200" spc="-5" dirty="0">
                <a:solidFill>
                  <a:srgbClr val="FFFFFF"/>
                </a:solidFill>
                <a:latin typeface="Times New Roman" panose="02020603050405020304" pitchFamily="18" charset="0"/>
                <a:cs typeface="Times New Roman" panose="02020603050405020304" pitchFamily="18" charset="0"/>
              </a:rPr>
              <a:t>replaced </a:t>
            </a:r>
            <a:r>
              <a:rPr sz="1200" dirty="0">
                <a:solidFill>
                  <a:srgbClr val="FFFFFF"/>
                </a:solidFill>
                <a:latin typeface="Times New Roman" panose="02020603050405020304" pitchFamily="18" charset="0"/>
                <a:cs typeface="Times New Roman" panose="02020603050405020304" pitchFamily="18" charset="0"/>
              </a:rPr>
              <a:t>by</a:t>
            </a:r>
            <a:r>
              <a:rPr sz="1200" spc="5" dirty="0">
                <a:solidFill>
                  <a:srgbClr val="FFFFFF"/>
                </a:solidFill>
                <a:latin typeface="Times New Roman" panose="02020603050405020304" pitchFamily="18" charset="0"/>
                <a:cs typeface="Times New Roman" panose="02020603050405020304" pitchFamily="18" charset="0"/>
              </a:rPr>
              <a:t> </a:t>
            </a:r>
            <a:r>
              <a:rPr sz="1200" dirty="0">
                <a:solidFill>
                  <a:srgbClr val="FFFFFF"/>
                </a:solidFill>
                <a:latin typeface="Times New Roman" panose="02020603050405020304" pitchFamily="18" charset="0"/>
                <a:cs typeface="Times New Roman" panose="02020603050405020304" pitchFamily="18" charset="0"/>
              </a:rPr>
              <a:t>the</a:t>
            </a:r>
            <a:endParaRPr sz="1200" dirty="0">
              <a:latin typeface="Times New Roman" panose="02020603050405020304" pitchFamily="18" charset="0"/>
              <a:cs typeface="Times New Roman" panose="02020603050405020304" pitchFamily="18" charset="0"/>
            </a:endParaRPr>
          </a:p>
          <a:p>
            <a:pPr marL="12700">
              <a:lnSpc>
                <a:spcPct val="100000"/>
              </a:lnSpc>
              <a:spcBef>
                <a:spcPts val="5"/>
              </a:spcBef>
            </a:pPr>
            <a:r>
              <a:rPr sz="1200" dirty="0">
                <a:solidFill>
                  <a:srgbClr val="FFFFFF"/>
                </a:solidFill>
                <a:latin typeface="Times New Roman" panose="02020603050405020304" pitchFamily="18" charset="0"/>
                <a:cs typeface="Times New Roman" panose="02020603050405020304" pitchFamily="18" charset="0"/>
              </a:rPr>
              <a:t>median</a:t>
            </a:r>
            <a:r>
              <a:rPr sz="1200" spc="-20" dirty="0">
                <a:solidFill>
                  <a:srgbClr val="FFFFFF"/>
                </a:solidFill>
                <a:latin typeface="Times New Roman" panose="02020603050405020304" pitchFamily="18" charset="0"/>
                <a:cs typeface="Times New Roman" panose="02020603050405020304" pitchFamily="18" charset="0"/>
              </a:rPr>
              <a:t> </a:t>
            </a:r>
            <a:r>
              <a:rPr sz="1200" spc="-5" dirty="0">
                <a:solidFill>
                  <a:srgbClr val="FFFFFF"/>
                </a:solidFill>
                <a:latin typeface="Times New Roman" panose="02020603050405020304" pitchFamily="18" charset="0"/>
                <a:cs typeface="Times New Roman" panose="02020603050405020304" pitchFamily="18" charset="0"/>
              </a:rPr>
              <a:t>value.</a:t>
            </a:r>
            <a:endParaRPr sz="1200" dirty="0">
              <a:latin typeface="Times New Roman" panose="02020603050405020304" pitchFamily="18" charset="0"/>
              <a:cs typeface="Times New Roman" panose="02020603050405020304" pitchFamily="18" charset="0"/>
            </a:endParaRPr>
          </a:p>
        </p:txBody>
      </p:sp>
      <p:sp>
        <p:nvSpPr>
          <p:cNvPr id="6" name="object 6"/>
          <p:cNvSpPr/>
          <p:nvPr/>
        </p:nvSpPr>
        <p:spPr>
          <a:xfrm>
            <a:off x="762000" y="1646480"/>
            <a:ext cx="4160520" cy="2052827"/>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5181600" y="1771660"/>
            <a:ext cx="3508248" cy="1658111"/>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210818" y="268563"/>
            <a:ext cx="4038600" cy="259686"/>
          </a:xfrm>
          <a:prstGeom prst="rect">
            <a:avLst/>
          </a:prstGeom>
        </p:spPr>
        <p:txBody>
          <a:bodyPr vert="horz" wrap="square" lIns="0" tIns="13335" rIns="0" bIns="0" rtlCol="0">
            <a:spAutoFit/>
          </a:bodyPr>
          <a:lstStyle/>
          <a:p>
            <a:pPr marL="12700">
              <a:lnSpc>
                <a:spcPct val="100000"/>
              </a:lnSpc>
              <a:spcBef>
                <a:spcPts val="105"/>
              </a:spcBef>
            </a:pPr>
            <a:r>
              <a:rPr sz="1600" spc="-10" dirty="0">
                <a:latin typeface="Times New Roman" panose="02020603050405020304" pitchFamily="18" charset="0"/>
                <a:cs typeface="Times New Roman" panose="02020603050405020304" pitchFamily="18" charset="0"/>
              </a:rPr>
              <a:t>Impute </a:t>
            </a:r>
            <a:r>
              <a:rPr sz="1600" dirty="0">
                <a:latin typeface="Times New Roman" panose="02020603050405020304" pitchFamily="18" charset="0"/>
                <a:cs typeface="Times New Roman" panose="02020603050405020304" pitchFamily="18" charset="0"/>
              </a:rPr>
              <a:t>missing </a:t>
            </a:r>
            <a:r>
              <a:rPr sz="1600" spc="-5" dirty="0">
                <a:latin typeface="Times New Roman" panose="02020603050405020304" pitchFamily="18" charset="0"/>
                <a:cs typeface="Times New Roman" panose="02020603050405020304" pitchFamily="18" charset="0"/>
              </a:rPr>
              <a:t>values </a:t>
            </a:r>
            <a:r>
              <a:rPr sz="1600" dirty="0">
                <a:latin typeface="Times New Roman" panose="02020603050405020304" pitchFamily="18" charset="0"/>
                <a:cs typeface="Times New Roman" panose="02020603050405020304" pitchFamily="18" charset="0"/>
              </a:rPr>
              <a:t>with</a:t>
            </a:r>
            <a:r>
              <a:rPr sz="1600" spc="5" dirty="0">
                <a:latin typeface="Times New Roman" panose="02020603050405020304" pitchFamily="18" charset="0"/>
                <a:cs typeface="Times New Roman" panose="02020603050405020304" pitchFamily="18" charset="0"/>
              </a:rPr>
              <a:t> </a:t>
            </a:r>
            <a:r>
              <a:rPr sz="1600" spc="-5" dirty="0">
                <a:latin typeface="Times New Roman" panose="02020603050405020304" pitchFamily="18" charset="0"/>
                <a:cs typeface="Times New Roman" panose="02020603050405020304" pitchFamily="18" charset="0"/>
              </a:rPr>
              <a:t>Mean/Median:</a:t>
            </a:r>
            <a:endParaRPr sz="16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381000" y="3045074"/>
            <a:ext cx="8382000" cy="2028119"/>
          </a:xfrm>
          <a:prstGeom prst="rect">
            <a:avLst/>
          </a:prstGeom>
        </p:spPr>
        <p:txBody>
          <a:bodyPr vert="horz" wrap="square" lIns="0" tIns="12065" rIns="0" bIns="0" rtlCol="0">
            <a:spAutoFit/>
          </a:bodyPr>
          <a:lstStyle/>
          <a:p>
            <a:pPr marL="12700">
              <a:lnSpc>
                <a:spcPct val="100000"/>
              </a:lnSpc>
              <a:spcBef>
                <a:spcPts val="95"/>
              </a:spcBef>
            </a:pPr>
            <a:r>
              <a:rPr sz="1400" spc="-5" dirty="0">
                <a:solidFill>
                  <a:srgbClr val="FFFF00"/>
                </a:solidFill>
                <a:latin typeface="Times New Roman" panose="02020603050405020304" pitchFamily="18" charset="0"/>
                <a:cs typeface="Times New Roman" panose="02020603050405020304" pitchFamily="18" charset="0"/>
              </a:rPr>
              <a:t>data["Age"] = data["Age"].replace(np.NaN,</a:t>
            </a:r>
            <a:r>
              <a:rPr sz="1400" spc="65" dirty="0">
                <a:solidFill>
                  <a:srgbClr val="FFFF00"/>
                </a:solidFill>
                <a:latin typeface="Times New Roman" panose="02020603050405020304" pitchFamily="18" charset="0"/>
                <a:cs typeface="Times New Roman" panose="02020603050405020304" pitchFamily="18" charset="0"/>
              </a:rPr>
              <a:t> </a:t>
            </a:r>
            <a:r>
              <a:rPr sz="1400" spc="-5" dirty="0">
                <a:solidFill>
                  <a:srgbClr val="FFFF00"/>
                </a:solidFill>
                <a:latin typeface="Times New Roman" panose="02020603050405020304" pitchFamily="18" charset="0"/>
                <a:cs typeface="Times New Roman" panose="02020603050405020304" pitchFamily="18" charset="0"/>
              </a:rPr>
              <a:t>data["Age"].mean())</a:t>
            </a:r>
            <a:endParaRPr sz="1400" dirty="0">
              <a:solidFill>
                <a:srgbClr val="FFFF00"/>
              </a:solidFill>
              <a:latin typeface="Times New Roman" panose="02020603050405020304" pitchFamily="18" charset="0"/>
              <a:cs typeface="Times New Roman" panose="02020603050405020304" pitchFamily="18" charset="0"/>
            </a:endParaRPr>
          </a:p>
          <a:p>
            <a:pPr marL="12700">
              <a:lnSpc>
                <a:spcPct val="100000"/>
              </a:lnSpc>
            </a:pPr>
            <a:r>
              <a:rPr sz="1400" spc="-5" dirty="0">
                <a:solidFill>
                  <a:srgbClr val="FFFF00"/>
                </a:solidFill>
                <a:latin typeface="Times New Roman" panose="02020603050405020304" pitchFamily="18" charset="0"/>
                <a:cs typeface="Times New Roman" panose="02020603050405020304" pitchFamily="18" charset="0"/>
              </a:rPr>
              <a:t>data["Age"] = data["Age"].replace(np.NaN,</a:t>
            </a:r>
            <a:r>
              <a:rPr sz="1400" spc="65" dirty="0">
                <a:solidFill>
                  <a:srgbClr val="FFFF00"/>
                </a:solidFill>
                <a:latin typeface="Times New Roman" panose="02020603050405020304" pitchFamily="18" charset="0"/>
                <a:cs typeface="Times New Roman" panose="02020603050405020304" pitchFamily="18" charset="0"/>
              </a:rPr>
              <a:t> </a:t>
            </a:r>
            <a:r>
              <a:rPr sz="1400" spc="-5" dirty="0">
                <a:solidFill>
                  <a:srgbClr val="FFFF00"/>
                </a:solidFill>
                <a:latin typeface="Times New Roman" panose="02020603050405020304" pitchFamily="18" charset="0"/>
                <a:cs typeface="Times New Roman" panose="02020603050405020304" pitchFamily="18" charset="0"/>
              </a:rPr>
              <a:t>data["Age"].median())</a:t>
            </a:r>
            <a:endParaRPr sz="1400" dirty="0">
              <a:solidFill>
                <a:srgbClr val="FFFF00"/>
              </a:solidFill>
              <a:latin typeface="Times New Roman" panose="02020603050405020304" pitchFamily="18" charset="0"/>
              <a:cs typeface="Times New Roman" panose="02020603050405020304" pitchFamily="18" charset="0"/>
            </a:endParaRPr>
          </a:p>
          <a:p>
            <a:pPr marL="12700">
              <a:lnSpc>
                <a:spcPct val="100000"/>
              </a:lnSpc>
              <a:spcBef>
                <a:spcPts val="595"/>
              </a:spcBef>
            </a:pPr>
            <a:r>
              <a:rPr sz="1400" spc="-10" dirty="0">
                <a:solidFill>
                  <a:srgbClr val="FFFFFF"/>
                </a:solidFill>
                <a:latin typeface="Times New Roman" panose="02020603050405020304" pitchFamily="18" charset="0"/>
                <a:cs typeface="Times New Roman" panose="02020603050405020304" pitchFamily="18" charset="0"/>
              </a:rPr>
              <a:t>Pros:</a:t>
            </a:r>
            <a:endParaRPr sz="1400" dirty="0">
              <a:latin typeface="Times New Roman" panose="02020603050405020304" pitchFamily="18" charset="0"/>
              <a:cs typeface="Times New Roman" panose="02020603050405020304" pitchFamily="18" charset="0"/>
            </a:endParaRPr>
          </a:p>
          <a:p>
            <a:pPr marL="12700" marR="5080">
              <a:lnSpc>
                <a:spcPct val="100000"/>
              </a:lnSpc>
            </a:pPr>
            <a:r>
              <a:rPr sz="1400" spc="-5" dirty="0">
                <a:solidFill>
                  <a:srgbClr val="FFFFFF"/>
                </a:solidFill>
                <a:latin typeface="Times New Roman" panose="02020603050405020304" pitchFamily="18" charset="0"/>
                <a:cs typeface="Times New Roman" panose="02020603050405020304" pitchFamily="18" charset="0"/>
              </a:rPr>
              <a:t>Prevent </a:t>
            </a:r>
            <a:r>
              <a:rPr sz="1400" spc="-10" dirty="0">
                <a:solidFill>
                  <a:srgbClr val="FFFFFF"/>
                </a:solidFill>
                <a:latin typeface="Times New Roman" panose="02020603050405020304" pitchFamily="18" charset="0"/>
                <a:cs typeface="Times New Roman" panose="02020603050405020304" pitchFamily="18" charset="0"/>
              </a:rPr>
              <a:t>data </a:t>
            </a:r>
            <a:r>
              <a:rPr sz="1400" dirty="0">
                <a:solidFill>
                  <a:srgbClr val="FFFFFF"/>
                </a:solidFill>
                <a:latin typeface="Times New Roman" panose="02020603050405020304" pitchFamily="18" charset="0"/>
                <a:cs typeface="Times New Roman" panose="02020603050405020304" pitchFamily="18" charset="0"/>
              </a:rPr>
              <a:t>loss </a:t>
            </a:r>
            <a:r>
              <a:rPr sz="1400" spc="-5" dirty="0">
                <a:solidFill>
                  <a:srgbClr val="FFFFFF"/>
                </a:solidFill>
                <a:latin typeface="Times New Roman" panose="02020603050405020304" pitchFamily="18" charset="0"/>
                <a:cs typeface="Times New Roman" panose="02020603050405020304" pitchFamily="18" charset="0"/>
              </a:rPr>
              <a:t>which results </a:t>
            </a:r>
            <a:r>
              <a:rPr sz="1400" dirty="0">
                <a:solidFill>
                  <a:srgbClr val="FFFFFF"/>
                </a:solidFill>
                <a:latin typeface="Times New Roman" panose="02020603050405020304" pitchFamily="18" charset="0"/>
                <a:cs typeface="Times New Roman" panose="02020603050405020304" pitchFamily="18" charset="0"/>
              </a:rPr>
              <a:t>in </a:t>
            </a:r>
            <a:r>
              <a:rPr sz="1400" spc="-5" dirty="0">
                <a:solidFill>
                  <a:srgbClr val="FFFFFF"/>
                </a:solidFill>
                <a:latin typeface="Times New Roman" panose="02020603050405020304" pitchFamily="18" charset="0"/>
                <a:cs typeface="Times New Roman" panose="02020603050405020304" pitchFamily="18" charset="0"/>
              </a:rPr>
              <a:t>deletion of </a:t>
            </a:r>
            <a:r>
              <a:rPr sz="1400" spc="-15" dirty="0">
                <a:solidFill>
                  <a:srgbClr val="FFFFFF"/>
                </a:solidFill>
                <a:latin typeface="Times New Roman" panose="02020603050405020304" pitchFamily="18" charset="0"/>
                <a:cs typeface="Times New Roman" panose="02020603050405020304" pitchFamily="18" charset="0"/>
              </a:rPr>
              <a:t>rows </a:t>
            </a:r>
            <a:r>
              <a:rPr sz="1400" spc="-5" dirty="0">
                <a:solidFill>
                  <a:srgbClr val="FFFFFF"/>
                </a:solidFill>
                <a:latin typeface="Times New Roman" panose="02020603050405020304" pitchFamily="18" charset="0"/>
                <a:cs typeface="Times New Roman" panose="02020603050405020304" pitchFamily="18" charset="0"/>
              </a:rPr>
              <a:t>or columns</a:t>
            </a:r>
            <a:r>
              <a:rPr lang="tr-TR" sz="1400" spc="-5" dirty="0">
                <a:solidFill>
                  <a:srgbClr val="FFFFFF"/>
                </a:solidFill>
                <a:latin typeface="Times New Roman" panose="02020603050405020304" pitchFamily="18" charset="0"/>
                <a:cs typeface="Times New Roman" panose="02020603050405020304" pitchFamily="18" charset="0"/>
              </a:rPr>
              <a:t>.</a:t>
            </a:r>
            <a:r>
              <a:rPr sz="1400" spc="-5" dirty="0">
                <a:solidFill>
                  <a:srgbClr val="FFFFFF"/>
                </a:solidFill>
                <a:latin typeface="Times New Roman" panose="02020603050405020304" pitchFamily="18" charset="0"/>
                <a:cs typeface="Times New Roman" panose="02020603050405020304" pitchFamily="18" charset="0"/>
              </a:rPr>
              <a:t>  </a:t>
            </a:r>
            <a:r>
              <a:rPr sz="1400" spc="-15" dirty="0">
                <a:solidFill>
                  <a:srgbClr val="FFFFFF"/>
                </a:solidFill>
                <a:latin typeface="Times New Roman" panose="02020603050405020304" pitchFamily="18" charset="0"/>
                <a:cs typeface="Times New Roman" panose="02020603050405020304" pitchFamily="18" charset="0"/>
              </a:rPr>
              <a:t>Works </a:t>
            </a:r>
            <a:r>
              <a:rPr sz="1400" spc="-5" dirty="0">
                <a:solidFill>
                  <a:srgbClr val="FFFFFF"/>
                </a:solidFill>
                <a:latin typeface="Times New Roman" panose="02020603050405020304" pitchFamily="18" charset="0"/>
                <a:cs typeface="Times New Roman" panose="02020603050405020304" pitchFamily="18" charset="0"/>
              </a:rPr>
              <a:t>well with </a:t>
            </a:r>
            <a:r>
              <a:rPr sz="1400" dirty="0">
                <a:solidFill>
                  <a:srgbClr val="FFFFFF"/>
                </a:solidFill>
                <a:latin typeface="Times New Roman" panose="02020603050405020304" pitchFamily="18" charset="0"/>
                <a:cs typeface="Times New Roman" panose="02020603050405020304" pitchFamily="18" charset="0"/>
              </a:rPr>
              <a:t>a </a:t>
            </a:r>
            <a:r>
              <a:rPr sz="1400" spc="-5" dirty="0">
                <a:solidFill>
                  <a:srgbClr val="FFFFFF"/>
                </a:solidFill>
                <a:latin typeface="Times New Roman" panose="02020603050405020304" pitchFamily="18" charset="0"/>
                <a:cs typeface="Times New Roman" panose="02020603050405020304" pitchFamily="18" charset="0"/>
              </a:rPr>
              <a:t>small dataset </a:t>
            </a:r>
            <a:r>
              <a:rPr sz="1400" dirty="0">
                <a:solidFill>
                  <a:srgbClr val="FFFFFF"/>
                </a:solidFill>
                <a:latin typeface="Times New Roman" panose="02020603050405020304" pitchFamily="18" charset="0"/>
                <a:cs typeface="Times New Roman" panose="02020603050405020304" pitchFamily="18" charset="0"/>
              </a:rPr>
              <a:t>and </a:t>
            </a:r>
            <a:r>
              <a:rPr sz="1400" spc="-10" dirty="0">
                <a:solidFill>
                  <a:srgbClr val="FFFFFF"/>
                </a:solidFill>
                <a:latin typeface="Times New Roman" panose="02020603050405020304" pitchFamily="18" charset="0"/>
                <a:cs typeface="Times New Roman" panose="02020603050405020304" pitchFamily="18" charset="0"/>
              </a:rPr>
              <a:t>easy </a:t>
            </a:r>
            <a:r>
              <a:rPr sz="1400" spc="-5" dirty="0">
                <a:solidFill>
                  <a:srgbClr val="FFFFFF"/>
                </a:solidFill>
                <a:latin typeface="Times New Roman" panose="02020603050405020304" pitchFamily="18" charset="0"/>
                <a:cs typeface="Times New Roman" panose="02020603050405020304" pitchFamily="18" charset="0"/>
              </a:rPr>
              <a:t>to</a:t>
            </a:r>
            <a:r>
              <a:rPr sz="1400" spc="10" dirty="0">
                <a:solidFill>
                  <a:srgbClr val="FFFFFF"/>
                </a:solidFill>
                <a:latin typeface="Times New Roman" panose="02020603050405020304" pitchFamily="18" charset="0"/>
                <a:cs typeface="Times New Roman" panose="02020603050405020304" pitchFamily="18" charset="0"/>
              </a:rPr>
              <a:t> </a:t>
            </a:r>
            <a:r>
              <a:rPr sz="1400" dirty="0">
                <a:solidFill>
                  <a:srgbClr val="FFFFFF"/>
                </a:solidFill>
                <a:latin typeface="Times New Roman" panose="02020603050405020304" pitchFamily="18" charset="0"/>
                <a:cs typeface="Times New Roman" panose="02020603050405020304" pitchFamily="18" charset="0"/>
              </a:rPr>
              <a:t>implement.</a:t>
            </a:r>
            <a:endParaRPr sz="1400" dirty="0">
              <a:latin typeface="Times New Roman" panose="02020603050405020304" pitchFamily="18" charset="0"/>
              <a:cs typeface="Times New Roman" panose="02020603050405020304" pitchFamily="18" charset="0"/>
            </a:endParaRPr>
          </a:p>
          <a:p>
            <a:pPr marL="12700">
              <a:lnSpc>
                <a:spcPct val="100000"/>
              </a:lnSpc>
            </a:pPr>
            <a:r>
              <a:rPr sz="1400" spc="-5" dirty="0">
                <a:solidFill>
                  <a:srgbClr val="FFFFFF"/>
                </a:solidFill>
                <a:latin typeface="Times New Roman" panose="02020603050405020304" pitchFamily="18" charset="0"/>
                <a:cs typeface="Times New Roman" panose="02020603050405020304" pitchFamily="18" charset="0"/>
              </a:rPr>
              <a:t>Cons:</a:t>
            </a:r>
            <a:endParaRPr sz="1400" dirty="0">
              <a:latin typeface="Times New Roman" panose="02020603050405020304" pitchFamily="18" charset="0"/>
              <a:cs typeface="Times New Roman" panose="02020603050405020304" pitchFamily="18" charset="0"/>
            </a:endParaRPr>
          </a:p>
          <a:p>
            <a:pPr marL="12700" marR="829944">
              <a:lnSpc>
                <a:spcPct val="100000"/>
              </a:lnSpc>
            </a:pPr>
            <a:r>
              <a:rPr sz="1400" spc="-15" dirty="0">
                <a:solidFill>
                  <a:srgbClr val="FFFFFF"/>
                </a:solidFill>
                <a:latin typeface="Times New Roman" panose="02020603050405020304" pitchFamily="18" charset="0"/>
                <a:cs typeface="Times New Roman" panose="02020603050405020304" pitchFamily="18" charset="0"/>
              </a:rPr>
              <a:t>Works </a:t>
            </a:r>
            <a:r>
              <a:rPr sz="1400" dirty="0">
                <a:solidFill>
                  <a:srgbClr val="FFFFFF"/>
                </a:solidFill>
                <a:latin typeface="Times New Roman" panose="02020603050405020304" pitchFamily="18" charset="0"/>
                <a:cs typeface="Times New Roman" panose="02020603050405020304" pitchFamily="18" charset="0"/>
              </a:rPr>
              <a:t>only </a:t>
            </a:r>
            <a:r>
              <a:rPr sz="1400" spc="-5" dirty="0">
                <a:solidFill>
                  <a:srgbClr val="FFFFFF"/>
                </a:solidFill>
                <a:latin typeface="Times New Roman" panose="02020603050405020304" pitchFamily="18" charset="0"/>
                <a:cs typeface="Times New Roman" panose="02020603050405020304" pitchFamily="18" charset="0"/>
              </a:rPr>
              <a:t>with numerical continuous variables.  Can cause </a:t>
            </a:r>
            <a:r>
              <a:rPr sz="1400" spc="-10" dirty="0">
                <a:solidFill>
                  <a:srgbClr val="FFFFFF"/>
                </a:solidFill>
                <a:latin typeface="Times New Roman" panose="02020603050405020304" pitchFamily="18" charset="0"/>
                <a:cs typeface="Times New Roman" panose="02020603050405020304" pitchFamily="18" charset="0"/>
              </a:rPr>
              <a:t>data</a:t>
            </a:r>
            <a:r>
              <a:rPr sz="1400" spc="-20" dirty="0">
                <a:solidFill>
                  <a:srgbClr val="FFFFFF"/>
                </a:solidFill>
                <a:latin typeface="Times New Roman" panose="02020603050405020304" pitchFamily="18" charset="0"/>
                <a:cs typeface="Times New Roman" panose="02020603050405020304" pitchFamily="18" charset="0"/>
              </a:rPr>
              <a:t> </a:t>
            </a:r>
            <a:r>
              <a:rPr sz="1400" spc="-10" dirty="0">
                <a:solidFill>
                  <a:srgbClr val="FFFFFF"/>
                </a:solidFill>
                <a:latin typeface="Times New Roman" panose="02020603050405020304" pitchFamily="18" charset="0"/>
                <a:cs typeface="Times New Roman" panose="02020603050405020304" pitchFamily="18" charset="0"/>
              </a:rPr>
              <a:t>leakage</a:t>
            </a:r>
            <a:r>
              <a:rPr lang="tr-TR" sz="1400" spc="-10" dirty="0">
                <a:solidFill>
                  <a:srgbClr val="FFFFFF"/>
                </a:solidFill>
                <a:latin typeface="Times New Roman" panose="02020603050405020304" pitchFamily="18" charset="0"/>
                <a:cs typeface="Times New Roman" panose="02020603050405020304" pitchFamily="18" charset="0"/>
              </a:rPr>
              <a:t> (veri sızıntısı)</a:t>
            </a:r>
            <a:endParaRPr sz="1400" dirty="0">
              <a:latin typeface="Times New Roman" panose="02020603050405020304" pitchFamily="18" charset="0"/>
              <a:cs typeface="Times New Roman" panose="02020603050405020304" pitchFamily="18" charset="0"/>
            </a:endParaRPr>
          </a:p>
          <a:p>
            <a:pPr marL="12700">
              <a:lnSpc>
                <a:spcPct val="100000"/>
              </a:lnSpc>
            </a:pPr>
            <a:r>
              <a:rPr sz="1400" spc="-5" dirty="0">
                <a:solidFill>
                  <a:srgbClr val="FFFFFF"/>
                </a:solidFill>
                <a:latin typeface="Times New Roman" panose="02020603050405020304" pitchFamily="18" charset="0"/>
                <a:cs typeface="Times New Roman" panose="02020603050405020304" pitchFamily="18" charset="0"/>
              </a:rPr>
              <a:t>Does not </a:t>
            </a:r>
            <a:r>
              <a:rPr sz="1400" spc="-10" dirty="0">
                <a:solidFill>
                  <a:srgbClr val="FFFFFF"/>
                </a:solidFill>
                <a:latin typeface="Times New Roman" panose="02020603050405020304" pitchFamily="18" charset="0"/>
                <a:cs typeface="Times New Roman" panose="02020603050405020304" pitchFamily="18" charset="0"/>
              </a:rPr>
              <a:t>factor </a:t>
            </a:r>
            <a:r>
              <a:rPr sz="1400" dirty="0">
                <a:solidFill>
                  <a:srgbClr val="FFFFFF"/>
                </a:solidFill>
                <a:latin typeface="Times New Roman" panose="02020603050405020304" pitchFamily="18" charset="0"/>
                <a:cs typeface="Times New Roman" panose="02020603050405020304" pitchFamily="18" charset="0"/>
              </a:rPr>
              <a:t>the </a:t>
            </a:r>
            <a:r>
              <a:rPr sz="1400" spc="-5" dirty="0">
                <a:solidFill>
                  <a:srgbClr val="FFFFFF"/>
                </a:solidFill>
                <a:latin typeface="Times New Roman" panose="02020603050405020304" pitchFamily="18" charset="0"/>
                <a:cs typeface="Times New Roman" panose="02020603050405020304" pitchFamily="18" charset="0"/>
              </a:rPr>
              <a:t>covariance between</a:t>
            </a:r>
            <a:r>
              <a:rPr sz="1400" spc="-30" dirty="0">
                <a:solidFill>
                  <a:srgbClr val="FFFFFF"/>
                </a:solidFill>
                <a:latin typeface="Times New Roman" panose="02020603050405020304" pitchFamily="18" charset="0"/>
                <a:cs typeface="Times New Roman" panose="02020603050405020304" pitchFamily="18" charset="0"/>
              </a:rPr>
              <a:t> </a:t>
            </a:r>
            <a:r>
              <a:rPr sz="1400" spc="-10" dirty="0">
                <a:solidFill>
                  <a:srgbClr val="FFFFFF"/>
                </a:solidFill>
                <a:latin typeface="Times New Roman" panose="02020603050405020304" pitchFamily="18" charset="0"/>
                <a:cs typeface="Times New Roman" panose="02020603050405020304" pitchFamily="18" charset="0"/>
              </a:rPr>
              <a:t>features.</a:t>
            </a:r>
            <a:r>
              <a:rPr lang="tr-TR" sz="1400" spc="-10" dirty="0">
                <a:solidFill>
                  <a:srgbClr val="FFFFFF"/>
                </a:solidFill>
                <a:latin typeface="Times New Roman" panose="02020603050405020304" pitchFamily="18" charset="0"/>
                <a:cs typeface="Times New Roman" panose="02020603050405020304" pitchFamily="18" charset="0"/>
              </a:rPr>
              <a:t> (Kovaryans iki rastgele değişken arasındaki ilişkinin yönünü ve gücünü ölçen bir istatistiksel terimdir.)</a:t>
            </a:r>
            <a:endParaRPr sz="1400" dirty="0">
              <a:latin typeface="Times New Roman" panose="02020603050405020304" pitchFamily="18" charset="0"/>
              <a:cs typeface="Times New Roman" panose="02020603050405020304" pitchFamily="18" charset="0"/>
            </a:endParaRPr>
          </a:p>
        </p:txBody>
      </p:sp>
      <p:sp>
        <p:nvSpPr>
          <p:cNvPr id="6" name="object 6"/>
          <p:cNvSpPr/>
          <p:nvPr/>
        </p:nvSpPr>
        <p:spPr>
          <a:xfrm>
            <a:off x="914400" y="579502"/>
            <a:ext cx="4631436" cy="2284476"/>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2440928" y="285750"/>
            <a:ext cx="5044407" cy="321242"/>
          </a:xfrm>
          <a:prstGeom prst="rect">
            <a:avLst/>
          </a:prstGeom>
        </p:spPr>
        <p:txBody>
          <a:bodyPr vert="horz" wrap="square" lIns="0" tIns="13335" rIns="0" bIns="0" rtlCol="0">
            <a:spAutoFit/>
          </a:bodyPr>
          <a:lstStyle/>
          <a:p>
            <a:pPr marL="12700">
              <a:lnSpc>
                <a:spcPct val="100000"/>
              </a:lnSpc>
              <a:spcBef>
                <a:spcPts val="105"/>
              </a:spcBef>
            </a:pPr>
            <a:r>
              <a:rPr lang="tr-TR" sz="2000" spc="-10" dirty="0">
                <a:latin typeface="Times New Roman" panose="02020603050405020304" pitchFamily="18" charset="0"/>
                <a:cs typeface="Times New Roman" panose="02020603050405020304" pitchFamily="18" charset="0"/>
              </a:rPr>
              <a:t>Örnek Uygulama -&gt;</a:t>
            </a:r>
            <a:r>
              <a:rPr lang="tr-TR" sz="2000" spc="-10" dirty="0">
                <a:solidFill>
                  <a:srgbClr val="FFFF00"/>
                </a:solidFill>
                <a:latin typeface="Times New Roman" panose="02020603050405020304" pitchFamily="18" charset="0"/>
                <a:cs typeface="Times New Roman" panose="02020603050405020304" pitchFamily="18" charset="0"/>
              </a:rPr>
              <a:t>MissingValueExample.py</a:t>
            </a:r>
            <a:endParaRPr sz="2000" dirty="0">
              <a:solidFill>
                <a:srgbClr val="FFFF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6DB6268-E4EE-75AB-E618-B0E98802CF8D}"/>
              </a:ext>
            </a:extLst>
          </p:cNvPr>
          <p:cNvSpPr txBox="1"/>
          <p:nvPr/>
        </p:nvSpPr>
        <p:spPr>
          <a:xfrm>
            <a:off x="1524000" y="666750"/>
            <a:ext cx="4572000" cy="369332"/>
          </a:xfrm>
          <a:prstGeom prst="rect">
            <a:avLst/>
          </a:prstGeom>
          <a:noFill/>
        </p:spPr>
        <p:txBody>
          <a:bodyPr wrap="square">
            <a:spAutoFit/>
          </a:bodyPr>
          <a:lstStyle/>
          <a:p>
            <a:r>
              <a:rPr lang="tr-TR" dirty="0">
                <a:solidFill>
                  <a:schemeClr val="bg1"/>
                </a:solidFill>
                <a:latin typeface="Times New Roman" panose="02020603050405020304" pitchFamily="18" charset="0"/>
                <a:cs typeface="Times New Roman" panose="02020603050405020304" pitchFamily="18" charset="0"/>
              </a:rPr>
              <a:t>bikedetails.csv üzerinde eksik veri uygulaması:</a:t>
            </a:r>
          </a:p>
        </p:txBody>
      </p:sp>
      <p:sp>
        <p:nvSpPr>
          <p:cNvPr id="8" name="TextBox 7">
            <a:extLst>
              <a:ext uri="{FF2B5EF4-FFF2-40B4-BE49-F238E27FC236}">
                <a16:creationId xmlns:a16="http://schemas.microsoft.com/office/drawing/2014/main" id="{24C2234E-8885-BB4F-14A3-B0BECE75409A}"/>
              </a:ext>
            </a:extLst>
          </p:cNvPr>
          <p:cNvSpPr txBox="1"/>
          <p:nvPr/>
        </p:nvSpPr>
        <p:spPr>
          <a:xfrm>
            <a:off x="258424" y="1276350"/>
            <a:ext cx="4008777" cy="1384995"/>
          </a:xfrm>
          <a:prstGeom prst="rect">
            <a:avLst/>
          </a:prstGeom>
          <a:noFill/>
        </p:spPr>
        <p:txBody>
          <a:bodyPr wrap="square">
            <a:spAutoFit/>
          </a:bodyPr>
          <a:lstStyle/>
          <a:p>
            <a:r>
              <a:rPr lang="tr-TR" sz="1400" dirty="0">
                <a:solidFill>
                  <a:schemeClr val="bg1"/>
                </a:solidFill>
                <a:latin typeface="Times New Roman" panose="02020603050405020304" pitchFamily="18" charset="0"/>
                <a:cs typeface="Times New Roman" panose="02020603050405020304" pitchFamily="18" charset="0"/>
              </a:rPr>
              <a:t>#kütüphane yükle</a:t>
            </a:r>
          </a:p>
          <a:p>
            <a:r>
              <a:rPr lang="tr-TR" sz="1400" dirty="0" err="1">
                <a:solidFill>
                  <a:schemeClr val="bg1"/>
                </a:solidFill>
                <a:latin typeface="Times New Roman" panose="02020603050405020304" pitchFamily="18" charset="0"/>
                <a:cs typeface="Times New Roman" panose="02020603050405020304" pitchFamily="18" charset="0"/>
              </a:rPr>
              <a:t>import</a:t>
            </a:r>
            <a:r>
              <a:rPr lang="tr-TR" sz="1400" dirty="0">
                <a:solidFill>
                  <a:schemeClr val="bg1"/>
                </a:solidFill>
                <a:latin typeface="Times New Roman" panose="02020603050405020304" pitchFamily="18" charset="0"/>
                <a:cs typeface="Times New Roman" panose="02020603050405020304" pitchFamily="18" charset="0"/>
              </a:rPr>
              <a:t> </a:t>
            </a:r>
            <a:r>
              <a:rPr lang="tr-TR" sz="1400" dirty="0" err="1">
                <a:solidFill>
                  <a:schemeClr val="bg1"/>
                </a:solidFill>
                <a:latin typeface="Times New Roman" panose="02020603050405020304" pitchFamily="18" charset="0"/>
                <a:cs typeface="Times New Roman" panose="02020603050405020304" pitchFamily="18" charset="0"/>
              </a:rPr>
              <a:t>pandas</a:t>
            </a:r>
            <a:r>
              <a:rPr lang="tr-TR" sz="1400" dirty="0">
                <a:solidFill>
                  <a:schemeClr val="bg1"/>
                </a:solidFill>
                <a:latin typeface="Times New Roman" panose="02020603050405020304" pitchFamily="18" charset="0"/>
                <a:cs typeface="Times New Roman" panose="02020603050405020304" pitchFamily="18" charset="0"/>
              </a:rPr>
              <a:t> as </a:t>
            </a:r>
            <a:r>
              <a:rPr lang="tr-TR" sz="1400" dirty="0" err="1">
                <a:solidFill>
                  <a:schemeClr val="bg1"/>
                </a:solidFill>
                <a:latin typeface="Times New Roman" panose="02020603050405020304" pitchFamily="18" charset="0"/>
                <a:cs typeface="Times New Roman" panose="02020603050405020304" pitchFamily="18" charset="0"/>
              </a:rPr>
              <a:t>pd</a:t>
            </a:r>
            <a:endParaRPr lang="tr-TR" sz="1400" dirty="0">
              <a:solidFill>
                <a:schemeClr val="bg1"/>
              </a:solidFill>
              <a:latin typeface="Times New Roman" panose="02020603050405020304" pitchFamily="18" charset="0"/>
              <a:cs typeface="Times New Roman" panose="02020603050405020304" pitchFamily="18" charset="0"/>
            </a:endParaRPr>
          </a:p>
          <a:p>
            <a:r>
              <a:rPr lang="tr-TR" sz="1400" dirty="0" err="1">
                <a:solidFill>
                  <a:schemeClr val="bg1"/>
                </a:solidFill>
                <a:latin typeface="Times New Roman" panose="02020603050405020304" pitchFamily="18" charset="0"/>
                <a:cs typeface="Times New Roman" panose="02020603050405020304" pitchFamily="18" charset="0"/>
              </a:rPr>
              <a:t>import</a:t>
            </a:r>
            <a:r>
              <a:rPr lang="tr-TR" sz="1400" dirty="0">
                <a:solidFill>
                  <a:schemeClr val="bg1"/>
                </a:solidFill>
                <a:latin typeface="Times New Roman" panose="02020603050405020304" pitchFamily="18" charset="0"/>
                <a:cs typeface="Times New Roman" panose="02020603050405020304" pitchFamily="18" charset="0"/>
              </a:rPr>
              <a:t> </a:t>
            </a:r>
            <a:r>
              <a:rPr lang="tr-TR" sz="1400" dirty="0" err="1">
                <a:solidFill>
                  <a:schemeClr val="bg1"/>
                </a:solidFill>
                <a:latin typeface="Times New Roman" panose="02020603050405020304" pitchFamily="18" charset="0"/>
                <a:cs typeface="Times New Roman" panose="02020603050405020304" pitchFamily="18" charset="0"/>
              </a:rPr>
              <a:t>numpy</a:t>
            </a:r>
            <a:r>
              <a:rPr lang="tr-TR" sz="1400" dirty="0">
                <a:solidFill>
                  <a:schemeClr val="bg1"/>
                </a:solidFill>
                <a:latin typeface="Times New Roman" panose="02020603050405020304" pitchFamily="18" charset="0"/>
                <a:cs typeface="Times New Roman" panose="02020603050405020304" pitchFamily="18" charset="0"/>
              </a:rPr>
              <a:t> as </a:t>
            </a:r>
            <a:r>
              <a:rPr lang="tr-TR" sz="1400" dirty="0" err="1">
                <a:solidFill>
                  <a:schemeClr val="bg1"/>
                </a:solidFill>
                <a:latin typeface="Times New Roman" panose="02020603050405020304" pitchFamily="18" charset="0"/>
                <a:cs typeface="Times New Roman" panose="02020603050405020304" pitchFamily="18" charset="0"/>
              </a:rPr>
              <a:t>np</a:t>
            </a:r>
            <a:endParaRPr lang="tr-TR" sz="1400" dirty="0">
              <a:solidFill>
                <a:schemeClr val="bg1"/>
              </a:solidFill>
              <a:latin typeface="Times New Roman" panose="02020603050405020304" pitchFamily="18" charset="0"/>
              <a:cs typeface="Times New Roman" panose="02020603050405020304" pitchFamily="18" charset="0"/>
            </a:endParaRPr>
          </a:p>
          <a:p>
            <a:endParaRPr lang="tr-TR" sz="1400" dirty="0">
              <a:solidFill>
                <a:schemeClr val="bg1"/>
              </a:solidFill>
              <a:latin typeface="Times New Roman" panose="02020603050405020304" pitchFamily="18" charset="0"/>
              <a:cs typeface="Times New Roman" panose="02020603050405020304" pitchFamily="18" charset="0"/>
            </a:endParaRPr>
          </a:p>
          <a:p>
            <a:r>
              <a:rPr lang="tr-TR" sz="1400" dirty="0">
                <a:solidFill>
                  <a:schemeClr val="bg1"/>
                </a:solidFill>
                <a:latin typeface="Times New Roman" panose="02020603050405020304" pitchFamily="18" charset="0"/>
                <a:cs typeface="Times New Roman" panose="02020603050405020304" pitchFamily="18" charset="0"/>
              </a:rPr>
              <a:t>#veri setini oku</a:t>
            </a:r>
          </a:p>
          <a:p>
            <a:r>
              <a:rPr lang="tr-TR" sz="1400" dirty="0">
                <a:solidFill>
                  <a:schemeClr val="bg1"/>
                </a:solidFill>
                <a:latin typeface="Times New Roman" panose="02020603050405020304" pitchFamily="18" charset="0"/>
                <a:cs typeface="Times New Roman" panose="02020603050405020304" pitchFamily="18" charset="0"/>
              </a:rPr>
              <a:t>data=</a:t>
            </a:r>
            <a:r>
              <a:rPr lang="tr-TR" sz="1400" dirty="0" err="1">
                <a:solidFill>
                  <a:schemeClr val="bg1"/>
                </a:solidFill>
                <a:latin typeface="Times New Roman" panose="02020603050405020304" pitchFamily="18" charset="0"/>
                <a:cs typeface="Times New Roman" panose="02020603050405020304" pitchFamily="18" charset="0"/>
              </a:rPr>
              <a:t>pd.read_csv</a:t>
            </a:r>
            <a:r>
              <a:rPr lang="tr-TR" sz="1400" dirty="0">
                <a:solidFill>
                  <a:schemeClr val="bg1"/>
                </a:solidFill>
                <a:latin typeface="Times New Roman" panose="02020603050405020304" pitchFamily="18" charset="0"/>
                <a:cs typeface="Times New Roman" panose="02020603050405020304" pitchFamily="18" charset="0"/>
              </a:rPr>
              <a:t>('data/bikedetails.csv’)</a:t>
            </a:r>
          </a:p>
        </p:txBody>
      </p:sp>
      <p:sp>
        <p:nvSpPr>
          <p:cNvPr id="9" name="TextBox 8">
            <a:extLst>
              <a:ext uri="{FF2B5EF4-FFF2-40B4-BE49-F238E27FC236}">
                <a16:creationId xmlns:a16="http://schemas.microsoft.com/office/drawing/2014/main" id="{58D5374B-35F3-B3A4-D63F-BCD149580202}"/>
              </a:ext>
            </a:extLst>
          </p:cNvPr>
          <p:cNvSpPr txBox="1"/>
          <p:nvPr/>
        </p:nvSpPr>
        <p:spPr>
          <a:xfrm>
            <a:off x="4800600" y="1109920"/>
            <a:ext cx="4008777" cy="738664"/>
          </a:xfrm>
          <a:prstGeom prst="rect">
            <a:avLst/>
          </a:prstGeom>
          <a:noFill/>
        </p:spPr>
        <p:txBody>
          <a:bodyPr wrap="square">
            <a:spAutoFit/>
          </a:bodyPr>
          <a:lstStyle/>
          <a:p>
            <a:r>
              <a:rPr lang="tr-TR" sz="1400" dirty="0" err="1">
                <a:solidFill>
                  <a:schemeClr val="bg1"/>
                </a:solidFill>
                <a:latin typeface="Times New Roman" panose="02020603050405020304" pitchFamily="18" charset="0"/>
                <a:cs typeface="Times New Roman" panose="02020603050405020304" pitchFamily="18" charset="0"/>
              </a:rPr>
              <a:t>print</a:t>
            </a:r>
            <a:r>
              <a:rPr lang="tr-TR" sz="1400" dirty="0">
                <a:solidFill>
                  <a:schemeClr val="bg1"/>
                </a:solidFill>
                <a:latin typeface="Times New Roman" panose="02020603050405020304" pitchFamily="18" charset="0"/>
                <a:cs typeface="Times New Roman" panose="02020603050405020304" pitchFamily="18" charset="0"/>
              </a:rPr>
              <a:t>(</a:t>
            </a:r>
            <a:r>
              <a:rPr lang="tr-TR" sz="1400" dirty="0" err="1">
                <a:solidFill>
                  <a:schemeClr val="bg1"/>
                </a:solidFill>
                <a:latin typeface="Times New Roman" panose="02020603050405020304" pitchFamily="18" charset="0"/>
                <a:cs typeface="Times New Roman" panose="02020603050405020304" pitchFamily="18" charset="0"/>
              </a:rPr>
              <a:t>data.shape</a:t>
            </a:r>
            <a:r>
              <a:rPr lang="tr-TR" sz="1400" dirty="0">
                <a:solidFill>
                  <a:schemeClr val="bg1"/>
                </a:solidFill>
                <a:latin typeface="Times New Roman" panose="02020603050405020304" pitchFamily="18" charset="0"/>
                <a:cs typeface="Times New Roman" panose="02020603050405020304" pitchFamily="18" charset="0"/>
              </a:rPr>
              <a:t>)</a:t>
            </a:r>
          </a:p>
          <a:p>
            <a:r>
              <a:rPr lang="tr-TR" sz="1400" dirty="0" err="1">
                <a:solidFill>
                  <a:schemeClr val="bg1"/>
                </a:solidFill>
                <a:latin typeface="Times New Roman" panose="02020603050405020304" pitchFamily="18" charset="0"/>
                <a:cs typeface="Times New Roman" panose="02020603050405020304" pitchFamily="18" charset="0"/>
              </a:rPr>
              <a:t>print</a:t>
            </a:r>
            <a:r>
              <a:rPr lang="tr-TR" sz="1400" dirty="0">
                <a:solidFill>
                  <a:schemeClr val="bg1"/>
                </a:solidFill>
                <a:latin typeface="Times New Roman" panose="02020603050405020304" pitchFamily="18" charset="0"/>
                <a:cs typeface="Times New Roman" panose="02020603050405020304" pitchFamily="18" charset="0"/>
              </a:rPr>
              <a:t>(data.info())</a:t>
            </a:r>
          </a:p>
          <a:p>
            <a:r>
              <a:rPr lang="tr-TR" sz="1400" dirty="0" err="1">
                <a:solidFill>
                  <a:schemeClr val="bg1"/>
                </a:solidFill>
                <a:latin typeface="Times New Roman" panose="02020603050405020304" pitchFamily="18" charset="0"/>
                <a:cs typeface="Times New Roman" panose="02020603050405020304" pitchFamily="18" charset="0"/>
              </a:rPr>
              <a:t>print</a:t>
            </a:r>
            <a:r>
              <a:rPr lang="tr-TR" sz="1400" dirty="0">
                <a:solidFill>
                  <a:schemeClr val="bg1"/>
                </a:solidFill>
                <a:latin typeface="Times New Roman" panose="02020603050405020304" pitchFamily="18" charset="0"/>
                <a:cs typeface="Times New Roman" panose="02020603050405020304" pitchFamily="18" charset="0"/>
              </a:rPr>
              <a:t>(</a:t>
            </a:r>
            <a:r>
              <a:rPr lang="tr-TR" sz="1400" dirty="0" err="1">
                <a:solidFill>
                  <a:schemeClr val="bg1"/>
                </a:solidFill>
                <a:latin typeface="Times New Roman" panose="02020603050405020304" pitchFamily="18" charset="0"/>
                <a:cs typeface="Times New Roman" panose="02020603050405020304" pitchFamily="18" charset="0"/>
              </a:rPr>
              <a:t>data.isnull</a:t>
            </a:r>
            <a:r>
              <a:rPr lang="tr-TR" sz="1400" dirty="0">
                <a:solidFill>
                  <a:schemeClr val="bg1"/>
                </a:solidFill>
                <a:latin typeface="Times New Roman" panose="02020603050405020304" pitchFamily="18" charset="0"/>
                <a:cs typeface="Times New Roman" panose="02020603050405020304" pitchFamily="18" charset="0"/>
              </a:rPr>
              <a:t>().</a:t>
            </a:r>
            <a:r>
              <a:rPr lang="tr-TR" sz="1400" dirty="0" err="1">
                <a:solidFill>
                  <a:schemeClr val="bg1"/>
                </a:solidFill>
                <a:latin typeface="Times New Roman" panose="02020603050405020304" pitchFamily="18" charset="0"/>
                <a:cs typeface="Times New Roman" panose="02020603050405020304" pitchFamily="18" charset="0"/>
              </a:rPr>
              <a:t>sum</a:t>
            </a:r>
            <a:r>
              <a:rPr lang="tr-TR" sz="1400" dirty="0">
                <a:solidFill>
                  <a:schemeClr val="bg1"/>
                </a:solidFill>
                <a:latin typeface="Times New Roman" panose="02020603050405020304" pitchFamily="18" charset="0"/>
                <a:cs typeface="Times New Roman" panose="02020603050405020304" pitchFamily="18" charset="0"/>
              </a:rPr>
              <a:t>())</a:t>
            </a:r>
          </a:p>
        </p:txBody>
      </p:sp>
      <p:pic>
        <p:nvPicPr>
          <p:cNvPr id="11" name="Picture 10">
            <a:extLst>
              <a:ext uri="{FF2B5EF4-FFF2-40B4-BE49-F238E27FC236}">
                <a16:creationId xmlns:a16="http://schemas.microsoft.com/office/drawing/2014/main" id="{676E3370-6304-CBA2-2A7B-61DC946689BF}"/>
              </a:ext>
            </a:extLst>
          </p:cNvPr>
          <p:cNvPicPr>
            <a:picLocks noChangeAspect="1"/>
          </p:cNvPicPr>
          <p:nvPr/>
        </p:nvPicPr>
        <p:blipFill>
          <a:blip r:embed="rId2"/>
          <a:stretch>
            <a:fillRect/>
          </a:stretch>
        </p:blipFill>
        <p:spPr>
          <a:xfrm>
            <a:off x="1371600" y="2901613"/>
            <a:ext cx="2779030" cy="1656000"/>
          </a:xfrm>
          <a:prstGeom prst="rect">
            <a:avLst/>
          </a:prstGeom>
        </p:spPr>
      </p:pic>
      <p:cxnSp>
        <p:nvCxnSpPr>
          <p:cNvPr id="13" name="Straight Arrow Connector 12">
            <a:extLst>
              <a:ext uri="{FF2B5EF4-FFF2-40B4-BE49-F238E27FC236}">
                <a16:creationId xmlns:a16="http://schemas.microsoft.com/office/drawing/2014/main" id="{FF4BE3D1-3426-5331-E023-E60DB69AF927}"/>
              </a:ext>
            </a:extLst>
          </p:cNvPr>
          <p:cNvCxnSpPr>
            <a:cxnSpLocks/>
          </p:cNvCxnSpPr>
          <p:nvPr/>
        </p:nvCxnSpPr>
        <p:spPr>
          <a:xfrm flipH="1">
            <a:off x="3657600" y="1504950"/>
            <a:ext cx="1219201" cy="1396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F90F0B80-EF00-33B6-62D2-7C78CD669062}"/>
              </a:ext>
            </a:extLst>
          </p:cNvPr>
          <p:cNvPicPr>
            <a:picLocks noChangeAspect="1"/>
          </p:cNvPicPr>
          <p:nvPr/>
        </p:nvPicPr>
        <p:blipFill>
          <a:blip r:embed="rId3"/>
          <a:stretch>
            <a:fillRect/>
          </a:stretch>
        </p:blipFill>
        <p:spPr>
          <a:xfrm>
            <a:off x="5210177" y="2724150"/>
            <a:ext cx="2275158" cy="1404000"/>
          </a:xfrm>
          <a:prstGeom prst="rect">
            <a:avLst/>
          </a:prstGeom>
        </p:spPr>
      </p:pic>
      <p:cxnSp>
        <p:nvCxnSpPr>
          <p:cNvPr id="19" name="Straight Arrow Connector 18">
            <a:extLst>
              <a:ext uri="{FF2B5EF4-FFF2-40B4-BE49-F238E27FC236}">
                <a16:creationId xmlns:a16="http://schemas.microsoft.com/office/drawing/2014/main" id="{F507D7D9-4FAB-29C3-94CC-1E6AA06BE447}"/>
              </a:ext>
            </a:extLst>
          </p:cNvPr>
          <p:cNvCxnSpPr>
            <a:cxnSpLocks/>
            <a:endCxn id="18" idx="0"/>
          </p:cNvCxnSpPr>
          <p:nvPr/>
        </p:nvCxnSpPr>
        <p:spPr>
          <a:xfrm>
            <a:off x="5791200" y="1762676"/>
            <a:ext cx="556556" cy="961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5625A24-8EF9-D5D4-07FC-0D3A3C35D7E8}"/>
              </a:ext>
            </a:extLst>
          </p:cNvPr>
          <p:cNvCxnSpPr/>
          <p:nvPr/>
        </p:nvCxnSpPr>
        <p:spPr>
          <a:xfrm>
            <a:off x="1447800" y="4158698"/>
            <a:ext cx="2590800" cy="0"/>
          </a:xfrm>
          <a:prstGeom prst="line">
            <a:avLst/>
          </a:prstGeom>
        </p:spPr>
        <p:style>
          <a:lnRef idx="2">
            <a:schemeClr val="accent3"/>
          </a:lnRef>
          <a:fillRef idx="0">
            <a:schemeClr val="accent3"/>
          </a:fillRef>
          <a:effectRef idx="1">
            <a:schemeClr val="accent3"/>
          </a:effectRef>
          <a:fontRef idx="minor">
            <a:schemeClr val="tx1"/>
          </a:fontRef>
        </p:style>
      </p:cxnSp>
      <p:cxnSp>
        <p:nvCxnSpPr>
          <p:cNvPr id="24" name="Straight Connector 23">
            <a:extLst>
              <a:ext uri="{FF2B5EF4-FFF2-40B4-BE49-F238E27FC236}">
                <a16:creationId xmlns:a16="http://schemas.microsoft.com/office/drawing/2014/main" id="{CC1939E4-8241-93A1-A072-467515B37323}"/>
              </a:ext>
            </a:extLst>
          </p:cNvPr>
          <p:cNvCxnSpPr>
            <a:cxnSpLocks/>
          </p:cNvCxnSpPr>
          <p:nvPr/>
        </p:nvCxnSpPr>
        <p:spPr>
          <a:xfrm>
            <a:off x="5210177" y="3867150"/>
            <a:ext cx="2105023" cy="0"/>
          </a:xfrm>
          <a:prstGeom prst="line">
            <a:avLst/>
          </a:prstGeom>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456389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2440929" y="285750"/>
            <a:ext cx="3115310" cy="321242"/>
          </a:xfrm>
          <a:prstGeom prst="rect">
            <a:avLst/>
          </a:prstGeom>
        </p:spPr>
        <p:txBody>
          <a:bodyPr vert="horz" wrap="square" lIns="0" tIns="13335" rIns="0" bIns="0" rtlCol="0">
            <a:spAutoFit/>
          </a:bodyPr>
          <a:lstStyle/>
          <a:p>
            <a:pPr marL="12700">
              <a:lnSpc>
                <a:spcPct val="100000"/>
              </a:lnSpc>
              <a:spcBef>
                <a:spcPts val="105"/>
              </a:spcBef>
            </a:pPr>
            <a:r>
              <a:rPr lang="tr-TR" sz="2000" spc="-10" dirty="0">
                <a:latin typeface="Times New Roman" panose="02020603050405020304" pitchFamily="18" charset="0"/>
                <a:cs typeface="Times New Roman" panose="02020603050405020304" pitchFamily="18" charset="0"/>
              </a:rPr>
              <a:t>Örnek Uygulama</a:t>
            </a:r>
            <a:endParaRPr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6DB6268-E4EE-75AB-E618-B0E98802CF8D}"/>
              </a:ext>
            </a:extLst>
          </p:cNvPr>
          <p:cNvSpPr txBox="1"/>
          <p:nvPr/>
        </p:nvSpPr>
        <p:spPr>
          <a:xfrm>
            <a:off x="1524000" y="666750"/>
            <a:ext cx="4572000" cy="369332"/>
          </a:xfrm>
          <a:prstGeom prst="rect">
            <a:avLst/>
          </a:prstGeom>
          <a:noFill/>
        </p:spPr>
        <p:txBody>
          <a:bodyPr wrap="square">
            <a:spAutoFit/>
          </a:bodyPr>
          <a:lstStyle/>
          <a:p>
            <a:r>
              <a:rPr lang="tr-TR" dirty="0">
                <a:solidFill>
                  <a:schemeClr val="bg1"/>
                </a:solidFill>
                <a:latin typeface="Times New Roman" panose="02020603050405020304" pitchFamily="18" charset="0"/>
                <a:cs typeface="Times New Roman" panose="02020603050405020304" pitchFamily="18" charset="0"/>
              </a:rPr>
              <a:t>bikedetails.csv üzerinde eksik veri uygulaması:</a:t>
            </a:r>
          </a:p>
        </p:txBody>
      </p:sp>
      <p:sp>
        <p:nvSpPr>
          <p:cNvPr id="8" name="TextBox 7">
            <a:extLst>
              <a:ext uri="{FF2B5EF4-FFF2-40B4-BE49-F238E27FC236}">
                <a16:creationId xmlns:a16="http://schemas.microsoft.com/office/drawing/2014/main" id="{24C2234E-8885-BB4F-14A3-B0BECE75409A}"/>
              </a:ext>
            </a:extLst>
          </p:cNvPr>
          <p:cNvSpPr txBox="1"/>
          <p:nvPr/>
        </p:nvSpPr>
        <p:spPr>
          <a:xfrm>
            <a:off x="258424" y="1276350"/>
            <a:ext cx="4008777" cy="1384995"/>
          </a:xfrm>
          <a:prstGeom prst="rect">
            <a:avLst/>
          </a:prstGeom>
          <a:noFill/>
        </p:spPr>
        <p:txBody>
          <a:bodyPr wrap="square">
            <a:spAutoFit/>
          </a:bodyPr>
          <a:lstStyle/>
          <a:p>
            <a:r>
              <a:rPr lang="tr-TR" sz="1400" dirty="0">
                <a:solidFill>
                  <a:srgbClr val="FFFF00"/>
                </a:solidFill>
                <a:latin typeface="Courier New" panose="02070309020205020404" pitchFamily="49" charset="0"/>
                <a:cs typeface="Courier New" panose="02070309020205020404" pitchFamily="49" charset="0"/>
              </a:rPr>
              <a:t>#inplace yeni data mı oluşturulacak #yerinde mi değişiklik yapılacak. </a:t>
            </a:r>
          </a:p>
          <a:p>
            <a:r>
              <a:rPr lang="tr-TR" sz="1400" dirty="0" err="1">
                <a:solidFill>
                  <a:srgbClr val="FFFF00"/>
                </a:solidFill>
                <a:latin typeface="Courier New" panose="02070309020205020404" pitchFamily="49" charset="0"/>
                <a:cs typeface="Courier New" panose="02070309020205020404" pitchFamily="49" charset="0"/>
              </a:rPr>
              <a:t>data.dropna</a:t>
            </a:r>
            <a:r>
              <a:rPr lang="tr-TR" sz="1400" dirty="0">
                <a:solidFill>
                  <a:srgbClr val="FFFF00"/>
                </a:solidFill>
                <a:latin typeface="Courier New" panose="02070309020205020404" pitchFamily="49" charset="0"/>
                <a:cs typeface="Courier New" panose="02070309020205020404" pitchFamily="49" charset="0"/>
              </a:rPr>
              <a:t>(</a:t>
            </a:r>
            <a:r>
              <a:rPr lang="tr-TR" sz="1400" dirty="0" err="1">
                <a:solidFill>
                  <a:srgbClr val="FFFF00"/>
                </a:solidFill>
                <a:latin typeface="Courier New" panose="02070309020205020404" pitchFamily="49" charset="0"/>
                <a:cs typeface="Courier New" panose="02070309020205020404" pitchFamily="49" charset="0"/>
              </a:rPr>
              <a:t>inplace</a:t>
            </a:r>
            <a:r>
              <a:rPr lang="tr-TR" sz="1400" dirty="0">
                <a:solidFill>
                  <a:srgbClr val="FFFF00"/>
                </a:solidFill>
                <a:latin typeface="Courier New" panose="02070309020205020404" pitchFamily="49" charset="0"/>
                <a:cs typeface="Courier New" panose="02070309020205020404" pitchFamily="49" charset="0"/>
              </a:rPr>
              <a:t>=True)</a:t>
            </a:r>
          </a:p>
          <a:p>
            <a:r>
              <a:rPr lang="tr-TR" sz="1400" dirty="0" err="1">
                <a:solidFill>
                  <a:schemeClr val="bg1"/>
                </a:solidFill>
                <a:latin typeface="Courier New" panose="02070309020205020404" pitchFamily="49" charset="0"/>
                <a:cs typeface="Courier New" panose="02070309020205020404" pitchFamily="49" charset="0"/>
              </a:rPr>
              <a:t>print</a:t>
            </a:r>
            <a:r>
              <a:rPr lang="tr-TR" sz="1400" dirty="0">
                <a:solidFill>
                  <a:schemeClr val="bg1"/>
                </a:solidFill>
                <a:latin typeface="Courier New" panose="02070309020205020404" pitchFamily="49" charset="0"/>
                <a:cs typeface="Courier New" panose="02070309020205020404" pitchFamily="49" charset="0"/>
              </a:rPr>
              <a:t>(data.info())</a:t>
            </a:r>
          </a:p>
          <a:p>
            <a:r>
              <a:rPr lang="tr-TR" sz="1400" dirty="0" err="1">
                <a:solidFill>
                  <a:schemeClr val="bg1"/>
                </a:solidFill>
                <a:latin typeface="Courier New" panose="02070309020205020404" pitchFamily="49" charset="0"/>
                <a:cs typeface="Courier New" panose="02070309020205020404" pitchFamily="49" charset="0"/>
              </a:rPr>
              <a:t>print</a:t>
            </a:r>
            <a:r>
              <a:rPr lang="tr-TR" sz="1400" dirty="0">
                <a:solidFill>
                  <a:schemeClr val="bg1"/>
                </a:solidFill>
                <a:latin typeface="Courier New" panose="02070309020205020404" pitchFamily="49" charset="0"/>
                <a:cs typeface="Courier New" panose="02070309020205020404" pitchFamily="49" charset="0"/>
              </a:rPr>
              <a:t>(</a:t>
            </a:r>
            <a:r>
              <a:rPr lang="tr-TR" sz="1400" dirty="0" err="1">
                <a:solidFill>
                  <a:schemeClr val="bg1"/>
                </a:solidFill>
                <a:latin typeface="Courier New" panose="02070309020205020404" pitchFamily="49" charset="0"/>
                <a:cs typeface="Courier New" panose="02070309020205020404" pitchFamily="49" charset="0"/>
              </a:rPr>
              <a:t>data.isnull</a:t>
            </a:r>
            <a:r>
              <a:rPr lang="tr-TR" sz="1400" dirty="0">
                <a:solidFill>
                  <a:schemeClr val="bg1"/>
                </a:solidFill>
                <a:latin typeface="Courier New" panose="02070309020205020404" pitchFamily="49" charset="0"/>
                <a:cs typeface="Courier New" panose="02070309020205020404" pitchFamily="49" charset="0"/>
              </a:rPr>
              <a:t>().</a:t>
            </a:r>
            <a:r>
              <a:rPr lang="tr-TR" sz="1400" dirty="0" err="1">
                <a:solidFill>
                  <a:schemeClr val="bg1"/>
                </a:solidFill>
                <a:latin typeface="Courier New" panose="02070309020205020404" pitchFamily="49" charset="0"/>
                <a:cs typeface="Courier New" panose="02070309020205020404" pitchFamily="49" charset="0"/>
              </a:rPr>
              <a:t>sum</a:t>
            </a:r>
            <a:r>
              <a:rPr lang="tr-TR" sz="1400" dirty="0">
                <a:solidFill>
                  <a:schemeClr val="bg1"/>
                </a:solidFill>
                <a:latin typeface="Courier New" panose="02070309020205020404" pitchFamily="49" charset="0"/>
                <a:cs typeface="Courier New" panose="02070309020205020404" pitchFamily="49" charset="0"/>
              </a:rPr>
              <a:t>())</a:t>
            </a:r>
          </a:p>
          <a:p>
            <a:r>
              <a:rPr lang="tr-TR" sz="1400" dirty="0" err="1">
                <a:solidFill>
                  <a:schemeClr val="bg1"/>
                </a:solidFill>
                <a:latin typeface="Courier New" panose="02070309020205020404" pitchFamily="49" charset="0"/>
                <a:cs typeface="Courier New" panose="02070309020205020404" pitchFamily="49" charset="0"/>
              </a:rPr>
              <a:t>print</a:t>
            </a:r>
            <a:r>
              <a:rPr lang="tr-TR" sz="1400" dirty="0">
                <a:solidFill>
                  <a:schemeClr val="bg1"/>
                </a:solidFill>
                <a:latin typeface="Courier New" panose="02070309020205020404" pitchFamily="49" charset="0"/>
                <a:cs typeface="Courier New" panose="02070309020205020404" pitchFamily="49" charset="0"/>
              </a:rPr>
              <a:t>(</a:t>
            </a:r>
            <a:r>
              <a:rPr lang="tr-TR" sz="1400" dirty="0" err="1">
                <a:solidFill>
                  <a:schemeClr val="bg1"/>
                </a:solidFill>
                <a:latin typeface="Courier New" panose="02070309020205020404" pitchFamily="49" charset="0"/>
                <a:cs typeface="Courier New" panose="02070309020205020404" pitchFamily="49" charset="0"/>
              </a:rPr>
              <a:t>data.shape</a:t>
            </a:r>
            <a:r>
              <a:rPr lang="tr-TR" sz="1400" dirty="0">
                <a:solidFill>
                  <a:schemeClr val="bg1"/>
                </a:solidFill>
                <a:latin typeface="Courier New" panose="02070309020205020404" pitchFamily="49" charset="0"/>
                <a:cs typeface="Courier New" panose="02070309020205020404" pitchFamily="49" charset="0"/>
              </a:rPr>
              <a:t>)</a:t>
            </a:r>
          </a:p>
        </p:txBody>
      </p:sp>
      <p:sp>
        <p:nvSpPr>
          <p:cNvPr id="9" name="TextBox 8">
            <a:extLst>
              <a:ext uri="{FF2B5EF4-FFF2-40B4-BE49-F238E27FC236}">
                <a16:creationId xmlns:a16="http://schemas.microsoft.com/office/drawing/2014/main" id="{58D5374B-35F3-B3A4-D63F-BCD149580202}"/>
              </a:ext>
            </a:extLst>
          </p:cNvPr>
          <p:cNvSpPr txBox="1"/>
          <p:nvPr/>
        </p:nvSpPr>
        <p:spPr>
          <a:xfrm>
            <a:off x="4800600" y="1109920"/>
            <a:ext cx="4008777" cy="738664"/>
          </a:xfrm>
          <a:prstGeom prst="rect">
            <a:avLst/>
          </a:prstGeom>
          <a:noFill/>
        </p:spPr>
        <p:txBody>
          <a:bodyPr wrap="square">
            <a:spAutoFit/>
          </a:bodyPr>
          <a:lstStyle/>
          <a:p>
            <a:r>
              <a:rPr lang="tr-TR" sz="1400" dirty="0" err="1">
                <a:solidFill>
                  <a:schemeClr val="bg1"/>
                </a:solidFill>
                <a:latin typeface="Courier New" panose="02070309020205020404" pitchFamily="49" charset="0"/>
                <a:cs typeface="Courier New" panose="02070309020205020404" pitchFamily="49" charset="0"/>
              </a:rPr>
              <a:t>print</a:t>
            </a:r>
            <a:r>
              <a:rPr lang="tr-TR" sz="1400" dirty="0">
                <a:solidFill>
                  <a:schemeClr val="bg1"/>
                </a:solidFill>
                <a:latin typeface="Courier New" panose="02070309020205020404" pitchFamily="49" charset="0"/>
                <a:cs typeface="Courier New" panose="02070309020205020404" pitchFamily="49" charset="0"/>
              </a:rPr>
              <a:t>(</a:t>
            </a:r>
            <a:r>
              <a:rPr lang="tr-TR" sz="1400" dirty="0" err="1">
                <a:solidFill>
                  <a:schemeClr val="bg1"/>
                </a:solidFill>
                <a:latin typeface="Courier New" panose="02070309020205020404" pitchFamily="49" charset="0"/>
                <a:cs typeface="Courier New" panose="02070309020205020404" pitchFamily="49" charset="0"/>
              </a:rPr>
              <a:t>data.shape</a:t>
            </a:r>
            <a:r>
              <a:rPr lang="tr-TR" sz="1400" dirty="0">
                <a:solidFill>
                  <a:schemeClr val="bg1"/>
                </a:solidFill>
                <a:latin typeface="Courier New" panose="02070309020205020404" pitchFamily="49" charset="0"/>
                <a:cs typeface="Courier New" panose="02070309020205020404" pitchFamily="49" charset="0"/>
              </a:rPr>
              <a:t>)</a:t>
            </a:r>
          </a:p>
          <a:p>
            <a:r>
              <a:rPr lang="tr-TR" sz="1400" dirty="0" err="1">
                <a:solidFill>
                  <a:schemeClr val="bg1"/>
                </a:solidFill>
                <a:latin typeface="Courier New" panose="02070309020205020404" pitchFamily="49" charset="0"/>
                <a:cs typeface="Courier New" panose="02070309020205020404" pitchFamily="49" charset="0"/>
              </a:rPr>
              <a:t>print</a:t>
            </a:r>
            <a:r>
              <a:rPr lang="tr-TR" sz="1400" dirty="0">
                <a:solidFill>
                  <a:schemeClr val="bg1"/>
                </a:solidFill>
                <a:latin typeface="Courier New" panose="02070309020205020404" pitchFamily="49" charset="0"/>
                <a:cs typeface="Courier New" panose="02070309020205020404" pitchFamily="49" charset="0"/>
              </a:rPr>
              <a:t>(data.info())</a:t>
            </a:r>
          </a:p>
          <a:p>
            <a:r>
              <a:rPr lang="tr-TR" sz="1400" dirty="0" err="1">
                <a:solidFill>
                  <a:schemeClr val="bg1"/>
                </a:solidFill>
                <a:latin typeface="Courier New" panose="02070309020205020404" pitchFamily="49" charset="0"/>
                <a:cs typeface="Courier New" panose="02070309020205020404" pitchFamily="49" charset="0"/>
              </a:rPr>
              <a:t>print</a:t>
            </a:r>
            <a:r>
              <a:rPr lang="tr-TR" sz="1400" dirty="0">
                <a:solidFill>
                  <a:schemeClr val="bg1"/>
                </a:solidFill>
                <a:latin typeface="Courier New" panose="02070309020205020404" pitchFamily="49" charset="0"/>
                <a:cs typeface="Courier New" panose="02070309020205020404" pitchFamily="49" charset="0"/>
              </a:rPr>
              <a:t>(</a:t>
            </a:r>
            <a:r>
              <a:rPr lang="tr-TR" sz="1400" dirty="0" err="1">
                <a:solidFill>
                  <a:schemeClr val="bg1"/>
                </a:solidFill>
                <a:latin typeface="Courier New" panose="02070309020205020404" pitchFamily="49" charset="0"/>
                <a:cs typeface="Courier New" panose="02070309020205020404" pitchFamily="49" charset="0"/>
              </a:rPr>
              <a:t>data.isnull</a:t>
            </a:r>
            <a:r>
              <a:rPr lang="tr-TR" sz="1400" dirty="0">
                <a:solidFill>
                  <a:schemeClr val="bg1"/>
                </a:solidFill>
                <a:latin typeface="Courier New" panose="02070309020205020404" pitchFamily="49" charset="0"/>
                <a:cs typeface="Courier New" panose="02070309020205020404" pitchFamily="49" charset="0"/>
              </a:rPr>
              <a:t>().</a:t>
            </a:r>
            <a:r>
              <a:rPr lang="tr-TR" sz="1400" dirty="0" err="1">
                <a:solidFill>
                  <a:schemeClr val="bg1"/>
                </a:solidFill>
                <a:latin typeface="Courier New" panose="02070309020205020404" pitchFamily="49" charset="0"/>
                <a:cs typeface="Courier New" panose="02070309020205020404" pitchFamily="49" charset="0"/>
              </a:rPr>
              <a:t>sum</a:t>
            </a:r>
            <a:r>
              <a:rPr lang="tr-TR" sz="1400" dirty="0">
                <a:solidFill>
                  <a:schemeClr val="bg1"/>
                </a:solidFill>
                <a:latin typeface="Courier New" panose="02070309020205020404" pitchFamily="49" charset="0"/>
                <a:cs typeface="Courier New" panose="02070309020205020404" pitchFamily="49" charset="0"/>
              </a:rPr>
              <a:t>())</a:t>
            </a:r>
          </a:p>
        </p:txBody>
      </p:sp>
      <p:cxnSp>
        <p:nvCxnSpPr>
          <p:cNvPr id="13" name="Straight Arrow Connector 12">
            <a:extLst>
              <a:ext uri="{FF2B5EF4-FFF2-40B4-BE49-F238E27FC236}">
                <a16:creationId xmlns:a16="http://schemas.microsoft.com/office/drawing/2014/main" id="{FF4BE3D1-3426-5331-E023-E60DB69AF927}"/>
              </a:ext>
            </a:extLst>
          </p:cNvPr>
          <p:cNvCxnSpPr>
            <a:cxnSpLocks/>
          </p:cNvCxnSpPr>
          <p:nvPr/>
        </p:nvCxnSpPr>
        <p:spPr>
          <a:xfrm flipH="1">
            <a:off x="3657600" y="1504950"/>
            <a:ext cx="1219201" cy="1396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507D7D9-4FAB-29C3-94CC-1E6AA06BE447}"/>
              </a:ext>
            </a:extLst>
          </p:cNvPr>
          <p:cNvCxnSpPr>
            <a:cxnSpLocks/>
          </p:cNvCxnSpPr>
          <p:nvPr/>
        </p:nvCxnSpPr>
        <p:spPr>
          <a:xfrm>
            <a:off x="5791200" y="1762676"/>
            <a:ext cx="556556" cy="961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6284B4F4-F6E6-5E77-D1CB-9C2C9B8DAC6B}"/>
              </a:ext>
            </a:extLst>
          </p:cNvPr>
          <p:cNvPicPr>
            <a:picLocks noChangeAspect="1"/>
          </p:cNvPicPr>
          <p:nvPr/>
        </p:nvPicPr>
        <p:blipFill>
          <a:blip r:embed="rId2"/>
          <a:stretch>
            <a:fillRect/>
          </a:stretch>
        </p:blipFill>
        <p:spPr>
          <a:xfrm>
            <a:off x="1306312" y="3267654"/>
            <a:ext cx="2712150" cy="1476000"/>
          </a:xfrm>
          <a:prstGeom prst="rect">
            <a:avLst/>
          </a:prstGeom>
        </p:spPr>
      </p:pic>
      <p:cxnSp>
        <p:nvCxnSpPr>
          <p:cNvPr id="23" name="Straight Connector 22">
            <a:extLst>
              <a:ext uri="{FF2B5EF4-FFF2-40B4-BE49-F238E27FC236}">
                <a16:creationId xmlns:a16="http://schemas.microsoft.com/office/drawing/2014/main" id="{A5625A24-8EF9-D5D4-07FC-0D3A3C35D7E8}"/>
              </a:ext>
            </a:extLst>
          </p:cNvPr>
          <p:cNvCxnSpPr/>
          <p:nvPr/>
        </p:nvCxnSpPr>
        <p:spPr>
          <a:xfrm>
            <a:off x="1447800" y="4158698"/>
            <a:ext cx="2590800" cy="0"/>
          </a:xfrm>
          <a:prstGeom prst="line">
            <a:avLst/>
          </a:prstGeom>
        </p:spPr>
        <p:style>
          <a:lnRef idx="2">
            <a:schemeClr val="accent3"/>
          </a:lnRef>
          <a:fillRef idx="0">
            <a:schemeClr val="accent3"/>
          </a:fillRef>
          <a:effectRef idx="1">
            <a:schemeClr val="accent3"/>
          </a:effectRef>
          <a:fontRef idx="minor">
            <a:schemeClr val="tx1"/>
          </a:fontRef>
        </p:style>
      </p:cxnSp>
      <p:pic>
        <p:nvPicPr>
          <p:cNvPr id="12" name="Picture 11">
            <a:extLst>
              <a:ext uri="{FF2B5EF4-FFF2-40B4-BE49-F238E27FC236}">
                <a16:creationId xmlns:a16="http://schemas.microsoft.com/office/drawing/2014/main" id="{BEE7590C-342D-4955-3507-A1383DF92FCF}"/>
              </a:ext>
            </a:extLst>
          </p:cNvPr>
          <p:cNvPicPr>
            <a:picLocks noChangeAspect="1"/>
          </p:cNvPicPr>
          <p:nvPr/>
        </p:nvPicPr>
        <p:blipFill>
          <a:blip r:embed="rId3"/>
          <a:stretch>
            <a:fillRect/>
          </a:stretch>
        </p:blipFill>
        <p:spPr>
          <a:xfrm>
            <a:off x="5176181" y="2745585"/>
            <a:ext cx="1998000" cy="1332000"/>
          </a:xfrm>
          <a:prstGeom prst="rect">
            <a:avLst/>
          </a:prstGeom>
        </p:spPr>
      </p:pic>
      <p:cxnSp>
        <p:nvCxnSpPr>
          <p:cNvPr id="24" name="Straight Connector 23">
            <a:extLst>
              <a:ext uri="{FF2B5EF4-FFF2-40B4-BE49-F238E27FC236}">
                <a16:creationId xmlns:a16="http://schemas.microsoft.com/office/drawing/2014/main" id="{CC1939E4-8241-93A1-A072-467515B37323}"/>
              </a:ext>
            </a:extLst>
          </p:cNvPr>
          <p:cNvCxnSpPr>
            <a:cxnSpLocks/>
          </p:cNvCxnSpPr>
          <p:nvPr/>
        </p:nvCxnSpPr>
        <p:spPr>
          <a:xfrm>
            <a:off x="5105400" y="3867150"/>
            <a:ext cx="2105023" cy="0"/>
          </a:xfrm>
          <a:prstGeom prst="line">
            <a:avLst/>
          </a:prstGeom>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830423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2401564" y="133350"/>
            <a:ext cx="4340872" cy="629018"/>
          </a:xfrm>
          <a:prstGeom prst="rect">
            <a:avLst/>
          </a:prstGeom>
        </p:spPr>
        <p:txBody>
          <a:bodyPr vert="horz" wrap="square" lIns="0" tIns="13335" rIns="0" bIns="0" rtlCol="0">
            <a:spAutoFit/>
          </a:bodyPr>
          <a:lstStyle/>
          <a:p>
            <a:pPr marL="12700">
              <a:spcBef>
                <a:spcPts val="105"/>
              </a:spcBef>
            </a:pPr>
            <a:r>
              <a:rPr lang="tr-TR" sz="2000" spc="-10" dirty="0">
                <a:latin typeface="Times New Roman" panose="02020603050405020304" pitchFamily="18" charset="0"/>
                <a:cs typeface="Times New Roman" panose="02020603050405020304" pitchFamily="18" charset="0"/>
              </a:rPr>
              <a:t>Örnek Uygulama-&gt;</a:t>
            </a:r>
            <a:r>
              <a:rPr lang="en-US" sz="2000" spc="-10" dirty="0">
                <a:latin typeface="Times New Roman" panose="02020603050405020304" pitchFamily="18" charset="0"/>
                <a:cs typeface="Times New Roman" panose="02020603050405020304" pitchFamily="18" charset="0"/>
              </a:rPr>
              <a:t>Impute missing values</a:t>
            </a:r>
            <a:br>
              <a:rPr lang="tr-TR" sz="1100" dirty="0">
                <a:solidFill>
                  <a:schemeClr val="bg1"/>
                </a:solidFill>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4C2234E-8885-BB4F-14A3-B0BECE75409A}"/>
              </a:ext>
            </a:extLst>
          </p:cNvPr>
          <p:cNvSpPr txBox="1"/>
          <p:nvPr/>
        </p:nvSpPr>
        <p:spPr>
          <a:xfrm>
            <a:off x="152400" y="475217"/>
            <a:ext cx="8839200" cy="4585871"/>
          </a:xfrm>
          <a:prstGeom prst="rect">
            <a:avLst/>
          </a:prstGeom>
          <a:noFill/>
        </p:spPr>
        <p:txBody>
          <a:bodyPr wrap="square">
            <a:spAutoFit/>
          </a:bodyPr>
          <a:lstStyle/>
          <a:p>
            <a:pPr marL="171450" indent="-171450">
              <a:spcAft>
                <a:spcPts val="600"/>
              </a:spcAft>
              <a:buFont typeface="Arial" panose="020B0604020202020204" pitchFamily="34" charset="0"/>
              <a:buChar char="•"/>
            </a:pPr>
            <a:r>
              <a:rPr lang="tr-TR" sz="1400" dirty="0">
                <a:solidFill>
                  <a:schemeClr val="bg1"/>
                </a:solidFill>
                <a:latin typeface="Times New Roman" panose="02020603050405020304" pitchFamily="18" charset="0"/>
                <a:cs typeface="Times New Roman" panose="02020603050405020304" pitchFamily="18" charset="0"/>
              </a:rPr>
              <a:t>Eksik veri </a:t>
            </a:r>
            <a:r>
              <a:rPr lang="tr-TR" sz="1400" dirty="0" err="1">
                <a:solidFill>
                  <a:schemeClr val="bg1"/>
                </a:solidFill>
                <a:latin typeface="Times New Roman" panose="02020603050405020304" pitchFamily="18" charset="0"/>
                <a:cs typeface="Times New Roman" panose="02020603050405020304" pitchFamily="18" charset="0"/>
              </a:rPr>
              <a:t>imputasyonu</a:t>
            </a:r>
            <a:r>
              <a:rPr lang="tr-TR" sz="1400" dirty="0">
                <a:solidFill>
                  <a:schemeClr val="bg1"/>
                </a:solidFill>
                <a:latin typeface="Times New Roman" panose="02020603050405020304" pitchFamily="18" charset="0"/>
                <a:cs typeface="Times New Roman" panose="02020603050405020304" pitchFamily="18" charset="0"/>
              </a:rPr>
              <a:t> (</a:t>
            </a:r>
            <a:r>
              <a:rPr lang="tr-TR" sz="1400" dirty="0" err="1">
                <a:solidFill>
                  <a:schemeClr val="bg1"/>
                </a:solidFill>
                <a:latin typeface="Times New Roman" panose="02020603050405020304" pitchFamily="18" charset="0"/>
                <a:cs typeface="Times New Roman" panose="02020603050405020304" pitchFamily="18" charset="0"/>
              </a:rPr>
              <a:t>imputation</a:t>
            </a:r>
            <a:r>
              <a:rPr lang="tr-TR" sz="1400" dirty="0">
                <a:solidFill>
                  <a:schemeClr val="bg1"/>
                </a:solidFill>
                <a:latin typeface="Times New Roman" panose="02020603050405020304" pitchFamily="18" charset="0"/>
                <a:cs typeface="Times New Roman" panose="02020603050405020304" pitchFamily="18" charset="0"/>
              </a:rPr>
              <a:t>), eksik veri noktalarını tahmin etmek veya doldurmak için kullanılan istatistiksel bir yöntemdir. </a:t>
            </a:r>
          </a:p>
          <a:p>
            <a:pPr marL="171450" indent="-171450">
              <a:spcAft>
                <a:spcPts val="600"/>
              </a:spcAft>
              <a:buFont typeface="Arial" panose="020B0604020202020204" pitchFamily="34" charset="0"/>
              <a:buChar char="•"/>
            </a:pPr>
            <a:r>
              <a:rPr lang="tr-TR" sz="1400" dirty="0">
                <a:solidFill>
                  <a:schemeClr val="bg1"/>
                </a:solidFill>
                <a:latin typeface="Times New Roman" panose="02020603050405020304" pitchFamily="18" charset="0"/>
                <a:cs typeface="Times New Roman" panose="02020603050405020304" pitchFamily="18" charset="0"/>
              </a:rPr>
              <a:t>Eksik veri, bir veri setinde bazı gözlemlerin veya değişkenlerin eksik olduğu durumlarda ortaya çıkar. Eksik veri problemini çözmek için kullanılan yöntemlerden biri eksik veri </a:t>
            </a:r>
            <a:r>
              <a:rPr lang="tr-TR" sz="1400" dirty="0" err="1">
                <a:solidFill>
                  <a:schemeClr val="bg1"/>
                </a:solidFill>
                <a:latin typeface="Times New Roman" panose="02020603050405020304" pitchFamily="18" charset="0"/>
                <a:cs typeface="Times New Roman" panose="02020603050405020304" pitchFamily="18" charset="0"/>
              </a:rPr>
              <a:t>imputasyonudur</a:t>
            </a:r>
            <a:r>
              <a:rPr lang="tr-TR" sz="1400" dirty="0">
                <a:solidFill>
                  <a:schemeClr val="bg1"/>
                </a:solidFill>
                <a:latin typeface="Times New Roman" panose="02020603050405020304" pitchFamily="18" charset="0"/>
                <a:cs typeface="Times New Roman" panose="02020603050405020304" pitchFamily="18" charset="0"/>
              </a:rPr>
              <a:t>.</a:t>
            </a:r>
          </a:p>
          <a:p>
            <a:pPr marL="171450" indent="-171450">
              <a:spcAft>
                <a:spcPts val="600"/>
              </a:spcAft>
              <a:buFont typeface="Arial" panose="020B0604020202020204" pitchFamily="34" charset="0"/>
              <a:buChar char="•"/>
            </a:pPr>
            <a:r>
              <a:rPr lang="tr-TR" sz="1400" dirty="0">
                <a:solidFill>
                  <a:schemeClr val="bg1"/>
                </a:solidFill>
                <a:latin typeface="Times New Roman" panose="02020603050405020304" pitchFamily="18" charset="0"/>
                <a:cs typeface="Times New Roman" panose="02020603050405020304" pitchFamily="18" charset="0"/>
              </a:rPr>
              <a:t>Eksik veri </a:t>
            </a:r>
            <a:r>
              <a:rPr lang="tr-TR" sz="1400" dirty="0" err="1">
                <a:solidFill>
                  <a:schemeClr val="bg1"/>
                </a:solidFill>
                <a:latin typeface="Times New Roman" panose="02020603050405020304" pitchFamily="18" charset="0"/>
                <a:cs typeface="Times New Roman" panose="02020603050405020304" pitchFamily="18" charset="0"/>
              </a:rPr>
              <a:t>imputasyonu</a:t>
            </a:r>
            <a:r>
              <a:rPr lang="tr-TR" sz="1400" dirty="0">
                <a:solidFill>
                  <a:schemeClr val="bg1"/>
                </a:solidFill>
                <a:latin typeface="Times New Roman" panose="02020603050405020304" pitchFamily="18" charset="0"/>
                <a:cs typeface="Times New Roman" panose="02020603050405020304" pitchFamily="18" charset="0"/>
              </a:rPr>
              <a:t>, eksik veriye sahip olan gözlemlerin eksik değerlerini tahmin etmek veya doldurmak için istatistiksel veya matematiksel yöntemler kullanır. </a:t>
            </a:r>
          </a:p>
          <a:p>
            <a:pPr marL="171450" indent="-171450">
              <a:spcAft>
                <a:spcPts val="600"/>
              </a:spcAft>
              <a:buFont typeface="Arial" panose="020B0604020202020204" pitchFamily="34" charset="0"/>
              <a:buChar char="•"/>
            </a:pPr>
            <a:r>
              <a:rPr lang="tr-TR" sz="1400" dirty="0">
                <a:solidFill>
                  <a:schemeClr val="bg1"/>
                </a:solidFill>
                <a:latin typeface="Times New Roman" panose="02020603050405020304" pitchFamily="18" charset="0"/>
                <a:cs typeface="Times New Roman" panose="02020603050405020304" pitchFamily="18" charset="0"/>
              </a:rPr>
              <a:t>Bazı yaygın eksik veri </a:t>
            </a:r>
            <a:r>
              <a:rPr lang="tr-TR" sz="1400" dirty="0" err="1">
                <a:solidFill>
                  <a:schemeClr val="bg1"/>
                </a:solidFill>
                <a:latin typeface="Times New Roman" panose="02020603050405020304" pitchFamily="18" charset="0"/>
                <a:cs typeface="Times New Roman" panose="02020603050405020304" pitchFamily="18" charset="0"/>
              </a:rPr>
              <a:t>imputasyon</a:t>
            </a:r>
            <a:r>
              <a:rPr lang="tr-TR" sz="1400" dirty="0">
                <a:solidFill>
                  <a:schemeClr val="bg1"/>
                </a:solidFill>
                <a:latin typeface="Times New Roman" panose="02020603050405020304" pitchFamily="18" charset="0"/>
                <a:cs typeface="Times New Roman" panose="02020603050405020304" pitchFamily="18" charset="0"/>
              </a:rPr>
              <a:t> yöntemleri:</a:t>
            </a:r>
          </a:p>
          <a:p>
            <a:pPr lvl="1">
              <a:spcAft>
                <a:spcPts val="600"/>
              </a:spcAft>
              <a:buFont typeface="+mj-lt"/>
              <a:buAutoNum type="arabicPeriod"/>
            </a:pPr>
            <a:r>
              <a:rPr lang="tr-TR" sz="1400" b="1" u="sng" dirty="0">
                <a:solidFill>
                  <a:srgbClr val="FFFF00"/>
                </a:solidFill>
                <a:latin typeface="Times New Roman" panose="02020603050405020304" pitchFamily="18" charset="0"/>
                <a:cs typeface="Times New Roman" panose="02020603050405020304" pitchFamily="18" charset="0"/>
              </a:rPr>
              <a:t> Ortalama Değer </a:t>
            </a:r>
            <a:r>
              <a:rPr lang="tr-TR" sz="1400" b="1" u="sng" dirty="0" err="1">
                <a:solidFill>
                  <a:srgbClr val="FFFF00"/>
                </a:solidFill>
                <a:latin typeface="Times New Roman" panose="02020603050405020304" pitchFamily="18" charset="0"/>
                <a:cs typeface="Times New Roman" panose="02020603050405020304" pitchFamily="18" charset="0"/>
              </a:rPr>
              <a:t>İmputasyonu</a:t>
            </a:r>
            <a:r>
              <a:rPr lang="tr-TR" sz="1400" b="1" u="sng" dirty="0">
                <a:solidFill>
                  <a:srgbClr val="FFFF00"/>
                </a:solidFill>
                <a:latin typeface="Times New Roman" panose="02020603050405020304" pitchFamily="18" charset="0"/>
                <a:cs typeface="Times New Roman" panose="02020603050405020304" pitchFamily="18" charset="0"/>
              </a:rPr>
              <a:t>: </a:t>
            </a:r>
            <a:r>
              <a:rPr lang="tr-TR" sz="1400" dirty="0">
                <a:solidFill>
                  <a:schemeClr val="bg1"/>
                </a:solidFill>
                <a:latin typeface="Times New Roman" panose="02020603050405020304" pitchFamily="18" charset="0"/>
                <a:cs typeface="Times New Roman" panose="02020603050405020304" pitchFamily="18" charset="0"/>
              </a:rPr>
              <a:t>Eksik değerler, değişkenin ortalama değeri ile doldurulabilir. Bu yöntem özellikle numerik değişkenler için kullanışlıdır.</a:t>
            </a:r>
          </a:p>
          <a:p>
            <a:pPr lvl="1">
              <a:spcAft>
                <a:spcPts val="600"/>
              </a:spcAft>
              <a:buFont typeface="+mj-lt"/>
              <a:buAutoNum type="arabicPeriod"/>
            </a:pPr>
            <a:r>
              <a:rPr lang="tr-TR" sz="1400" b="1" u="sng" dirty="0">
                <a:solidFill>
                  <a:srgbClr val="FFFF00"/>
                </a:solidFill>
                <a:latin typeface="Times New Roman" panose="02020603050405020304" pitchFamily="18" charset="0"/>
                <a:cs typeface="Times New Roman" panose="02020603050405020304" pitchFamily="18" charset="0"/>
              </a:rPr>
              <a:t> Medyan Değer </a:t>
            </a:r>
            <a:r>
              <a:rPr lang="tr-TR" sz="1400" b="1" u="sng" dirty="0" err="1">
                <a:solidFill>
                  <a:srgbClr val="FFFF00"/>
                </a:solidFill>
                <a:latin typeface="Times New Roman" panose="02020603050405020304" pitchFamily="18" charset="0"/>
                <a:cs typeface="Times New Roman" panose="02020603050405020304" pitchFamily="18" charset="0"/>
              </a:rPr>
              <a:t>İmputasyonu</a:t>
            </a:r>
            <a:r>
              <a:rPr lang="tr-TR" sz="1400" dirty="0">
                <a:solidFill>
                  <a:schemeClr val="bg1"/>
                </a:solidFill>
                <a:latin typeface="Times New Roman" panose="02020603050405020304" pitchFamily="18" charset="0"/>
                <a:cs typeface="Times New Roman" panose="02020603050405020304" pitchFamily="18" charset="0"/>
              </a:rPr>
              <a:t>: Eksik değerler, değişkenin medyan değeri ile doldurulabilir. Medyan, veri setinin ortanca değeridir ve aykırı değerlere karşı daha dayanıklıdır.</a:t>
            </a:r>
          </a:p>
          <a:p>
            <a:pPr lvl="1">
              <a:spcAft>
                <a:spcPts val="600"/>
              </a:spcAft>
              <a:buFont typeface="+mj-lt"/>
              <a:buAutoNum type="arabicPeriod"/>
            </a:pPr>
            <a:r>
              <a:rPr lang="tr-TR" sz="1400" b="1" u="sng" dirty="0">
                <a:solidFill>
                  <a:srgbClr val="FFFF00"/>
                </a:solidFill>
                <a:latin typeface="Times New Roman" panose="02020603050405020304" pitchFamily="18" charset="0"/>
                <a:cs typeface="Times New Roman" panose="02020603050405020304" pitchFamily="18" charset="0"/>
              </a:rPr>
              <a:t> En Yakın Komşu </a:t>
            </a:r>
            <a:r>
              <a:rPr lang="tr-TR" sz="1400" b="1" u="sng" dirty="0" err="1">
                <a:solidFill>
                  <a:srgbClr val="FFFF00"/>
                </a:solidFill>
                <a:latin typeface="Times New Roman" panose="02020603050405020304" pitchFamily="18" charset="0"/>
                <a:cs typeface="Times New Roman" panose="02020603050405020304" pitchFamily="18" charset="0"/>
              </a:rPr>
              <a:t>İmputasyonu</a:t>
            </a:r>
            <a:r>
              <a:rPr lang="tr-TR" sz="1400" b="1" u="sng" dirty="0">
                <a:solidFill>
                  <a:srgbClr val="FFFF00"/>
                </a:solidFill>
                <a:latin typeface="Times New Roman" panose="02020603050405020304" pitchFamily="18" charset="0"/>
                <a:cs typeface="Times New Roman" panose="02020603050405020304" pitchFamily="18" charset="0"/>
              </a:rPr>
              <a:t>: </a:t>
            </a:r>
            <a:r>
              <a:rPr lang="tr-TR" sz="1400" dirty="0">
                <a:solidFill>
                  <a:schemeClr val="bg1"/>
                </a:solidFill>
                <a:latin typeface="Times New Roman" panose="02020603050405020304" pitchFamily="18" charset="0"/>
                <a:cs typeface="Times New Roman" panose="02020603050405020304" pitchFamily="18" charset="0"/>
              </a:rPr>
              <a:t>Eksik değerler, benzer gözlemlerin değerleri kullanılarak tahmin edilebilir. En yakın komşu </a:t>
            </a:r>
            <a:r>
              <a:rPr lang="tr-TR" sz="1400" dirty="0" err="1">
                <a:solidFill>
                  <a:schemeClr val="bg1"/>
                </a:solidFill>
                <a:latin typeface="Times New Roman" panose="02020603050405020304" pitchFamily="18" charset="0"/>
                <a:cs typeface="Times New Roman" panose="02020603050405020304" pitchFamily="18" charset="0"/>
              </a:rPr>
              <a:t>imputasyonunda</a:t>
            </a:r>
            <a:r>
              <a:rPr lang="tr-TR" sz="1400" dirty="0">
                <a:solidFill>
                  <a:schemeClr val="bg1"/>
                </a:solidFill>
                <a:latin typeface="Times New Roman" panose="02020603050405020304" pitchFamily="18" charset="0"/>
                <a:cs typeface="Times New Roman" panose="02020603050405020304" pitchFamily="18" charset="0"/>
              </a:rPr>
              <a:t>, eksik değere sahip gözlemle benzerlik gösteren diğer gözlemlerin değerleri kullanılır.</a:t>
            </a:r>
          </a:p>
          <a:p>
            <a:pPr lvl="1">
              <a:spcAft>
                <a:spcPts val="600"/>
              </a:spcAft>
              <a:buFont typeface="+mj-lt"/>
              <a:buAutoNum type="arabicPeriod"/>
            </a:pPr>
            <a:r>
              <a:rPr lang="tr-TR" sz="1400" b="1" u="sng" dirty="0">
                <a:solidFill>
                  <a:srgbClr val="FFFF00"/>
                </a:solidFill>
                <a:latin typeface="Times New Roman" panose="02020603050405020304" pitchFamily="18" charset="0"/>
                <a:cs typeface="Times New Roman" panose="02020603050405020304" pitchFamily="18" charset="0"/>
              </a:rPr>
              <a:t> Regresyon </a:t>
            </a:r>
            <a:r>
              <a:rPr lang="tr-TR" sz="1400" b="1" u="sng" dirty="0" err="1">
                <a:solidFill>
                  <a:srgbClr val="FFFF00"/>
                </a:solidFill>
                <a:latin typeface="Times New Roman" panose="02020603050405020304" pitchFamily="18" charset="0"/>
                <a:cs typeface="Times New Roman" panose="02020603050405020304" pitchFamily="18" charset="0"/>
              </a:rPr>
              <a:t>İmputasyonu</a:t>
            </a:r>
            <a:r>
              <a:rPr lang="tr-TR" sz="1400" b="1" u="sng" dirty="0">
                <a:solidFill>
                  <a:srgbClr val="FFFF00"/>
                </a:solidFill>
                <a:latin typeface="Times New Roman" panose="02020603050405020304" pitchFamily="18" charset="0"/>
                <a:cs typeface="Times New Roman" panose="02020603050405020304" pitchFamily="18" charset="0"/>
              </a:rPr>
              <a:t>: </a:t>
            </a:r>
            <a:r>
              <a:rPr lang="tr-TR" sz="1400" dirty="0">
                <a:solidFill>
                  <a:schemeClr val="bg1"/>
                </a:solidFill>
                <a:latin typeface="Times New Roman" panose="02020603050405020304" pitchFamily="18" charset="0"/>
                <a:cs typeface="Times New Roman" panose="02020603050405020304" pitchFamily="18" charset="0"/>
              </a:rPr>
              <a:t>Eksik değerler, diğer değişkenlerin kullanıldığı bir regresyon modeli kullanılarak tahmin edilebilir. Değişkenler arasındaki ilişkileri yakalamak için regresyon analizi yapılır.</a:t>
            </a:r>
          </a:p>
          <a:p>
            <a:pPr lvl="1">
              <a:spcAft>
                <a:spcPts val="600"/>
              </a:spcAft>
              <a:buFont typeface="+mj-lt"/>
              <a:buAutoNum type="arabicPeriod"/>
            </a:pPr>
            <a:r>
              <a:rPr lang="tr-TR" sz="1400" b="1" u="sng" dirty="0">
                <a:solidFill>
                  <a:srgbClr val="FFFF00"/>
                </a:solidFill>
                <a:latin typeface="Times New Roman" panose="02020603050405020304" pitchFamily="18" charset="0"/>
                <a:cs typeface="Times New Roman" panose="02020603050405020304" pitchFamily="18" charset="0"/>
              </a:rPr>
              <a:t> Makine Öğrenmesi Tabanlı </a:t>
            </a:r>
            <a:r>
              <a:rPr lang="tr-TR" sz="1400" b="1" u="sng" dirty="0" err="1">
                <a:solidFill>
                  <a:srgbClr val="FFFF00"/>
                </a:solidFill>
                <a:latin typeface="Times New Roman" panose="02020603050405020304" pitchFamily="18" charset="0"/>
                <a:cs typeface="Times New Roman" panose="02020603050405020304" pitchFamily="18" charset="0"/>
              </a:rPr>
              <a:t>İmputasyon</a:t>
            </a:r>
            <a:r>
              <a:rPr lang="tr-TR" sz="1400" b="1" u="sng" dirty="0">
                <a:solidFill>
                  <a:srgbClr val="FFFF00"/>
                </a:solidFill>
                <a:latin typeface="Times New Roman" panose="02020603050405020304" pitchFamily="18" charset="0"/>
                <a:cs typeface="Times New Roman" panose="02020603050405020304" pitchFamily="18" charset="0"/>
              </a:rPr>
              <a:t>:</a:t>
            </a:r>
            <a:r>
              <a:rPr lang="tr-TR" sz="1400" dirty="0">
                <a:solidFill>
                  <a:schemeClr val="bg1"/>
                </a:solidFill>
                <a:latin typeface="Times New Roman" panose="02020603050405020304" pitchFamily="18" charset="0"/>
                <a:cs typeface="Times New Roman" panose="02020603050405020304" pitchFamily="18" charset="0"/>
              </a:rPr>
              <a:t> Makine öğrenme algoritmaları, eksik verilerin tahmin edilmesi için kullanılabilir. Özellikle büyük ve karmaşık veri setlerinde kullanışlı olabilirler.</a:t>
            </a:r>
          </a:p>
        </p:txBody>
      </p:sp>
    </p:spTree>
    <p:extLst>
      <p:ext uri="{BB962C8B-B14F-4D97-AF65-F5344CB8AC3E}">
        <p14:creationId xmlns:p14="http://schemas.microsoft.com/office/powerpoint/2010/main" val="2561879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2440929" y="285750"/>
            <a:ext cx="3115310" cy="321242"/>
          </a:xfrm>
          <a:prstGeom prst="rect">
            <a:avLst/>
          </a:prstGeom>
        </p:spPr>
        <p:txBody>
          <a:bodyPr vert="horz" wrap="square" lIns="0" tIns="13335" rIns="0" bIns="0" rtlCol="0">
            <a:spAutoFit/>
          </a:bodyPr>
          <a:lstStyle/>
          <a:p>
            <a:pPr marL="12700">
              <a:lnSpc>
                <a:spcPct val="100000"/>
              </a:lnSpc>
              <a:spcBef>
                <a:spcPts val="105"/>
              </a:spcBef>
            </a:pPr>
            <a:r>
              <a:rPr lang="tr-TR" sz="2000" spc="-10" dirty="0">
                <a:latin typeface="Times New Roman" panose="02020603050405020304" pitchFamily="18" charset="0"/>
                <a:cs typeface="Times New Roman" panose="02020603050405020304" pitchFamily="18" charset="0"/>
              </a:rPr>
              <a:t>Örnek Uygulama</a:t>
            </a:r>
            <a:endParaRPr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6DB6268-E4EE-75AB-E618-B0E98802CF8D}"/>
              </a:ext>
            </a:extLst>
          </p:cNvPr>
          <p:cNvSpPr txBox="1"/>
          <p:nvPr/>
        </p:nvSpPr>
        <p:spPr>
          <a:xfrm>
            <a:off x="1981200" y="686075"/>
            <a:ext cx="4572000" cy="369332"/>
          </a:xfrm>
          <a:prstGeom prst="rect">
            <a:avLst/>
          </a:prstGeom>
          <a:noFill/>
        </p:spPr>
        <p:txBody>
          <a:bodyPr wrap="square">
            <a:spAutoFit/>
          </a:bodyPr>
          <a:lstStyle/>
          <a:p>
            <a:r>
              <a:rPr lang="en-US" dirty="0">
                <a:solidFill>
                  <a:schemeClr val="bg1"/>
                </a:solidFill>
                <a:latin typeface="Times New Roman" panose="02020603050405020304" pitchFamily="18" charset="0"/>
                <a:cs typeface="Times New Roman" panose="02020603050405020304" pitchFamily="18" charset="0"/>
              </a:rPr>
              <a:t>Impute missing values with </a:t>
            </a:r>
            <a:r>
              <a:rPr lang="en-US" dirty="0">
                <a:solidFill>
                  <a:srgbClr val="FFFF00"/>
                </a:solidFill>
                <a:latin typeface="Times New Roman" panose="02020603050405020304" pitchFamily="18" charset="0"/>
                <a:cs typeface="Times New Roman" panose="02020603050405020304" pitchFamily="18" charset="0"/>
              </a:rPr>
              <a:t>Mean</a:t>
            </a:r>
            <a:r>
              <a:rPr lang="en-US" dirty="0">
                <a:solidFill>
                  <a:schemeClr val="bg1"/>
                </a:solidFill>
                <a:latin typeface="Times New Roman" panose="02020603050405020304" pitchFamily="18" charset="0"/>
                <a:cs typeface="Times New Roman" panose="02020603050405020304" pitchFamily="18" charset="0"/>
              </a:rPr>
              <a:t>:</a:t>
            </a:r>
            <a:r>
              <a:rPr lang="tr-TR" dirty="0">
                <a:solidFill>
                  <a:schemeClr val="bg1"/>
                </a:solidFill>
                <a:latin typeface="Times New Roman" panose="02020603050405020304" pitchFamily="18" charset="0"/>
                <a:cs typeface="Times New Roman" panose="02020603050405020304" pitchFamily="18" charset="0"/>
              </a:rPr>
              <a:t> Method-1</a:t>
            </a:r>
          </a:p>
        </p:txBody>
      </p:sp>
      <p:sp>
        <p:nvSpPr>
          <p:cNvPr id="8" name="TextBox 7">
            <a:extLst>
              <a:ext uri="{FF2B5EF4-FFF2-40B4-BE49-F238E27FC236}">
                <a16:creationId xmlns:a16="http://schemas.microsoft.com/office/drawing/2014/main" id="{24C2234E-8885-BB4F-14A3-B0BECE75409A}"/>
              </a:ext>
            </a:extLst>
          </p:cNvPr>
          <p:cNvSpPr txBox="1"/>
          <p:nvPr/>
        </p:nvSpPr>
        <p:spPr>
          <a:xfrm>
            <a:off x="152400" y="1098135"/>
            <a:ext cx="8839200" cy="830997"/>
          </a:xfrm>
          <a:prstGeom prst="rect">
            <a:avLst/>
          </a:prstGeom>
          <a:noFill/>
        </p:spPr>
        <p:txBody>
          <a:bodyPr wrap="square">
            <a:spAutoFit/>
          </a:bodyPr>
          <a:lstStyle/>
          <a:p>
            <a:r>
              <a:rPr lang="tr-TR" sz="1200" dirty="0" err="1">
                <a:solidFill>
                  <a:schemeClr val="bg1"/>
                </a:solidFill>
                <a:latin typeface="Times New Roman" panose="02020603050405020304" pitchFamily="18" charset="0"/>
                <a:cs typeface="Times New Roman" panose="02020603050405020304" pitchFamily="18" charset="0"/>
              </a:rPr>
              <a:t>meandata</a:t>
            </a:r>
            <a:r>
              <a:rPr lang="tr-TR" sz="1200" dirty="0">
                <a:solidFill>
                  <a:schemeClr val="bg1"/>
                </a:solidFill>
                <a:latin typeface="Times New Roman" panose="02020603050405020304" pitchFamily="18" charset="0"/>
                <a:cs typeface="Times New Roman" panose="02020603050405020304" pitchFamily="18" charset="0"/>
              </a:rPr>
              <a:t>=</a:t>
            </a:r>
            <a:r>
              <a:rPr lang="tr-TR" sz="1200" dirty="0" err="1">
                <a:solidFill>
                  <a:schemeClr val="bg1"/>
                </a:solidFill>
                <a:latin typeface="Times New Roman" panose="02020603050405020304" pitchFamily="18" charset="0"/>
                <a:cs typeface="Times New Roman" panose="02020603050405020304" pitchFamily="18" charset="0"/>
              </a:rPr>
              <a:t>pd.read_csv</a:t>
            </a:r>
            <a:r>
              <a:rPr lang="tr-TR" sz="1200" dirty="0">
                <a:solidFill>
                  <a:schemeClr val="bg1"/>
                </a:solidFill>
                <a:latin typeface="Times New Roman" panose="02020603050405020304" pitchFamily="18" charset="0"/>
                <a:cs typeface="Times New Roman" panose="02020603050405020304" pitchFamily="18" charset="0"/>
              </a:rPr>
              <a:t>('data/bikedetails.csv')</a:t>
            </a:r>
          </a:p>
          <a:p>
            <a:r>
              <a:rPr lang="tr-TR" sz="1200" dirty="0" err="1">
                <a:solidFill>
                  <a:schemeClr val="bg1"/>
                </a:solidFill>
                <a:latin typeface="Times New Roman" panose="02020603050405020304" pitchFamily="18" charset="0"/>
                <a:cs typeface="Times New Roman" panose="02020603050405020304" pitchFamily="18" charset="0"/>
              </a:rPr>
              <a:t>print</a:t>
            </a:r>
            <a:r>
              <a:rPr lang="tr-TR" sz="1200" dirty="0">
                <a:solidFill>
                  <a:schemeClr val="bg1"/>
                </a:solidFill>
                <a:latin typeface="Times New Roman" panose="02020603050405020304" pitchFamily="18" charset="0"/>
                <a:cs typeface="Times New Roman" panose="02020603050405020304" pitchFamily="18" charset="0"/>
              </a:rPr>
              <a:t>(</a:t>
            </a:r>
            <a:r>
              <a:rPr lang="tr-TR" sz="1200" dirty="0" err="1">
                <a:solidFill>
                  <a:schemeClr val="bg1"/>
                </a:solidFill>
                <a:latin typeface="Times New Roman" panose="02020603050405020304" pitchFamily="18" charset="0"/>
                <a:cs typeface="Times New Roman" panose="02020603050405020304" pitchFamily="18" charset="0"/>
              </a:rPr>
              <a:t>meandata</a:t>
            </a:r>
            <a:r>
              <a:rPr lang="tr-TR" sz="1200" dirty="0">
                <a:solidFill>
                  <a:schemeClr val="bg1"/>
                </a:solidFill>
                <a:latin typeface="Times New Roman" panose="02020603050405020304" pitchFamily="18" charset="0"/>
                <a:cs typeface="Times New Roman" panose="02020603050405020304" pitchFamily="18" charset="0"/>
              </a:rPr>
              <a:t>["</a:t>
            </a:r>
            <a:r>
              <a:rPr lang="tr-TR" sz="1200" dirty="0" err="1">
                <a:solidFill>
                  <a:schemeClr val="bg1"/>
                </a:solidFill>
                <a:latin typeface="Times New Roman" panose="02020603050405020304" pitchFamily="18" charset="0"/>
                <a:cs typeface="Times New Roman" panose="02020603050405020304" pitchFamily="18" charset="0"/>
              </a:rPr>
              <a:t>ex_showroom_price</a:t>
            </a:r>
            <a:r>
              <a:rPr lang="tr-TR" sz="1200" dirty="0">
                <a:solidFill>
                  <a:schemeClr val="bg1"/>
                </a:solidFill>
                <a:latin typeface="Times New Roman" panose="02020603050405020304" pitchFamily="18" charset="0"/>
                <a:cs typeface="Times New Roman" panose="02020603050405020304" pitchFamily="18" charset="0"/>
              </a:rPr>
              <a:t>"][:20])</a:t>
            </a:r>
          </a:p>
          <a:p>
            <a:r>
              <a:rPr lang="tr-TR" sz="1200" dirty="0" err="1">
                <a:solidFill>
                  <a:srgbClr val="FFFF00"/>
                </a:solidFill>
                <a:latin typeface="Times New Roman" panose="02020603050405020304" pitchFamily="18" charset="0"/>
                <a:cs typeface="Times New Roman" panose="02020603050405020304" pitchFamily="18" charset="0"/>
              </a:rPr>
              <a:t>meandata</a:t>
            </a:r>
            <a:r>
              <a:rPr lang="tr-TR" sz="1200" dirty="0">
                <a:solidFill>
                  <a:srgbClr val="FFFF00"/>
                </a:solidFill>
                <a:latin typeface="Times New Roman" panose="02020603050405020304" pitchFamily="18" charset="0"/>
                <a:cs typeface="Times New Roman" panose="02020603050405020304" pitchFamily="18" charset="0"/>
              </a:rPr>
              <a:t>["</a:t>
            </a:r>
            <a:r>
              <a:rPr lang="tr-TR" sz="1200" dirty="0" err="1">
                <a:solidFill>
                  <a:srgbClr val="FFFF00"/>
                </a:solidFill>
                <a:latin typeface="Times New Roman" panose="02020603050405020304" pitchFamily="18" charset="0"/>
                <a:cs typeface="Times New Roman" panose="02020603050405020304" pitchFamily="18" charset="0"/>
              </a:rPr>
              <a:t>ex_showroom_price</a:t>
            </a:r>
            <a:r>
              <a:rPr lang="tr-TR" sz="1200" dirty="0">
                <a:solidFill>
                  <a:srgbClr val="FFFF00"/>
                </a:solidFill>
                <a:latin typeface="Times New Roman" panose="02020603050405020304" pitchFamily="18" charset="0"/>
                <a:cs typeface="Times New Roman" panose="02020603050405020304" pitchFamily="18" charset="0"/>
              </a:rPr>
              <a:t>"]=</a:t>
            </a:r>
            <a:r>
              <a:rPr lang="tr-TR" sz="1200" dirty="0" err="1">
                <a:solidFill>
                  <a:srgbClr val="FFFF00"/>
                </a:solidFill>
                <a:latin typeface="Times New Roman" panose="02020603050405020304" pitchFamily="18" charset="0"/>
                <a:cs typeface="Times New Roman" panose="02020603050405020304" pitchFamily="18" charset="0"/>
              </a:rPr>
              <a:t>meandata</a:t>
            </a:r>
            <a:r>
              <a:rPr lang="tr-TR" sz="1200" dirty="0">
                <a:solidFill>
                  <a:srgbClr val="FFFF00"/>
                </a:solidFill>
                <a:latin typeface="Times New Roman" panose="02020603050405020304" pitchFamily="18" charset="0"/>
                <a:cs typeface="Times New Roman" panose="02020603050405020304" pitchFamily="18" charset="0"/>
              </a:rPr>
              <a:t>["</a:t>
            </a:r>
            <a:r>
              <a:rPr lang="tr-TR" sz="1200" dirty="0" err="1">
                <a:solidFill>
                  <a:srgbClr val="FFFF00"/>
                </a:solidFill>
                <a:latin typeface="Times New Roman" panose="02020603050405020304" pitchFamily="18" charset="0"/>
                <a:cs typeface="Times New Roman" panose="02020603050405020304" pitchFamily="18" charset="0"/>
              </a:rPr>
              <a:t>ex_showroom_price</a:t>
            </a:r>
            <a:r>
              <a:rPr lang="tr-TR" sz="1200" dirty="0">
                <a:solidFill>
                  <a:srgbClr val="FFFF00"/>
                </a:solidFill>
                <a:latin typeface="Times New Roman" panose="02020603050405020304" pitchFamily="18" charset="0"/>
                <a:cs typeface="Times New Roman" panose="02020603050405020304" pitchFamily="18" charset="0"/>
              </a:rPr>
              <a:t>"].</a:t>
            </a:r>
            <a:r>
              <a:rPr lang="tr-TR" sz="1200" dirty="0" err="1">
                <a:solidFill>
                  <a:srgbClr val="FFFF00"/>
                </a:solidFill>
                <a:latin typeface="Times New Roman" panose="02020603050405020304" pitchFamily="18" charset="0"/>
                <a:cs typeface="Times New Roman" panose="02020603050405020304" pitchFamily="18" charset="0"/>
              </a:rPr>
              <a:t>replace</a:t>
            </a:r>
            <a:r>
              <a:rPr lang="tr-TR" sz="1200" dirty="0">
                <a:solidFill>
                  <a:srgbClr val="FFFF00"/>
                </a:solidFill>
                <a:latin typeface="Times New Roman" panose="02020603050405020304" pitchFamily="18" charset="0"/>
                <a:cs typeface="Times New Roman" panose="02020603050405020304" pitchFamily="18" charset="0"/>
              </a:rPr>
              <a:t>(</a:t>
            </a:r>
            <a:r>
              <a:rPr lang="tr-TR" sz="1200" dirty="0" err="1">
                <a:solidFill>
                  <a:srgbClr val="FFFF00"/>
                </a:solidFill>
                <a:latin typeface="Times New Roman" panose="02020603050405020304" pitchFamily="18" charset="0"/>
                <a:cs typeface="Times New Roman" panose="02020603050405020304" pitchFamily="18" charset="0"/>
              </a:rPr>
              <a:t>np.NAN,meandata</a:t>
            </a:r>
            <a:r>
              <a:rPr lang="tr-TR" sz="1200" dirty="0">
                <a:solidFill>
                  <a:srgbClr val="FFFF00"/>
                </a:solidFill>
                <a:latin typeface="Times New Roman" panose="02020603050405020304" pitchFamily="18" charset="0"/>
                <a:cs typeface="Times New Roman" panose="02020603050405020304" pitchFamily="18" charset="0"/>
              </a:rPr>
              <a:t>["</a:t>
            </a:r>
            <a:r>
              <a:rPr lang="tr-TR" sz="1200" dirty="0" err="1">
                <a:solidFill>
                  <a:srgbClr val="FFFF00"/>
                </a:solidFill>
                <a:latin typeface="Times New Roman" panose="02020603050405020304" pitchFamily="18" charset="0"/>
                <a:cs typeface="Times New Roman" panose="02020603050405020304" pitchFamily="18" charset="0"/>
              </a:rPr>
              <a:t>ex_showroom_price</a:t>
            </a:r>
            <a:r>
              <a:rPr lang="tr-TR" sz="1200" dirty="0">
                <a:solidFill>
                  <a:srgbClr val="FFFF00"/>
                </a:solidFill>
                <a:latin typeface="Times New Roman" panose="02020603050405020304" pitchFamily="18" charset="0"/>
                <a:cs typeface="Times New Roman" panose="02020603050405020304" pitchFamily="18" charset="0"/>
              </a:rPr>
              <a:t>"].</a:t>
            </a:r>
            <a:r>
              <a:rPr lang="tr-TR" sz="1200" dirty="0" err="1">
                <a:solidFill>
                  <a:srgbClr val="FFFF00"/>
                </a:solidFill>
                <a:latin typeface="Times New Roman" panose="02020603050405020304" pitchFamily="18" charset="0"/>
                <a:cs typeface="Times New Roman" panose="02020603050405020304" pitchFamily="18" charset="0"/>
              </a:rPr>
              <a:t>mean</a:t>
            </a:r>
            <a:r>
              <a:rPr lang="tr-TR" sz="1200" dirty="0">
                <a:solidFill>
                  <a:srgbClr val="FFFF00"/>
                </a:solidFill>
                <a:latin typeface="Times New Roman" panose="02020603050405020304" pitchFamily="18" charset="0"/>
                <a:cs typeface="Times New Roman" panose="02020603050405020304" pitchFamily="18" charset="0"/>
              </a:rPr>
              <a:t>())</a:t>
            </a:r>
          </a:p>
          <a:p>
            <a:r>
              <a:rPr lang="tr-TR" sz="1200" dirty="0" err="1">
                <a:solidFill>
                  <a:schemeClr val="bg1"/>
                </a:solidFill>
                <a:latin typeface="Times New Roman" panose="02020603050405020304" pitchFamily="18" charset="0"/>
                <a:cs typeface="Times New Roman" panose="02020603050405020304" pitchFamily="18" charset="0"/>
              </a:rPr>
              <a:t>print</a:t>
            </a:r>
            <a:r>
              <a:rPr lang="tr-TR" sz="1200" dirty="0">
                <a:solidFill>
                  <a:schemeClr val="bg1"/>
                </a:solidFill>
                <a:latin typeface="Times New Roman" panose="02020603050405020304" pitchFamily="18" charset="0"/>
                <a:cs typeface="Times New Roman" panose="02020603050405020304" pitchFamily="18" charset="0"/>
              </a:rPr>
              <a:t>(</a:t>
            </a:r>
            <a:r>
              <a:rPr lang="tr-TR" sz="1200" dirty="0" err="1">
                <a:solidFill>
                  <a:schemeClr val="bg1"/>
                </a:solidFill>
                <a:latin typeface="Times New Roman" panose="02020603050405020304" pitchFamily="18" charset="0"/>
                <a:cs typeface="Times New Roman" panose="02020603050405020304" pitchFamily="18" charset="0"/>
              </a:rPr>
              <a:t>meandata</a:t>
            </a:r>
            <a:r>
              <a:rPr lang="tr-TR" sz="1200" dirty="0">
                <a:solidFill>
                  <a:schemeClr val="bg1"/>
                </a:solidFill>
                <a:latin typeface="Times New Roman" panose="02020603050405020304" pitchFamily="18" charset="0"/>
                <a:cs typeface="Times New Roman" panose="02020603050405020304" pitchFamily="18" charset="0"/>
              </a:rPr>
              <a:t>["</a:t>
            </a:r>
            <a:r>
              <a:rPr lang="tr-TR" sz="1200" dirty="0" err="1">
                <a:solidFill>
                  <a:schemeClr val="bg1"/>
                </a:solidFill>
                <a:latin typeface="Times New Roman" panose="02020603050405020304" pitchFamily="18" charset="0"/>
                <a:cs typeface="Times New Roman" panose="02020603050405020304" pitchFamily="18" charset="0"/>
              </a:rPr>
              <a:t>ex_showroom_price</a:t>
            </a:r>
            <a:r>
              <a:rPr lang="tr-TR" sz="1200" dirty="0">
                <a:solidFill>
                  <a:schemeClr val="bg1"/>
                </a:solidFill>
                <a:latin typeface="Times New Roman" panose="02020603050405020304" pitchFamily="18" charset="0"/>
                <a:cs typeface="Times New Roman" panose="02020603050405020304" pitchFamily="18" charset="0"/>
              </a:rPr>
              <a:t>"][:20])</a:t>
            </a:r>
          </a:p>
        </p:txBody>
      </p:sp>
      <p:cxnSp>
        <p:nvCxnSpPr>
          <p:cNvPr id="13" name="Straight Arrow Connector 12">
            <a:extLst>
              <a:ext uri="{FF2B5EF4-FFF2-40B4-BE49-F238E27FC236}">
                <a16:creationId xmlns:a16="http://schemas.microsoft.com/office/drawing/2014/main" id="{FF4BE3D1-3426-5331-E023-E60DB69AF927}"/>
              </a:ext>
            </a:extLst>
          </p:cNvPr>
          <p:cNvCxnSpPr>
            <a:cxnSpLocks/>
          </p:cNvCxnSpPr>
          <p:nvPr/>
        </p:nvCxnSpPr>
        <p:spPr>
          <a:xfrm>
            <a:off x="2065609" y="1461350"/>
            <a:ext cx="605496" cy="695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507D7D9-4FAB-29C3-94CC-1E6AA06BE447}"/>
              </a:ext>
            </a:extLst>
          </p:cNvPr>
          <p:cNvCxnSpPr>
            <a:cxnSpLocks/>
            <a:endCxn id="11" idx="0"/>
          </p:cNvCxnSpPr>
          <p:nvPr/>
        </p:nvCxnSpPr>
        <p:spPr>
          <a:xfrm>
            <a:off x="5791200" y="1762676"/>
            <a:ext cx="212945" cy="393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8C52A92D-FF34-6A82-EB6C-51EFF773434F}"/>
              </a:ext>
            </a:extLst>
          </p:cNvPr>
          <p:cNvPicPr>
            <a:picLocks noChangeAspect="1"/>
          </p:cNvPicPr>
          <p:nvPr/>
        </p:nvPicPr>
        <p:blipFill>
          <a:blip r:embed="rId2"/>
          <a:stretch>
            <a:fillRect/>
          </a:stretch>
        </p:blipFill>
        <p:spPr>
          <a:xfrm>
            <a:off x="4929898" y="2156526"/>
            <a:ext cx="2148493" cy="2448000"/>
          </a:xfrm>
          <a:prstGeom prst="rect">
            <a:avLst/>
          </a:prstGeom>
        </p:spPr>
      </p:pic>
      <p:pic>
        <p:nvPicPr>
          <p:cNvPr id="16" name="Picture 15">
            <a:extLst>
              <a:ext uri="{FF2B5EF4-FFF2-40B4-BE49-F238E27FC236}">
                <a16:creationId xmlns:a16="http://schemas.microsoft.com/office/drawing/2014/main" id="{135CEE72-8FD2-3D1F-2624-8A44AE3FB0D0}"/>
              </a:ext>
            </a:extLst>
          </p:cNvPr>
          <p:cNvPicPr>
            <a:picLocks noChangeAspect="1"/>
          </p:cNvPicPr>
          <p:nvPr/>
        </p:nvPicPr>
        <p:blipFill>
          <a:blip r:embed="rId3"/>
          <a:stretch>
            <a:fillRect/>
          </a:stretch>
        </p:blipFill>
        <p:spPr>
          <a:xfrm>
            <a:off x="1906113" y="2156526"/>
            <a:ext cx="2059341" cy="2484000"/>
          </a:xfrm>
          <a:prstGeom prst="rect">
            <a:avLst/>
          </a:prstGeom>
        </p:spPr>
      </p:pic>
    </p:spTree>
    <p:extLst>
      <p:ext uri="{BB962C8B-B14F-4D97-AF65-F5344CB8AC3E}">
        <p14:creationId xmlns:p14="http://schemas.microsoft.com/office/powerpoint/2010/main" val="697698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2440929" y="285750"/>
            <a:ext cx="3115310" cy="321242"/>
          </a:xfrm>
          <a:prstGeom prst="rect">
            <a:avLst/>
          </a:prstGeom>
        </p:spPr>
        <p:txBody>
          <a:bodyPr vert="horz" wrap="square" lIns="0" tIns="13335" rIns="0" bIns="0" rtlCol="0">
            <a:spAutoFit/>
          </a:bodyPr>
          <a:lstStyle/>
          <a:p>
            <a:pPr marL="12700">
              <a:lnSpc>
                <a:spcPct val="100000"/>
              </a:lnSpc>
              <a:spcBef>
                <a:spcPts val="105"/>
              </a:spcBef>
            </a:pPr>
            <a:r>
              <a:rPr lang="tr-TR" sz="2000" spc="-10" dirty="0">
                <a:latin typeface="Times New Roman" panose="02020603050405020304" pitchFamily="18" charset="0"/>
                <a:cs typeface="Times New Roman" panose="02020603050405020304" pitchFamily="18" charset="0"/>
              </a:rPr>
              <a:t>Örnek Uygulama</a:t>
            </a:r>
            <a:endParaRPr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6DB6268-E4EE-75AB-E618-B0E98802CF8D}"/>
              </a:ext>
            </a:extLst>
          </p:cNvPr>
          <p:cNvSpPr txBox="1"/>
          <p:nvPr/>
        </p:nvSpPr>
        <p:spPr>
          <a:xfrm>
            <a:off x="1981200" y="686075"/>
            <a:ext cx="4572000" cy="369332"/>
          </a:xfrm>
          <a:prstGeom prst="rect">
            <a:avLst/>
          </a:prstGeom>
          <a:noFill/>
        </p:spPr>
        <p:txBody>
          <a:bodyPr wrap="square">
            <a:spAutoFit/>
          </a:bodyPr>
          <a:lstStyle/>
          <a:p>
            <a:r>
              <a:rPr lang="en-US" dirty="0">
                <a:solidFill>
                  <a:schemeClr val="bg1"/>
                </a:solidFill>
                <a:latin typeface="Times New Roman" panose="02020603050405020304" pitchFamily="18" charset="0"/>
                <a:cs typeface="Times New Roman" panose="02020603050405020304" pitchFamily="18" charset="0"/>
              </a:rPr>
              <a:t>Impute missing values with </a:t>
            </a:r>
            <a:r>
              <a:rPr lang="en-US" dirty="0">
                <a:solidFill>
                  <a:srgbClr val="FFFF00"/>
                </a:solidFill>
                <a:latin typeface="Times New Roman" panose="02020603050405020304" pitchFamily="18" charset="0"/>
                <a:cs typeface="Times New Roman" panose="02020603050405020304" pitchFamily="18" charset="0"/>
              </a:rPr>
              <a:t>Mean</a:t>
            </a:r>
            <a:r>
              <a:rPr lang="en-US" dirty="0">
                <a:solidFill>
                  <a:schemeClr val="bg1"/>
                </a:solidFill>
                <a:latin typeface="Times New Roman" panose="02020603050405020304" pitchFamily="18" charset="0"/>
                <a:cs typeface="Times New Roman" panose="02020603050405020304" pitchFamily="18" charset="0"/>
              </a:rPr>
              <a:t>:</a:t>
            </a:r>
            <a:r>
              <a:rPr lang="tr-TR" dirty="0">
                <a:solidFill>
                  <a:schemeClr val="bg1"/>
                </a:solidFill>
                <a:latin typeface="Times New Roman" panose="02020603050405020304" pitchFamily="18" charset="0"/>
                <a:cs typeface="Times New Roman" panose="02020603050405020304" pitchFamily="18" charset="0"/>
              </a:rPr>
              <a:t> Method-2</a:t>
            </a:r>
          </a:p>
        </p:txBody>
      </p:sp>
      <p:sp>
        <p:nvSpPr>
          <p:cNvPr id="8" name="TextBox 7">
            <a:extLst>
              <a:ext uri="{FF2B5EF4-FFF2-40B4-BE49-F238E27FC236}">
                <a16:creationId xmlns:a16="http://schemas.microsoft.com/office/drawing/2014/main" id="{24C2234E-8885-BB4F-14A3-B0BECE75409A}"/>
              </a:ext>
            </a:extLst>
          </p:cNvPr>
          <p:cNvSpPr txBox="1"/>
          <p:nvPr/>
        </p:nvSpPr>
        <p:spPr>
          <a:xfrm>
            <a:off x="152400" y="1098135"/>
            <a:ext cx="8839200" cy="2644442"/>
          </a:xfrm>
          <a:prstGeom prst="rect">
            <a:avLst/>
          </a:prstGeom>
          <a:no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from </a:t>
            </a:r>
            <a:r>
              <a:rPr lang="en-US" sz="1200" dirty="0" err="1">
                <a:solidFill>
                  <a:schemeClr val="bg1"/>
                </a:solidFill>
                <a:latin typeface="Courier New" panose="02070309020205020404" pitchFamily="49" charset="0"/>
                <a:cs typeface="Courier New" panose="02070309020205020404" pitchFamily="49" charset="0"/>
              </a:rPr>
              <a:t>sklearn.impute</a:t>
            </a:r>
            <a:r>
              <a:rPr lang="en-US" sz="1200" dirty="0">
                <a:solidFill>
                  <a:schemeClr val="bg1"/>
                </a:solidFill>
                <a:latin typeface="Courier New" panose="02070309020205020404" pitchFamily="49" charset="0"/>
                <a:cs typeface="Courier New" panose="02070309020205020404" pitchFamily="49" charset="0"/>
              </a:rPr>
              <a:t> import </a:t>
            </a:r>
            <a:r>
              <a:rPr lang="en-US" sz="1200" dirty="0" err="1">
                <a:solidFill>
                  <a:schemeClr val="bg1"/>
                </a:solidFill>
                <a:latin typeface="Courier New" panose="02070309020205020404" pitchFamily="49" charset="0"/>
                <a:cs typeface="Courier New" panose="02070309020205020404" pitchFamily="49" charset="0"/>
              </a:rPr>
              <a:t>SimpleImputer</a:t>
            </a:r>
            <a:endParaRPr lang="tr-TR" sz="1200" dirty="0">
              <a:solidFill>
                <a:schemeClr val="bg1"/>
              </a:solidFill>
              <a:latin typeface="Courier New" panose="02070309020205020404" pitchFamily="49" charset="0"/>
              <a:cs typeface="Courier New" panose="02070309020205020404" pitchFamily="49" charset="0"/>
            </a:endParaRPr>
          </a:p>
          <a:p>
            <a:r>
              <a:rPr lang="tr-TR" sz="1200" dirty="0" err="1">
                <a:solidFill>
                  <a:schemeClr val="bg1"/>
                </a:solidFill>
                <a:latin typeface="Courier New" panose="02070309020205020404" pitchFamily="49" charset="0"/>
                <a:cs typeface="Courier New" panose="02070309020205020404" pitchFamily="49" charset="0"/>
              </a:rPr>
              <a:t>import</a:t>
            </a:r>
            <a:r>
              <a:rPr lang="tr-TR" sz="1200" dirty="0">
                <a:solidFill>
                  <a:schemeClr val="bg1"/>
                </a:solidFill>
                <a:latin typeface="Courier New" panose="02070309020205020404" pitchFamily="49" charset="0"/>
                <a:cs typeface="Courier New" panose="02070309020205020404" pitchFamily="49" charset="0"/>
              </a:rPr>
              <a:t> </a:t>
            </a:r>
            <a:r>
              <a:rPr lang="tr-TR" sz="1200" dirty="0" err="1">
                <a:solidFill>
                  <a:schemeClr val="bg1"/>
                </a:solidFill>
                <a:latin typeface="Courier New" panose="02070309020205020404" pitchFamily="49" charset="0"/>
                <a:cs typeface="Courier New" panose="02070309020205020404" pitchFamily="49" charset="0"/>
              </a:rPr>
              <a:t>pandas</a:t>
            </a:r>
            <a:r>
              <a:rPr lang="tr-TR" sz="1200" dirty="0">
                <a:solidFill>
                  <a:schemeClr val="bg1"/>
                </a:solidFill>
                <a:latin typeface="Courier New" panose="02070309020205020404" pitchFamily="49" charset="0"/>
                <a:cs typeface="Courier New" panose="02070309020205020404" pitchFamily="49" charset="0"/>
              </a:rPr>
              <a:t> as </a:t>
            </a:r>
            <a:r>
              <a:rPr lang="tr-TR" sz="1200" dirty="0" err="1">
                <a:solidFill>
                  <a:schemeClr val="bg1"/>
                </a:solidFill>
                <a:latin typeface="Courier New" panose="02070309020205020404" pitchFamily="49" charset="0"/>
                <a:cs typeface="Courier New" panose="02070309020205020404" pitchFamily="49" charset="0"/>
              </a:rPr>
              <a:t>pd</a:t>
            </a:r>
            <a:endParaRPr lang="tr-TR" sz="1200" dirty="0">
              <a:solidFill>
                <a:schemeClr val="bg1"/>
              </a:solidFill>
              <a:latin typeface="Courier New" panose="02070309020205020404" pitchFamily="49" charset="0"/>
              <a:cs typeface="Courier New" panose="02070309020205020404" pitchFamily="49" charset="0"/>
            </a:endParaRPr>
          </a:p>
          <a:p>
            <a:r>
              <a:rPr lang="tr-TR" sz="1200" dirty="0" err="1">
                <a:solidFill>
                  <a:schemeClr val="bg1"/>
                </a:solidFill>
                <a:latin typeface="Courier New" panose="02070309020205020404" pitchFamily="49" charset="0"/>
                <a:cs typeface="Courier New" panose="02070309020205020404" pitchFamily="49" charset="0"/>
              </a:rPr>
              <a:t>import</a:t>
            </a:r>
            <a:r>
              <a:rPr lang="tr-TR" sz="1200" dirty="0">
                <a:solidFill>
                  <a:schemeClr val="bg1"/>
                </a:solidFill>
                <a:latin typeface="Courier New" panose="02070309020205020404" pitchFamily="49" charset="0"/>
                <a:cs typeface="Courier New" panose="02070309020205020404" pitchFamily="49" charset="0"/>
              </a:rPr>
              <a:t> </a:t>
            </a:r>
            <a:r>
              <a:rPr lang="tr-TR" sz="1200" dirty="0" err="1">
                <a:solidFill>
                  <a:schemeClr val="bg1"/>
                </a:solidFill>
                <a:latin typeface="Courier New" panose="02070309020205020404" pitchFamily="49" charset="0"/>
                <a:cs typeface="Courier New" panose="02070309020205020404" pitchFamily="49" charset="0"/>
              </a:rPr>
              <a:t>numpy</a:t>
            </a:r>
            <a:r>
              <a:rPr lang="tr-TR" sz="1200" dirty="0">
                <a:solidFill>
                  <a:schemeClr val="bg1"/>
                </a:solidFill>
                <a:latin typeface="Courier New" panose="02070309020205020404" pitchFamily="49" charset="0"/>
                <a:cs typeface="Courier New" panose="02070309020205020404" pitchFamily="49" charset="0"/>
              </a:rPr>
              <a:t> as </a:t>
            </a:r>
            <a:r>
              <a:rPr lang="tr-TR" sz="1200" dirty="0" err="1">
                <a:solidFill>
                  <a:schemeClr val="bg1"/>
                </a:solidFill>
                <a:latin typeface="Courier New" panose="02070309020205020404" pitchFamily="49" charset="0"/>
                <a:cs typeface="Courier New" panose="02070309020205020404" pitchFamily="49" charset="0"/>
              </a:rPr>
              <a:t>np</a:t>
            </a:r>
            <a:endParaRPr lang="tr-TR" sz="1200" dirty="0">
              <a:solidFill>
                <a:schemeClr val="bg1"/>
              </a:solidFill>
              <a:latin typeface="Courier New" panose="02070309020205020404" pitchFamily="49" charset="0"/>
              <a:cs typeface="Courier New" panose="02070309020205020404" pitchFamily="49" charset="0"/>
            </a:endParaRPr>
          </a:p>
          <a:p>
            <a:endParaRPr lang="tr-TR" sz="1200" dirty="0">
              <a:solidFill>
                <a:schemeClr val="bg1"/>
              </a:solidFill>
              <a:latin typeface="Courier New" panose="02070309020205020404" pitchFamily="49" charset="0"/>
              <a:cs typeface="Courier New" panose="02070309020205020404" pitchFamily="49" charset="0"/>
            </a:endParaRPr>
          </a:p>
          <a:p>
            <a:r>
              <a:rPr lang="tr-TR" sz="1200" dirty="0">
                <a:solidFill>
                  <a:schemeClr val="bg1"/>
                </a:solidFill>
                <a:latin typeface="Courier New" panose="02070309020205020404" pitchFamily="49" charset="0"/>
                <a:cs typeface="Courier New" panose="02070309020205020404" pitchFamily="49" charset="0"/>
              </a:rPr>
              <a:t>#--------Method-2-----------</a:t>
            </a: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meandata</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pd.read_csv</a:t>
            </a:r>
            <a:r>
              <a:rPr lang="tr-TR" sz="1200" dirty="0">
                <a:solidFill>
                  <a:schemeClr val="bg1"/>
                </a:solidFill>
                <a:latin typeface="Courier New" panose="02070309020205020404" pitchFamily="49" charset="0"/>
                <a:cs typeface="Courier New" panose="02070309020205020404" pitchFamily="49" charset="0"/>
              </a:rPr>
              <a:t>('data/bikedetails.csv')</a:t>
            </a: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print</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meandata</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ex_showroom_price</a:t>
            </a:r>
            <a:r>
              <a:rPr lang="tr-TR" sz="1200" dirty="0">
                <a:solidFill>
                  <a:schemeClr val="bg1"/>
                </a:solidFill>
                <a:latin typeface="Courier New" panose="02070309020205020404" pitchFamily="49" charset="0"/>
                <a:cs typeface="Courier New" panose="02070309020205020404" pitchFamily="49" charset="0"/>
              </a:rPr>
              <a:t>"][:20])</a:t>
            </a:r>
          </a:p>
          <a:p>
            <a:pPr>
              <a:lnSpc>
                <a:spcPct val="150000"/>
              </a:lnSpc>
            </a:pPr>
            <a:r>
              <a:rPr lang="tr-TR" sz="1200" dirty="0" err="1">
                <a:solidFill>
                  <a:srgbClr val="FFFF00"/>
                </a:solidFill>
                <a:latin typeface="Courier New" panose="02070309020205020404" pitchFamily="49" charset="0"/>
                <a:cs typeface="Courier New" panose="02070309020205020404" pitchFamily="49" charset="0"/>
              </a:rPr>
              <a:t>fea_transformer</a:t>
            </a:r>
            <a:r>
              <a:rPr lang="tr-TR" sz="1200" dirty="0">
                <a:solidFill>
                  <a:srgbClr val="FFFF00"/>
                </a:solidFill>
                <a:latin typeface="Courier New" panose="02070309020205020404" pitchFamily="49" charset="0"/>
                <a:cs typeface="Courier New" panose="02070309020205020404" pitchFamily="49" charset="0"/>
              </a:rPr>
              <a:t> = </a:t>
            </a:r>
            <a:r>
              <a:rPr lang="tr-TR" sz="1200" dirty="0" err="1">
                <a:solidFill>
                  <a:srgbClr val="FFFF00"/>
                </a:solidFill>
                <a:latin typeface="Courier New" panose="02070309020205020404" pitchFamily="49" charset="0"/>
                <a:cs typeface="Courier New" panose="02070309020205020404" pitchFamily="49" charset="0"/>
              </a:rPr>
              <a:t>SimpleImputer</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strategy</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mean</a:t>
            </a:r>
            <a:r>
              <a:rPr lang="tr-TR" sz="1200" dirty="0">
                <a:solidFill>
                  <a:srgbClr val="FFFF00"/>
                </a:solidFill>
                <a:latin typeface="Courier New" panose="02070309020205020404" pitchFamily="49" charset="0"/>
                <a:cs typeface="Courier New" panose="02070309020205020404" pitchFamily="49" charset="0"/>
              </a:rPr>
              <a:t>")</a:t>
            </a:r>
          </a:p>
          <a:p>
            <a:pPr>
              <a:lnSpc>
                <a:spcPct val="150000"/>
              </a:lnSpc>
            </a:pPr>
            <a:r>
              <a:rPr lang="tr-TR" sz="1200" dirty="0" err="1">
                <a:solidFill>
                  <a:srgbClr val="FFFF00"/>
                </a:solidFill>
                <a:latin typeface="Courier New" panose="02070309020205020404" pitchFamily="49" charset="0"/>
                <a:cs typeface="Courier New" panose="02070309020205020404" pitchFamily="49" charset="0"/>
              </a:rPr>
              <a:t>values</a:t>
            </a:r>
            <a:r>
              <a:rPr lang="tr-TR" sz="1200" dirty="0">
                <a:solidFill>
                  <a:srgbClr val="FFFF00"/>
                </a:solidFill>
                <a:latin typeface="Courier New" panose="02070309020205020404" pitchFamily="49" charset="0"/>
                <a:cs typeface="Courier New" panose="02070309020205020404" pitchFamily="49" charset="0"/>
              </a:rPr>
              <a:t> = </a:t>
            </a:r>
            <a:r>
              <a:rPr lang="tr-TR" sz="1200" dirty="0" err="1">
                <a:solidFill>
                  <a:srgbClr val="FFFF00"/>
                </a:solidFill>
                <a:latin typeface="Courier New" panose="02070309020205020404" pitchFamily="49" charset="0"/>
                <a:cs typeface="Courier New" panose="02070309020205020404" pitchFamily="49" charset="0"/>
              </a:rPr>
              <a:t>fea_transformer.fit_transform</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meandata</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ex_showroom_price</a:t>
            </a:r>
            <a:r>
              <a:rPr lang="tr-TR" sz="1200" dirty="0">
                <a:solidFill>
                  <a:srgbClr val="FFFF00"/>
                </a:solidFill>
                <a:latin typeface="Courier New" panose="02070309020205020404" pitchFamily="49" charset="0"/>
                <a:cs typeface="Courier New" panose="02070309020205020404" pitchFamily="49" charset="0"/>
              </a:rPr>
              <a:t>"]])</a:t>
            </a: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meandata</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ex_showroom_price</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pd.DataFrame</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values</a:t>
            </a:r>
            <a:r>
              <a:rPr lang="tr-TR" sz="1200" dirty="0">
                <a:solidFill>
                  <a:schemeClr val="bg1"/>
                </a:solidFill>
                <a:latin typeface="Courier New" panose="02070309020205020404" pitchFamily="49" charset="0"/>
                <a:cs typeface="Courier New" panose="02070309020205020404" pitchFamily="49" charset="0"/>
              </a:rPr>
              <a:t>)</a:t>
            </a: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print</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meandata</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ex_showroom_price</a:t>
            </a:r>
            <a:r>
              <a:rPr lang="tr-TR" sz="1200" dirty="0">
                <a:solidFill>
                  <a:schemeClr val="bg1"/>
                </a:solidFill>
                <a:latin typeface="Courier New" panose="02070309020205020404" pitchFamily="49" charset="0"/>
                <a:cs typeface="Courier New" panose="02070309020205020404" pitchFamily="49" charset="0"/>
              </a:rPr>
              <a:t>"][:20])</a:t>
            </a:r>
          </a:p>
        </p:txBody>
      </p:sp>
    </p:spTree>
    <p:extLst>
      <p:ext uri="{BB962C8B-B14F-4D97-AF65-F5344CB8AC3E}">
        <p14:creationId xmlns:p14="http://schemas.microsoft.com/office/powerpoint/2010/main" val="2530092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2438400" y="86316"/>
            <a:ext cx="3115310" cy="321242"/>
          </a:xfrm>
          <a:prstGeom prst="rect">
            <a:avLst/>
          </a:prstGeom>
        </p:spPr>
        <p:txBody>
          <a:bodyPr vert="horz" wrap="square" lIns="0" tIns="13335" rIns="0" bIns="0" rtlCol="0">
            <a:spAutoFit/>
          </a:bodyPr>
          <a:lstStyle/>
          <a:p>
            <a:pPr marL="12700">
              <a:lnSpc>
                <a:spcPct val="100000"/>
              </a:lnSpc>
              <a:spcBef>
                <a:spcPts val="105"/>
              </a:spcBef>
            </a:pPr>
            <a:r>
              <a:rPr lang="tr-TR" sz="2000" spc="-10" dirty="0">
                <a:latin typeface="Times New Roman" panose="02020603050405020304" pitchFamily="18" charset="0"/>
                <a:cs typeface="Times New Roman" panose="02020603050405020304" pitchFamily="18" charset="0"/>
              </a:rPr>
              <a:t>Örnek Uygulama</a:t>
            </a:r>
            <a:endParaRPr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6DB6268-E4EE-75AB-E618-B0E98802CF8D}"/>
              </a:ext>
            </a:extLst>
          </p:cNvPr>
          <p:cNvSpPr txBox="1"/>
          <p:nvPr/>
        </p:nvSpPr>
        <p:spPr>
          <a:xfrm>
            <a:off x="1371600" y="297418"/>
            <a:ext cx="4572000" cy="369332"/>
          </a:xfrm>
          <a:prstGeom prst="rect">
            <a:avLst/>
          </a:prstGeom>
          <a:noFill/>
        </p:spPr>
        <p:txBody>
          <a:bodyPr wrap="square">
            <a:spAutoFit/>
          </a:bodyPr>
          <a:lstStyle/>
          <a:p>
            <a:r>
              <a:rPr lang="en-US" dirty="0">
                <a:solidFill>
                  <a:schemeClr val="bg1"/>
                </a:solidFill>
                <a:latin typeface="Times New Roman" panose="02020603050405020304" pitchFamily="18" charset="0"/>
                <a:cs typeface="Times New Roman" panose="02020603050405020304" pitchFamily="18" charset="0"/>
              </a:rPr>
              <a:t>Impute missing values with </a:t>
            </a:r>
            <a:r>
              <a:rPr lang="en-US" dirty="0">
                <a:solidFill>
                  <a:srgbClr val="FFFF00"/>
                </a:solidFill>
                <a:latin typeface="Times New Roman" panose="02020603050405020304" pitchFamily="18" charset="0"/>
                <a:cs typeface="Times New Roman" panose="02020603050405020304" pitchFamily="18" charset="0"/>
              </a:rPr>
              <a:t>Me</a:t>
            </a:r>
            <a:r>
              <a:rPr lang="tr-TR" dirty="0">
                <a:solidFill>
                  <a:srgbClr val="FFFF00"/>
                </a:solidFill>
                <a:latin typeface="Times New Roman" panose="02020603050405020304" pitchFamily="18" charset="0"/>
                <a:cs typeface="Times New Roman" panose="02020603050405020304" pitchFamily="18" charset="0"/>
              </a:rPr>
              <a:t>dian</a:t>
            </a:r>
            <a:r>
              <a:rPr lang="en-US" dirty="0">
                <a:solidFill>
                  <a:schemeClr val="bg1"/>
                </a:solidFill>
                <a:latin typeface="Times New Roman" panose="02020603050405020304" pitchFamily="18" charset="0"/>
                <a:cs typeface="Times New Roman" panose="02020603050405020304" pitchFamily="18" charset="0"/>
              </a:rPr>
              <a:t>:</a:t>
            </a:r>
            <a:endParaRPr lang="tr-TR"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4C2234E-8885-BB4F-14A3-B0BECE75409A}"/>
              </a:ext>
            </a:extLst>
          </p:cNvPr>
          <p:cNvSpPr txBox="1"/>
          <p:nvPr/>
        </p:nvSpPr>
        <p:spPr>
          <a:xfrm>
            <a:off x="76200" y="514350"/>
            <a:ext cx="8839200" cy="4501232"/>
          </a:xfrm>
          <a:prstGeom prst="rect">
            <a:avLst/>
          </a:prstGeom>
          <a:noFill/>
        </p:spPr>
        <p:txBody>
          <a:bodyPr wrap="square">
            <a:spAutoFit/>
          </a:bodyPr>
          <a:lstStyle/>
          <a:p>
            <a:pPr>
              <a:lnSpc>
                <a:spcPct val="150000"/>
              </a:lnSpc>
            </a:pPr>
            <a:r>
              <a:rPr lang="tr-TR" sz="1200" dirty="0">
                <a:solidFill>
                  <a:schemeClr val="bg1"/>
                </a:solidFill>
                <a:latin typeface="Courier New" panose="02070309020205020404" pitchFamily="49" charset="0"/>
                <a:cs typeface="Courier New" panose="02070309020205020404" pitchFamily="49" charset="0"/>
              </a:rPr>
              <a:t>#--------median </a:t>
            </a:r>
            <a:r>
              <a:rPr lang="tr-TR" sz="1200" dirty="0" err="1">
                <a:solidFill>
                  <a:schemeClr val="bg1"/>
                </a:solidFill>
                <a:latin typeface="Courier New" panose="02070309020205020404" pitchFamily="49" charset="0"/>
                <a:cs typeface="Courier New" panose="02070309020205020404" pitchFamily="49" charset="0"/>
              </a:rPr>
              <a:t>imputer</a:t>
            </a:r>
            <a:r>
              <a:rPr lang="tr-TR" sz="1200" dirty="0">
                <a:solidFill>
                  <a:schemeClr val="bg1"/>
                </a:solidFill>
                <a:latin typeface="Courier New" panose="02070309020205020404" pitchFamily="49" charset="0"/>
                <a:cs typeface="Courier New" panose="02070309020205020404" pitchFamily="49" charset="0"/>
              </a:rPr>
              <a:t>-----------------------------</a:t>
            </a:r>
          </a:p>
          <a:p>
            <a:pPr>
              <a:lnSpc>
                <a:spcPct val="150000"/>
              </a:lnSpc>
            </a:pPr>
            <a:r>
              <a:rPr lang="tr-TR" sz="1200" dirty="0">
                <a:solidFill>
                  <a:schemeClr val="bg1"/>
                </a:solidFill>
                <a:latin typeface="Courier New" panose="02070309020205020404" pitchFamily="49" charset="0"/>
                <a:cs typeface="Courier New" panose="02070309020205020404" pitchFamily="49" charset="0"/>
              </a:rPr>
              <a:t>#---------Method-1</a:t>
            </a: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mediandata</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pd.read_csv</a:t>
            </a:r>
            <a:r>
              <a:rPr lang="tr-TR" sz="1200" dirty="0">
                <a:solidFill>
                  <a:schemeClr val="bg1"/>
                </a:solidFill>
                <a:latin typeface="Courier New" panose="02070309020205020404" pitchFamily="49" charset="0"/>
                <a:cs typeface="Courier New" panose="02070309020205020404" pitchFamily="49" charset="0"/>
              </a:rPr>
              <a:t>('data/bikedetails.csv')</a:t>
            </a: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print</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mediandata</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ex_showroom_price</a:t>
            </a:r>
            <a:r>
              <a:rPr lang="tr-TR" sz="1200" dirty="0">
                <a:solidFill>
                  <a:schemeClr val="bg1"/>
                </a:solidFill>
                <a:latin typeface="Courier New" panose="02070309020205020404" pitchFamily="49" charset="0"/>
                <a:cs typeface="Courier New" panose="02070309020205020404" pitchFamily="49" charset="0"/>
              </a:rPr>
              <a:t>"][:20])</a:t>
            </a:r>
          </a:p>
          <a:p>
            <a:pPr>
              <a:lnSpc>
                <a:spcPct val="150000"/>
              </a:lnSpc>
            </a:pPr>
            <a:r>
              <a:rPr lang="tr-TR" sz="1200" dirty="0" err="1">
                <a:solidFill>
                  <a:srgbClr val="FFFF00"/>
                </a:solidFill>
                <a:latin typeface="Courier New" panose="02070309020205020404" pitchFamily="49" charset="0"/>
                <a:cs typeface="Courier New" panose="02070309020205020404" pitchFamily="49" charset="0"/>
              </a:rPr>
              <a:t>mediandata</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ex_showroom_price</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mediandata</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ex_showroom_price</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replace</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np.NAN,mediandata</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ex_showroom_price</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median</a:t>
            </a:r>
            <a:r>
              <a:rPr lang="tr-TR" sz="1200" dirty="0">
                <a:solidFill>
                  <a:srgbClr val="FFFF00"/>
                </a:solidFill>
                <a:latin typeface="Courier New" panose="02070309020205020404" pitchFamily="49" charset="0"/>
                <a:cs typeface="Courier New" panose="02070309020205020404" pitchFamily="49" charset="0"/>
              </a:rPr>
              <a:t>())</a:t>
            </a: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print</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mediandata</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ex_showroom_price</a:t>
            </a:r>
            <a:r>
              <a:rPr lang="tr-TR" sz="1200" dirty="0">
                <a:solidFill>
                  <a:schemeClr val="bg1"/>
                </a:solidFill>
                <a:latin typeface="Courier New" panose="02070309020205020404" pitchFamily="49" charset="0"/>
                <a:cs typeface="Courier New" panose="02070309020205020404" pitchFamily="49" charset="0"/>
              </a:rPr>
              <a:t>"][:20])</a:t>
            </a:r>
          </a:p>
          <a:p>
            <a:pPr>
              <a:lnSpc>
                <a:spcPct val="150000"/>
              </a:lnSpc>
            </a:pPr>
            <a:endParaRPr lang="tr-TR" sz="1200" dirty="0">
              <a:solidFill>
                <a:schemeClr val="bg1"/>
              </a:solidFill>
              <a:latin typeface="Courier New" panose="02070309020205020404" pitchFamily="49" charset="0"/>
              <a:cs typeface="Courier New" panose="02070309020205020404" pitchFamily="49" charset="0"/>
            </a:endParaRPr>
          </a:p>
          <a:p>
            <a:pPr>
              <a:lnSpc>
                <a:spcPct val="150000"/>
              </a:lnSpc>
            </a:pPr>
            <a:r>
              <a:rPr lang="tr-TR" sz="1200" dirty="0">
                <a:solidFill>
                  <a:schemeClr val="bg1"/>
                </a:solidFill>
                <a:latin typeface="Courier New" panose="02070309020205020404" pitchFamily="49" charset="0"/>
                <a:cs typeface="Courier New" panose="02070309020205020404" pitchFamily="49" charset="0"/>
              </a:rPr>
              <a:t>#--------Method-2</a:t>
            </a: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mediandata</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pd.read_csv</a:t>
            </a:r>
            <a:r>
              <a:rPr lang="tr-TR" sz="1200" dirty="0">
                <a:solidFill>
                  <a:schemeClr val="bg1"/>
                </a:solidFill>
                <a:latin typeface="Courier New" panose="02070309020205020404" pitchFamily="49" charset="0"/>
                <a:cs typeface="Courier New" panose="02070309020205020404" pitchFamily="49" charset="0"/>
              </a:rPr>
              <a:t>('data/bikedetails.csv')</a:t>
            </a: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print</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mediandata</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ex_showroom_price</a:t>
            </a:r>
            <a:r>
              <a:rPr lang="tr-TR" sz="1200" dirty="0">
                <a:solidFill>
                  <a:schemeClr val="bg1"/>
                </a:solidFill>
                <a:latin typeface="Courier New" panose="02070309020205020404" pitchFamily="49" charset="0"/>
                <a:cs typeface="Courier New" panose="02070309020205020404" pitchFamily="49" charset="0"/>
              </a:rPr>
              <a:t>"][:20])</a:t>
            </a:r>
          </a:p>
          <a:p>
            <a:pPr>
              <a:lnSpc>
                <a:spcPct val="150000"/>
              </a:lnSpc>
            </a:pPr>
            <a:r>
              <a:rPr lang="tr-TR" sz="1200" dirty="0" err="1">
                <a:solidFill>
                  <a:srgbClr val="FFFF00"/>
                </a:solidFill>
                <a:latin typeface="Courier New" panose="02070309020205020404" pitchFamily="49" charset="0"/>
                <a:cs typeface="Courier New" panose="02070309020205020404" pitchFamily="49" charset="0"/>
              </a:rPr>
              <a:t>fea_transformer</a:t>
            </a:r>
            <a:r>
              <a:rPr lang="tr-TR" sz="1200" dirty="0">
                <a:solidFill>
                  <a:srgbClr val="FFFF00"/>
                </a:solidFill>
                <a:latin typeface="Courier New" panose="02070309020205020404" pitchFamily="49" charset="0"/>
                <a:cs typeface="Courier New" panose="02070309020205020404" pitchFamily="49" charset="0"/>
              </a:rPr>
              <a:t> = </a:t>
            </a:r>
            <a:r>
              <a:rPr lang="tr-TR" sz="1200" dirty="0" err="1">
                <a:solidFill>
                  <a:srgbClr val="FFFF00"/>
                </a:solidFill>
                <a:latin typeface="Courier New" panose="02070309020205020404" pitchFamily="49" charset="0"/>
                <a:cs typeface="Courier New" panose="02070309020205020404" pitchFamily="49" charset="0"/>
              </a:rPr>
              <a:t>SimpleImputer</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strategy</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median</a:t>
            </a:r>
            <a:r>
              <a:rPr lang="tr-TR" sz="1200" dirty="0">
                <a:solidFill>
                  <a:srgbClr val="FFFF00"/>
                </a:solidFill>
                <a:latin typeface="Courier New" panose="02070309020205020404" pitchFamily="49" charset="0"/>
                <a:cs typeface="Courier New" panose="02070309020205020404" pitchFamily="49" charset="0"/>
              </a:rPr>
              <a:t>")</a:t>
            </a:r>
          </a:p>
          <a:p>
            <a:pPr>
              <a:lnSpc>
                <a:spcPct val="150000"/>
              </a:lnSpc>
            </a:pPr>
            <a:r>
              <a:rPr lang="tr-TR" sz="1200" dirty="0" err="1">
                <a:solidFill>
                  <a:srgbClr val="FFFF00"/>
                </a:solidFill>
                <a:latin typeface="Courier New" panose="02070309020205020404" pitchFamily="49" charset="0"/>
                <a:cs typeface="Courier New" panose="02070309020205020404" pitchFamily="49" charset="0"/>
              </a:rPr>
              <a:t>values</a:t>
            </a:r>
            <a:r>
              <a:rPr lang="tr-TR" sz="1200" dirty="0">
                <a:solidFill>
                  <a:srgbClr val="FFFF00"/>
                </a:solidFill>
                <a:latin typeface="Courier New" panose="02070309020205020404" pitchFamily="49" charset="0"/>
                <a:cs typeface="Courier New" panose="02070309020205020404" pitchFamily="49" charset="0"/>
              </a:rPr>
              <a:t> = </a:t>
            </a:r>
            <a:r>
              <a:rPr lang="tr-TR" sz="1200" dirty="0" err="1">
                <a:solidFill>
                  <a:srgbClr val="FFFF00"/>
                </a:solidFill>
                <a:latin typeface="Courier New" panose="02070309020205020404" pitchFamily="49" charset="0"/>
                <a:cs typeface="Courier New" panose="02070309020205020404" pitchFamily="49" charset="0"/>
              </a:rPr>
              <a:t>fea_transformer.fit_transform</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mediandata</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ex_showroom_price</a:t>
            </a:r>
            <a:r>
              <a:rPr lang="tr-TR" sz="1200" dirty="0">
                <a:solidFill>
                  <a:srgbClr val="FFFF00"/>
                </a:solidFill>
                <a:latin typeface="Courier New" panose="02070309020205020404" pitchFamily="49" charset="0"/>
                <a:cs typeface="Courier New" panose="02070309020205020404" pitchFamily="49" charset="0"/>
              </a:rPr>
              <a:t>"]])</a:t>
            </a: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mediandata</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ex_showroom_price</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pd.DataFrame</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values</a:t>
            </a:r>
            <a:r>
              <a:rPr lang="tr-TR" sz="1200" dirty="0">
                <a:solidFill>
                  <a:schemeClr val="bg1"/>
                </a:solidFill>
                <a:latin typeface="Courier New" panose="02070309020205020404" pitchFamily="49" charset="0"/>
                <a:cs typeface="Courier New" panose="02070309020205020404" pitchFamily="49" charset="0"/>
              </a:rPr>
              <a:t>)</a:t>
            </a: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print</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mediandata</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ex_showroom_price</a:t>
            </a:r>
            <a:r>
              <a:rPr lang="tr-TR" sz="1200" dirty="0">
                <a:solidFill>
                  <a:schemeClr val="bg1"/>
                </a:solidFill>
                <a:latin typeface="Courier New" panose="02070309020205020404" pitchFamily="49" charset="0"/>
                <a:cs typeface="Courier New" panose="02070309020205020404" pitchFamily="49" charset="0"/>
              </a:rPr>
              <a:t>"][:20])</a:t>
            </a:r>
          </a:p>
          <a:p>
            <a:pPr>
              <a:lnSpc>
                <a:spcPct val="150000"/>
              </a:lnSpc>
            </a:pPr>
            <a:r>
              <a:rPr lang="tr-TR" sz="1200" dirty="0">
                <a:solidFill>
                  <a:schemeClr val="bg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632112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85668" y="590550"/>
            <a:ext cx="2772664" cy="289823"/>
          </a:xfrm>
          <a:prstGeom prst="rect">
            <a:avLst/>
          </a:prstGeom>
        </p:spPr>
        <p:txBody>
          <a:bodyPr vert="horz" wrap="square" lIns="0" tIns="12700" rIns="0" bIns="0" rtlCol="0">
            <a:spAutoFit/>
          </a:bodyPr>
          <a:lstStyle/>
          <a:p>
            <a:pPr marL="12700" algn="ctr">
              <a:lnSpc>
                <a:spcPct val="100000"/>
              </a:lnSpc>
              <a:spcBef>
                <a:spcPts val="100"/>
              </a:spcBef>
            </a:pPr>
            <a:r>
              <a:rPr lang="tr-TR" sz="1800" b="1" spc="-5" dirty="0">
                <a:solidFill>
                  <a:srgbClr val="FFFF00"/>
                </a:solidFill>
                <a:latin typeface="Times New Roman" panose="02020603050405020304" pitchFamily="18" charset="0"/>
                <a:cs typeface="Times New Roman" panose="02020603050405020304" pitchFamily="18" charset="0"/>
              </a:rPr>
              <a:t>KNN </a:t>
            </a:r>
            <a:r>
              <a:rPr sz="1800" b="1" spc="-5" dirty="0">
                <a:solidFill>
                  <a:srgbClr val="FFFF00"/>
                </a:solidFill>
                <a:latin typeface="Times New Roman" panose="02020603050405020304" pitchFamily="18" charset="0"/>
                <a:cs typeface="Times New Roman" panose="02020603050405020304" pitchFamily="18" charset="0"/>
              </a:rPr>
              <a:t>Imputation</a:t>
            </a:r>
            <a:endParaRPr sz="1800" dirty="0">
              <a:solidFill>
                <a:srgbClr val="FFFF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457200" y="1047750"/>
            <a:ext cx="8229600" cy="751488"/>
          </a:xfrm>
          <a:prstGeom prst="rect">
            <a:avLst/>
          </a:prstGeom>
        </p:spPr>
        <p:txBody>
          <a:bodyPr vert="horz" wrap="square" lIns="0" tIns="12700" rIns="0" bIns="0" rtlCol="0">
            <a:spAutoFit/>
          </a:bodyPr>
          <a:lstStyle/>
          <a:p>
            <a:pPr marL="12700" marR="5080" algn="just">
              <a:lnSpc>
                <a:spcPct val="100000"/>
              </a:lnSpc>
              <a:spcBef>
                <a:spcPts val="100"/>
              </a:spcBef>
            </a:pPr>
            <a:r>
              <a:rPr lang="tr-TR" sz="1600" spc="-5" dirty="0">
                <a:solidFill>
                  <a:srgbClr val="FFFFFF"/>
                </a:solidFill>
                <a:latin typeface="Times New Roman" panose="02020603050405020304" pitchFamily="18" charset="0"/>
                <a:cs typeface="Times New Roman" panose="02020603050405020304" pitchFamily="18" charset="0"/>
              </a:rPr>
              <a:t>k en yakın komşu algoritması, eğitim kümesindeki noktalara ne kadar benzediğine bağlı olarak eksik bir değer atamak için sıklıkla kullanılır. KNN ataması, Simple </a:t>
            </a:r>
            <a:r>
              <a:rPr lang="tr-TR" sz="1600" spc="-5" dirty="0" err="1">
                <a:solidFill>
                  <a:srgbClr val="FFFFFF"/>
                </a:solidFill>
                <a:latin typeface="Times New Roman" panose="02020603050405020304" pitchFamily="18" charset="0"/>
                <a:cs typeface="Times New Roman" panose="02020603050405020304" pitchFamily="18" charset="0"/>
              </a:rPr>
              <a:t>Imputation</a:t>
            </a:r>
            <a:r>
              <a:rPr lang="tr-TR" sz="1600" spc="-5" dirty="0">
                <a:solidFill>
                  <a:srgbClr val="FFFFFF"/>
                </a:solidFill>
                <a:latin typeface="Times New Roman" panose="02020603050405020304" pitchFamily="18" charset="0"/>
                <a:cs typeface="Times New Roman" panose="02020603050405020304" pitchFamily="18" charset="0"/>
              </a:rPr>
              <a:t> yöntemine göre daha adil bir yaklaşımdır. Eksik verileri, kendisine en yakın komşuların ortalaması ile değiştirerek çalışır.</a:t>
            </a:r>
            <a:endParaRPr sz="1600" dirty="0">
              <a:latin typeface="Times New Roman" panose="02020603050405020304" pitchFamily="18" charset="0"/>
              <a:cs typeface="Times New Roman" panose="02020603050405020304" pitchFamily="18" charset="0"/>
            </a:endParaRPr>
          </a:p>
        </p:txBody>
      </p:sp>
      <p:sp>
        <p:nvSpPr>
          <p:cNvPr id="4" name="object 4"/>
          <p:cNvSpPr/>
          <p:nvPr/>
        </p:nvSpPr>
        <p:spPr>
          <a:xfrm>
            <a:off x="2057400" y="2495550"/>
            <a:ext cx="1932432" cy="1746504"/>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4876800" y="2401062"/>
            <a:ext cx="2695956" cy="1694688"/>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2057400" y="404063"/>
            <a:ext cx="4068064" cy="289823"/>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Times New Roman" panose="02020603050405020304" pitchFamily="18" charset="0"/>
                <a:cs typeface="Times New Roman" panose="02020603050405020304" pitchFamily="18" charset="0"/>
              </a:rPr>
              <a:t>K-NN </a:t>
            </a:r>
            <a:r>
              <a:rPr sz="1800" b="1" dirty="0">
                <a:latin typeface="Times New Roman" panose="02020603050405020304" pitchFamily="18" charset="0"/>
                <a:cs typeface="Times New Roman" panose="02020603050405020304" pitchFamily="18" charset="0"/>
              </a:rPr>
              <a:t>– En </a:t>
            </a:r>
            <a:r>
              <a:rPr sz="1800" b="1" spc="-5" dirty="0">
                <a:latin typeface="Times New Roman" panose="02020603050405020304" pitchFamily="18" charset="0"/>
                <a:cs typeface="Times New Roman" panose="02020603050405020304" pitchFamily="18" charset="0"/>
              </a:rPr>
              <a:t>yakın </a:t>
            </a:r>
            <a:r>
              <a:rPr sz="1800" b="1" spc="-10" dirty="0">
                <a:latin typeface="Times New Roman" panose="02020603050405020304" pitchFamily="18" charset="0"/>
                <a:cs typeface="Times New Roman" panose="02020603050405020304" pitchFamily="18" charset="0"/>
              </a:rPr>
              <a:t>komşu</a:t>
            </a:r>
            <a:r>
              <a:rPr sz="1800" b="1" spc="-75" dirty="0">
                <a:latin typeface="Times New Roman" panose="02020603050405020304" pitchFamily="18" charset="0"/>
                <a:cs typeface="Times New Roman" panose="02020603050405020304" pitchFamily="18" charset="0"/>
              </a:rPr>
              <a:t> </a:t>
            </a:r>
            <a:r>
              <a:rPr sz="1800" b="1" spc="-5" dirty="0">
                <a:latin typeface="Times New Roman" panose="02020603050405020304" pitchFamily="18" charset="0"/>
                <a:cs typeface="Times New Roman" panose="02020603050405020304" pitchFamily="18" charset="0"/>
              </a:rPr>
              <a:t>algoritması</a:t>
            </a:r>
            <a:endParaRPr sz="1800" dirty="0">
              <a:latin typeface="Times New Roman" panose="02020603050405020304" pitchFamily="18" charset="0"/>
              <a:cs typeface="Times New Roman" panose="02020603050405020304" pitchFamily="18" charset="0"/>
            </a:endParaRPr>
          </a:p>
        </p:txBody>
      </p:sp>
      <p:sp>
        <p:nvSpPr>
          <p:cNvPr id="5" name="object 5"/>
          <p:cNvSpPr/>
          <p:nvPr/>
        </p:nvSpPr>
        <p:spPr>
          <a:xfrm>
            <a:off x="4495800" y="2409241"/>
            <a:ext cx="3703319" cy="2330196"/>
          </a:xfrm>
          <a:prstGeom prst="rect">
            <a:avLst/>
          </a:prstGeom>
          <a:blipFill>
            <a:blip r:embed="rId2" cstate="print"/>
            <a:stretch>
              <a:fillRect/>
            </a:stretch>
          </a:blipFill>
        </p:spPr>
        <p:txBody>
          <a:bodyPr wrap="square" lIns="0" tIns="0" rIns="0" bIns="0" rtlCol="0"/>
          <a:lstStyle/>
          <a:p>
            <a:endParaRPr/>
          </a:p>
        </p:txBody>
      </p:sp>
      <p:sp>
        <p:nvSpPr>
          <p:cNvPr id="6" name="object 6"/>
          <p:cNvSpPr txBox="1"/>
          <p:nvPr/>
        </p:nvSpPr>
        <p:spPr>
          <a:xfrm>
            <a:off x="533400" y="928098"/>
            <a:ext cx="8382000" cy="1815882"/>
          </a:xfrm>
          <a:prstGeom prst="rect">
            <a:avLst/>
          </a:prstGeom>
        </p:spPr>
        <p:txBody>
          <a:bodyPr vert="horz" wrap="square" lIns="0" tIns="13335" rIns="0" bIns="0" rtlCol="0">
            <a:spAutoFit/>
          </a:bodyPr>
          <a:lstStyle/>
          <a:p>
            <a:pPr marL="354965" indent="-342900">
              <a:lnSpc>
                <a:spcPct val="150000"/>
              </a:lnSpc>
              <a:spcBef>
                <a:spcPts val="105"/>
              </a:spcBef>
              <a:buSzPct val="92857"/>
              <a:buFont typeface="+mj-lt"/>
              <a:buAutoNum type="arabicPeriod"/>
              <a:tabLst>
                <a:tab pos="162560" algn="l"/>
              </a:tabLst>
            </a:pPr>
            <a:r>
              <a:rPr sz="1600" spc="-5" dirty="0">
                <a:solidFill>
                  <a:srgbClr val="FFFFFF"/>
                </a:solidFill>
                <a:latin typeface="Times New Roman" panose="02020603050405020304" pitchFamily="18" charset="0"/>
                <a:cs typeface="Times New Roman" panose="02020603050405020304" pitchFamily="18" charset="0"/>
              </a:rPr>
              <a:t>Öncelikle </a:t>
            </a:r>
            <a:r>
              <a:rPr sz="1600" dirty="0">
                <a:solidFill>
                  <a:srgbClr val="FFFFFF"/>
                </a:solidFill>
                <a:latin typeface="Times New Roman" panose="02020603050405020304" pitchFamily="18" charset="0"/>
                <a:cs typeface="Times New Roman" panose="02020603050405020304" pitchFamily="18" charset="0"/>
              </a:rPr>
              <a:t>K </a:t>
            </a:r>
            <a:r>
              <a:rPr sz="1600" spc="-5" dirty="0">
                <a:solidFill>
                  <a:srgbClr val="FFFFFF"/>
                </a:solidFill>
                <a:latin typeface="Times New Roman" panose="02020603050405020304" pitchFamily="18" charset="0"/>
                <a:cs typeface="Times New Roman" panose="02020603050405020304" pitchFamily="18" charset="0"/>
              </a:rPr>
              <a:t>değeri</a:t>
            </a:r>
            <a:r>
              <a:rPr sz="1600" spc="-75" dirty="0">
                <a:solidFill>
                  <a:srgbClr val="FFFFFF"/>
                </a:solidFill>
                <a:latin typeface="Times New Roman" panose="02020603050405020304" pitchFamily="18" charset="0"/>
                <a:cs typeface="Times New Roman" panose="02020603050405020304" pitchFamily="18" charset="0"/>
              </a:rPr>
              <a:t> </a:t>
            </a:r>
            <a:r>
              <a:rPr sz="1600" spc="-10" dirty="0">
                <a:solidFill>
                  <a:srgbClr val="FFFFFF"/>
                </a:solidFill>
                <a:latin typeface="Times New Roman" panose="02020603050405020304" pitchFamily="18" charset="0"/>
                <a:cs typeface="Times New Roman" panose="02020603050405020304" pitchFamily="18" charset="0"/>
              </a:rPr>
              <a:t>belirlenir.</a:t>
            </a:r>
            <a:endParaRPr sz="1600" dirty="0">
              <a:latin typeface="Times New Roman" panose="02020603050405020304" pitchFamily="18" charset="0"/>
              <a:cs typeface="Times New Roman" panose="02020603050405020304" pitchFamily="18" charset="0"/>
            </a:endParaRPr>
          </a:p>
          <a:p>
            <a:pPr marL="354965" indent="-342900">
              <a:lnSpc>
                <a:spcPct val="150000"/>
              </a:lnSpc>
              <a:buSzPct val="92857"/>
              <a:buFont typeface="+mj-lt"/>
              <a:buAutoNum type="arabicPeriod"/>
              <a:tabLst>
                <a:tab pos="162560" algn="l"/>
              </a:tabLst>
            </a:pPr>
            <a:r>
              <a:rPr sz="1600" spc="-5" dirty="0">
                <a:solidFill>
                  <a:srgbClr val="FFFFFF"/>
                </a:solidFill>
                <a:latin typeface="Times New Roman" panose="02020603050405020304" pitchFamily="18" charset="0"/>
                <a:cs typeface="Times New Roman" panose="02020603050405020304" pitchFamily="18" charset="0"/>
              </a:rPr>
              <a:t>Diğer </a:t>
            </a:r>
            <a:r>
              <a:rPr sz="1600" dirty="0">
                <a:solidFill>
                  <a:srgbClr val="FFFFFF"/>
                </a:solidFill>
                <a:latin typeface="Times New Roman" panose="02020603050405020304" pitchFamily="18" charset="0"/>
                <a:cs typeface="Times New Roman" panose="02020603050405020304" pitchFamily="18" charset="0"/>
              </a:rPr>
              <a:t>nesnelerden </a:t>
            </a:r>
            <a:r>
              <a:rPr sz="1600" spc="-5" dirty="0">
                <a:solidFill>
                  <a:srgbClr val="FFFFFF"/>
                </a:solidFill>
                <a:latin typeface="Times New Roman" panose="02020603050405020304" pitchFamily="18" charset="0"/>
                <a:cs typeface="Times New Roman" panose="02020603050405020304" pitchFamily="18" charset="0"/>
              </a:rPr>
              <a:t>hedef nesneye olan öklit uzaklıkları</a:t>
            </a:r>
            <a:r>
              <a:rPr sz="1600" spc="-140" dirty="0">
                <a:solidFill>
                  <a:srgbClr val="FFFFFF"/>
                </a:solidFill>
                <a:latin typeface="Times New Roman" panose="02020603050405020304" pitchFamily="18" charset="0"/>
                <a:cs typeface="Times New Roman" panose="02020603050405020304" pitchFamily="18" charset="0"/>
              </a:rPr>
              <a:t> </a:t>
            </a:r>
            <a:r>
              <a:rPr sz="1600" spc="-10" dirty="0">
                <a:solidFill>
                  <a:srgbClr val="FFFFFF"/>
                </a:solidFill>
                <a:latin typeface="Times New Roman" panose="02020603050405020304" pitchFamily="18" charset="0"/>
                <a:cs typeface="Times New Roman" panose="02020603050405020304" pitchFamily="18" charset="0"/>
              </a:rPr>
              <a:t>hesaplanır.</a:t>
            </a:r>
            <a:endParaRPr sz="1600" dirty="0">
              <a:latin typeface="Times New Roman" panose="02020603050405020304" pitchFamily="18" charset="0"/>
              <a:cs typeface="Times New Roman" panose="02020603050405020304" pitchFamily="18" charset="0"/>
            </a:endParaRPr>
          </a:p>
          <a:p>
            <a:pPr marL="354965" indent="-342900">
              <a:lnSpc>
                <a:spcPct val="150000"/>
              </a:lnSpc>
              <a:buSzPct val="92857"/>
              <a:buFont typeface="+mj-lt"/>
              <a:buAutoNum type="arabicPeriod"/>
              <a:tabLst>
                <a:tab pos="162560" algn="l"/>
              </a:tabLst>
            </a:pPr>
            <a:r>
              <a:rPr sz="1600" spc="-5" dirty="0">
                <a:solidFill>
                  <a:srgbClr val="FFFFFF"/>
                </a:solidFill>
                <a:latin typeface="Times New Roman" panose="02020603050405020304" pitchFamily="18" charset="0"/>
                <a:cs typeface="Times New Roman" panose="02020603050405020304" pitchFamily="18" charset="0"/>
              </a:rPr>
              <a:t>Uzaklıklar sıralanır </a:t>
            </a:r>
            <a:r>
              <a:rPr sz="1600" spc="-10" dirty="0">
                <a:solidFill>
                  <a:srgbClr val="FFFFFF"/>
                </a:solidFill>
                <a:latin typeface="Times New Roman" panose="02020603050405020304" pitchFamily="18" charset="0"/>
                <a:cs typeface="Times New Roman" panose="02020603050405020304" pitchFamily="18" charset="0"/>
              </a:rPr>
              <a:t>ve </a:t>
            </a:r>
            <a:r>
              <a:rPr sz="1600" dirty="0">
                <a:solidFill>
                  <a:srgbClr val="FFFFFF"/>
                </a:solidFill>
                <a:latin typeface="Times New Roman" panose="02020603050405020304" pitchFamily="18" charset="0"/>
                <a:cs typeface="Times New Roman" panose="02020603050405020304" pitchFamily="18" charset="0"/>
              </a:rPr>
              <a:t>en minimum </a:t>
            </a:r>
            <a:r>
              <a:rPr sz="1600" spc="-5" dirty="0">
                <a:solidFill>
                  <a:srgbClr val="FFFFFF"/>
                </a:solidFill>
                <a:latin typeface="Times New Roman" panose="02020603050405020304" pitchFamily="18" charset="0"/>
                <a:cs typeface="Times New Roman" panose="02020603050405020304" pitchFamily="18" charset="0"/>
              </a:rPr>
              <a:t>uzaklığa bağlı </a:t>
            </a:r>
            <a:r>
              <a:rPr sz="1600" dirty="0">
                <a:solidFill>
                  <a:srgbClr val="FFFFFF"/>
                </a:solidFill>
                <a:latin typeface="Times New Roman" panose="02020603050405020304" pitchFamily="18" charset="0"/>
                <a:cs typeface="Times New Roman" panose="02020603050405020304" pitchFamily="18" charset="0"/>
              </a:rPr>
              <a:t>olarak en </a:t>
            </a:r>
            <a:r>
              <a:rPr sz="1600" spc="-5" dirty="0">
                <a:solidFill>
                  <a:srgbClr val="FFFFFF"/>
                </a:solidFill>
                <a:latin typeface="Times New Roman" panose="02020603050405020304" pitchFamily="18" charset="0"/>
                <a:cs typeface="Times New Roman" panose="02020603050405020304" pitchFamily="18" charset="0"/>
              </a:rPr>
              <a:t>yakın komşular</a:t>
            </a:r>
            <a:r>
              <a:rPr sz="1600" spc="-120" dirty="0">
                <a:solidFill>
                  <a:srgbClr val="FFFFFF"/>
                </a:solidFill>
                <a:latin typeface="Times New Roman" panose="02020603050405020304" pitchFamily="18" charset="0"/>
                <a:cs typeface="Times New Roman" panose="02020603050405020304" pitchFamily="18" charset="0"/>
              </a:rPr>
              <a:t> </a:t>
            </a:r>
            <a:r>
              <a:rPr sz="1600" spc="-10" dirty="0">
                <a:solidFill>
                  <a:srgbClr val="FFFFFF"/>
                </a:solidFill>
                <a:latin typeface="Times New Roman" panose="02020603050405020304" pitchFamily="18" charset="0"/>
                <a:cs typeface="Times New Roman" panose="02020603050405020304" pitchFamily="18" charset="0"/>
              </a:rPr>
              <a:t>bulunur.</a:t>
            </a:r>
            <a:endParaRPr sz="1600" dirty="0">
              <a:latin typeface="Times New Roman" panose="02020603050405020304" pitchFamily="18" charset="0"/>
              <a:cs typeface="Times New Roman" panose="02020603050405020304" pitchFamily="18" charset="0"/>
            </a:endParaRPr>
          </a:p>
          <a:p>
            <a:pPr marL="355600" marR="3710304" indent="-342900">
              <a:lnSpc>
                <a:spcPct val="150000"/>
              </a:lnSpc>
              <a:buSzPct val="92857"/>
              <a:buFont typeface="+mj-lt"/>
              <a:buAutoNum type="arabicPeriod"/>
              <a:tabLst>
                <a:tab pos="162560" algn="l"/>
              </a:tabLst>
            </a:pPr>
            <a:r>
              <a:rPr lang="tr-TR" sz="1600" spc="-5" dirty="0">
                <a:solidFill>
                  <a:srgbClr val="FFFFFF"/>
                </a:solidFill>
                <a:latin typeface="Times New Roman" panose="02020603050405020304" pitchFamily="18" charset="0"/>
                <a:cs typeface="Times New Roman" panose="02020603050405020304" pitchFamily="18" charset="0"/>
              </a:rPr>
              <a:t>E</a:t>
            </a:r>
            <a:r>
              <a:rPr sz="1600" spc="-5" dirty="0">
                <a:solidFill>
                  <a:srgbClr val="FFFFFF"/>
                </a:solidFill>
                <a:latin typeface="Times New Roman" panose="02020603050405020304" pitchFamily="18" charset="0"/>
                <a:cs typeface="Times New Roman" panose="02020603050405020304" pitchFamily="18" charset="0"/>
              </a:rPr>
              <a:t>n </a:t>
            </a:r>
            <a:r>
              <a:rPr sz="1600" spc="-10" dirty="0">
                <a:solidFill>
                  <a:srgbClr val="FFFFFF"/>
                </a:solidFill>
                <a:latin typeface="Times New Roman" panose="02020603050405020304" pitchFamily="18" charset="0"/>
                <a:cs typeface="Times New Roman" panose="02020603050405020304" pitchFamily="18" charset="0"/>
              </a:rPr>
              <a:t>yakın </a:t>
            </a:r>
            <a:r>
              <a:rPr sz="1600" spc="-5" dirty="0" err="1">
                <a:solidFill>
                  <a:srgbClr val="FFFFFF"/>
                </a:solidFill>
                <a:latin typeface="Times New Roman" panose="02020603050405020304" pitchFamily="18" charset="0"/>
                <a:cs typeface="Times New Roman" panose="02020603050405020304" pitchFamily="18" charset="0"/>
              </a:rPr>
              <a:t>komşu</a:t>
            </a:r>
            <a:r>
              <a:rPr sz="1600" spc="-5" dirty="0">
                <a:solidFill>
                  <a:srgbClr val="FFFFFF"/>
                </a:solidFill>
                <a:latin typeface="Times New Roman" panose="02020603050405020304" pitchFamily="18" charset="0"/>
                <a:cs typeface="Times New Roman" panose="02020603050405020304" pitchFamily="18" charset="0"/>
              </a:rPr>
              <a:t> </a:t>
            </a:r>
            <a:r>
              <a:rPr sz="1600" dirty="0" err="1">
                <a:solidFill>
                  <a:srgbClr val="FFFFFF"/>
                </a:solidFill>
                <a:latin typeface="Times New Roman" panose="02020603050405020304" pitchFamily="18" charset="0"/>
                <a:cs typeface="Times New Roman" panose="02020603050405020304" pitchFamily="18" charset="0"/>
              </a:rPr>
              <a:t>kategorileri</a:t>
            </a:r>
            <a:r>
              <a:rPr lang="tr-TR" sz="1600" spc="-105" dirty="0">
                <a:solidFill>
                  <a:srgbClr val="FFFFFF"/>
                </a:solidFill>
                <a:latin typeface="Times New Roman" panose="02020603050405020304" pitchFamily="18" charset="0"/>
                <a:cs typeface="Times New Roman" panose="02020603050405020304" pitchFamily="18" charset="0"/>
              </a:rPr>
              <a:t> </a:t>
            </a:r>
            <a:r>
              <a:rPr lang="tr-TR" sz="1600" spc="-10" dirty="0">
                <a:solidFill>
                  <a:srgbClr val="FFFFFF"/>
                </a:solidFill>
                <a:latin typeface="Times New Roman" panose="02020603050405020304" pitchFamily="18" charset="0"/>
                <a:cs typeface="Times New Roman" panose="02020603050405020304" pitchFamily="18" charset="0"/>
              </a:rPr>
              <a:t>toplanır. </a:t>
            </a:r>
            <a:r>
              <a:rPr sz="1600" spc="-10" dirty="0">
                <a:solidFill>
                  <a:srgbClr val="FFFFFF"/>
                </a:solidFill>
                <a:latin typeface="Times New Roman" panose="02020603050405020304" pitchFamily="18" charset="0"/>
                <a:cs typeface="Times New Roman" panose="02020603050405020304" pitchFamily="18" charset="0"/>
              </a:rPr>
              <a:t> </a:t>
            </a:r>
            <a:endParaRPr lang="tr-TR" sz="1600" spc="-10" dirty="0">
              <a:solidFill>
                <a:srgbClr val="FFFFFF"/>
              </a:solidFill>
              <a:latin typeface="Times New Roman" panose="02020603050405020304" pitchFamily="18" charset="0"/>
              <a:cs typeface="Times New Roman" panose="02020603050405020304" pitchFamily="18" charset="0"/>
            </a:endParaRPr>
          </a:p>
          <a:p>
            <a:pPr marL="355600" marR="3710304" indent="-342900">
              <a:lnSpc>
                <a:spcPct val="150000"/>
              </a:lnSpc>
              <a:buSzPct val="92857"/>
              <a:buFont typeface="+mj-lt"/>
              <a:buAutoNum type="arabicPeriod"/>
              <a:tabLst>
                <a:tab pos="162560" algn="l"/>
              </a:tabLst>
            </a:pPr>
            <a:r>
              <a:rPr sz="1600" spc="-5" dirty="0">
                <a:solidFill>
                  <a:srgbClr val="FFFFFF"/>
                </a:solidFill>
                <a:latin typeface="Times New Roman" panose="02020603050405020304" pitchFamily="18" charset="0"/>
                <a:cs typeface="Times New Roman" panose="02020603050405020304" pitchFamily="18" charset="0"/>
              </a:rPr>
              <a:t>En uygun </a:t>
            </a:r>
            <a:r>
              <a:rPr sz="1600" spc="-5" dirty="0" err="1">
                <a:solidFill>
                  <a:srgbClr val="FFFFFF"/>
                </a:solidFill>
                <a:latin typeface="Times New Roman" panose="02020603050405020304" pitchFamily="18" charset="0"/>
                <a:cs typeface="Times New Roman" panose="02020603050405020304" pitchFamily="18" charset="0"/>
              </a:rPr>
              <a:t>komşu</a:t>
            </a:r>
            <a:r>
              <a:rPr sz="1600" spc="-5" dirty="0">
                <a:solidFill>
                  <a:srgbClr val="FFFFFF"/>
                </a:solidFill>
                <a:latin typeface="Times New Roman" panose="02020603050405020304" pitchFamily="18" charset="0"/>
                <a:cs typeface="Times New Roman" panose="02020603050405020304" pitchFamily="18" charset="0"/>
              </a:rPr>
              <a:t> </a:t>
            </a:r>
            <a:r>
              <a:rPr sz="1600" dirty="0" err="1">
                <a:solidFill>
                  <a:srgbClr val="FFFFFF"/>
                </a:solidFill>
                <a:latin typeface="Times New Roman" panose="02020603050405020304" pitchFamily="18" charset="0"/>
                <a:cs typeface="Times New Roman" panose="02020603050405020304" pitchFamily="18" charset="0"/>
              </a:rPr>
              <a:t>kategorisi</a:t>
            </a:r>
            <a:r>
              <a:rPr sz="1600" spc="-100" dirty="0">
                <a:solidFill>
                  <a:srgbClr val="FFFFFF"/>
                </a:solidFill>
                <a:latin typeface="Times New Roman" panose="02020603050405020304" pitchFamily="18" charset="0"/>
                <a:cs typeface="Times New Roman" panose="02020603050405020304" pitchFamily="18" charset="0"/>
              </a:rPr>
              <a:t> </a:t>
            </a:r>
            <a:r>
              <a:rPr sz="1600" spc="-10" dirty="0">
                <a:solidFill>
                  <a:srgbClr val="FFFFFF"/>
                </a:solidFill>
                <a:latin typeface="Times New Roman" panose="02020603050405020304" pitchFamily="18" charset="0"/>
                <a:cs typeface="Times New Roman" panose="02020603050405020304" pitchFamily="18" charset="0"/>
              </a:rPr>
              <a:t>seçilir.</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6000" y="438150"/>
            <a:ext cx="4449064" cy="289823"/>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Times New Roman" panose="02020603050405020304" pitchFamily="18" charset="0"/>
                <a:cs typeface="Times New Roman" panose="02020603050405020304" pitchFamily="18" charset="0"/>
              </a:rPr>
              <a:t>K-NN </a:t>
            </a:r>
            <a:r>
              <a:rPr sz="1800" b="1" dirty="0">
                <a:solidFill>
                  <a:srgbClr val="FFFFFF"/>
                </a:solidFill>
                <a:latin typeface="Times New Roman" panose="02020603050405020304" pitchFamily="18" charset="0"/>
                <a:cs typeface="Times New Roman" panose="02020603050405020304" pitchFamily="18" charset="0"/>
              </a:rPr>
              <a:t>– En </a:t>
            </a:r>
            <a:r>
              <a:rPr sz="1800" b="1" spc="-5" dirty="0">
                <a:solidFill>
                  <a:srgbClr val="FFFFFF"/>
                </a:solidFill>
                <a:latin typeface="Times New Roman" panose="02020603050405020304" pitchFamily="18" charset="0"/>
                <a:cs typeface="Times New Roman" panose="02020603050405020304" pitchFamily="18" charset="0"/>
              </a:rPr>
              <a:t>yakın </a:t>
            </a:r>
            <a:r>
              <a:rPr sz="1800" b="1" spc="-10" dirty="0">
                <a:solidFill>
                  <a:srgbClr val="FFFFFF"/>
                </a:solidFill>
                <a:latin typeface="Times New Roman" panose="02020603050405020304" pitchFamily="18" charset="0"/>
                <a:cs typeface="Times New Roman" panose="02020603050405020304" pitchFamily="18" charset="0"/>
              </a:rPr>
              <a:t>komşu</a:t>
            </a:r>
            <a:r>
              <a:rPr sz="1800" b="1" spc="-75" dirty="0">
                <a:solidFill>
                  <a:srgbClr val="FFFFFF"/>
                </a:solidFill>
                <a:latin typeface="Times New Roman" panose="02020603050405020304" pitchFamily="18" charset="0"/>
                <a:cs typeface="Times New Roman" panose="02020603050405020304" pitchFamily="18" charset="0"/>
              </a:rPr>
              <a:t> </a:t>
            </a:r>
            <a:r>
              <a:rPr sz="1800" b="1" spc="-5" dirty="0">
                <a:solidFill>
                  <a:srgbClr val="FFFFFF"/>
                </a:solidFill>
                <a:latin typeface="Times New Roman" panose="02020603050405020304" pitchFamily="18" charset="0"/>
                <a:cs typeface="Times New Roman" panose="02020603050405020304" pitchFamily="18" charset="0"/>
              </a:rPr>
              <a:t>algoritması</a:t>
            </a:r>
            <a:endParaRPr sz="1800" dirty="0">
              <a:latin typeface="Times New Roman" panose="02020603050405020304" pitchFamily="18" charset="0"/>
              <a:cs typeface="Times New Roman" panose="02020603050405020304" pitchFamily="18" charset="0"/>
            </a:endParaRPr>
          </a:p>
        </p:txBody>
      </p:sp>
      <p:sp>
        <p:nvSpPr>
          <p:cNvPr id="3" name="object 3"/>
          <p:cNvSpPr/>
          <p:nvPr/>
        </p:nvSpPr>
        <p:spPr>
          <a:xfrm>
            <a:off x="5530596" y="1153667"/>
            <a:ext cx="3496055" cy="2199131"/>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381000" y="1153667"/>
            <a:ext cx="5059680" cy="2906267"/>
          </a:xfrm>
          <a:prstGeom prst="rect">
            <a:avLst/>
          </a:prstGeom>
          <a:blipFill>
            <a:blip r:embed="rId3" cstate="print"/>
            <a:stretch>
              <a:fillRect/>
            </a:stretch>
          </a:blipFill>
        </p:spPr>
        <p:txBody>
          <a:bodyPr wrap="square" lIns="0" tIns="0" rIns="0" bIns="0" rtlCol="0"/>
          <a:lstStyle/>
          <a:p>
            <a:endParaRPr/>
          </a:p>
        </p:txBody>
      </p:sp>
      <p:grpSp>
        <p:nvGrpSpPr>
          <p:cNvPr id="9" name="Grup 8">
            <a:extLst>
              <a:ext uri="{FF2B5EF4-FFF2-40B4-BE49-F238E27FC236}">
                <a16:creationId xmlns:a16="http://schemas.microsoft.com/office/drawing/2014/main" id="{9446A469-2239-CF04-B7AE-35C5B9644263}"/>
              </a:ext>
            </a:extLst>
          </p:cNvPr>
          <p:cNvGrpSpPr/>
          <p:nvPr/>
        </p:nvGrpSpPr>
        <p:grpSpPr>
          <a:xfrm>
            <a:off x="3629105" y="3568431"/>
            <a:ext cx="70920" cy="229320"/>
            <a:chOff x="3629105" y="3568431"/>
            <a:chExt cx="70920" cy="229320"/>
          </a:xfrm>
        </p:grpSpPr>
        <mc:AlternateContent xmlns:mc="http://schemas.openxmlformats.org/markup-compatibility/2006" xmlns:p14="http://schemas.microsoft.com/office/powerpoint/2010/main">
          <mc:Choice Requires="p14">
            <p:contentPart p14:bwMode="auto" r:id="rId4">
              <p14:nvContentPartPr>
                <p14:cNvPr id="6" name="Mürekkep 5">
                  <a:extLst>
                    <a:ext uri="{FF2B5EF4-FFF2-40B4-BE49-F238E27FC236}">
                      <a16:creationId xmlns:a16="http://schemas.microsoft.com/office/drawing/2014/main" id="{D747A0D5-0A96-FA7D-AB6C-07571A9CC442}"/>
                    </a:ext>
                  </a:extLst>
                </p14:cNvPr>
                <p14:cNvContentPartPr/>
                <p14:nvPr/>
              </p14:nvContentPartPr>
              <p14:xfrm>
                <a:off x="3629105" y="3568431"/>
                <a:ext cx="60840" cy="73080"/>
              </p14:xfrm>
            </p:contentPart>
          </mc:Choice>
          <mc:Fallback xmlns="">
            <p:pic>
              <p:nvPicPr>
                <p:cNvPr id="6" name="Mürekkep 5">
                  <a:extLst>
                    <a:ext uri="{FF2B5EF4-FFF2-40B4-BE49-F238E27FC236}">
                      <a16:creationId xmlns:a16="http://schemas.microsoft.com/office/drawing/2014/main" id="{D747A0D5-0A96-FA7D-AB6C-07571A9CC442}"/>
                    </a:ext>
                  </a:extLst>
                </p:cNvPr>
                <p:cNvPicPr/>
                <p:nvPr/>
              </p:nvPicPr>
              <p:blipFill>
                <a:blip r:embed="rId5"/>
                <a:stretch>
                  <a:fillRect/>
                </a:stretch>
              </p:blipFill>
              <p:spPr>
                <a:xfrm>
                  <a:off x="3622985" y="3562311"/>
                  <a:ext cx="7308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Mürekkep 6">
                  <a:extLst>
                    <a:ext uri="{FF2B5EF4-FFF2-40B4-BE49-F238E27FC236}">
                      <a16:creationId xmlns:a16="http://schemas.microsoft.com/office/drawing/2014/main" id="{DE0A0159-090A-B54B-5C98-AAF23FEB3A4C}"/>
                    </a:ext>
                  </a:extLst>
                </p14:cNvPr>
                <p14:cNvContentPartPr/>
                <p14:nvPr/>
              </p14:nvContentPartPr>
              <p14:xfrm>
                <a:off x="3637385" y="3685431"/>
                <a:ext cx="56520" cy="82440"/>
              </p14:xfrm>
            </p:contentPart>
          </mc:Choice>
          <mc:Fallback xmlns="">
            <p:pic>
              <p:nvPicPr>
                <p:cNvPr id="7" name="Mürekkep 6">
                  <a:extLst>
                    <a:ext uri="{FF2B5EF4-FFF2-40B4-BE49-F238E27FC236}">
                      <a16:creationId xmlns:a16="http://schemas.microsoft.com/office/drawing/2014/main" id="{DE0A0159-090A-B54B-5C98-AAF23FEB3A4C}"/>
                    </a:ext>
                  </a:extLst>
                </p:cNvPr>
                <p:cNvPicPr/>
                <p:nvPr/>
              </p:nvPicPr>
              <p:blipFill>
                <a:blip r:embed="rId7"/>
                <a:stretch>
                  <a:fillRect/>
                </a:stretch>
              </p:blipFill>
              <p:spPr>
                <a:xfrm>
                  <a:off x="3631265" y="3679311"/>
                  <a:ext cx="6876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Mürekkep 7">
                  <a:extLst>
                    <a:ext uri="{FF2B5EF4-FFF2-40B4-BE49-F238E27FC236}">
                      <a16:creationId xmlns:a16="http://schemas.microsoft.com/office/drawing/2014/main" id="{1C397C58-E9CA-E4D9-8C97-2AB5B5951036}"/>
                    </a:ext>
                  </a:extLst>
                </p14:cNvPr>
                <p14:cNvContentPartPr/>
                <p14:nvPr/>
              </p14:nvContentPartPr>
              <p14:xfrm>
                <a:off x="3685265" y="3734751"/>
                <a:ext cx="14760" cy="63000"/>
              </p14:xfrm>
            </p:contentPart>
          </mc:Choice>
          <mc:Fallback xmlns="">
            <p:pic>
              <p:nvPicPr>
                <p:cNvPr id="8" name="Mürekkep 7">
                  <a:extLst>
                    <a:ext uri="{FF2B5EF4-FFF2-40B4-BE49-F238E27FC236}">
                      <a16:creationId xmlns:a16="http://schemas.microsoft.com/office/drawing/2014/main" id="{1C397C58-E9CA-E4D9-8C97-2AB5B5951036}"/>
                    </a:ext>
                  </a:extLst>
                </p:cNvPr>
                <p:cNvPicPr/>
                <p:nvPr/>
              </p:nvPicPr>
              <p:blipFill>
                <a:blip r:embed="rId9"/>
                <a:stretch>
                  <a:fillRect/>
                </a:stretch>
              </p:blipFill>
              <p:spPr>
                <a:xfrm>
                  <a:off x="3679145" y="3728631"/>
                  <a:ext cx="27000" cy="75240"/>
                </a:xfrm>
                <a:prstGeom prst="rect">
                  <a:avLst/>
                </a:prstGeom>
              </p:spPr>
            </p:pic>
          </mc:Fallback>
        </mc:AlternateContent>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9736" y="476250"/>
            <a:ext cx="332232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Carlito"/>
                <a:cs typeface="Carlito"/>
              </a:rPr>
              <a:t>K-NN </a:t>
            </a:r>
            <a:r>
              <a:rPr sz="1800" b="1" dirty="0">
                <a:solidFill>
                  <a:srgbClr val="FFFFFF"/>
                </a:solidFill>
                <a:latin typeface="Carlito"/>
                <a:cs typeface="Carlito"/>
              </a:rPr>
              <a:t>– En </a:t>
            </a:r>
            <a:r>
              <a:rPr sz="1800" b="1" spc="-5" dirty="0">
                <a:solidFill>
                  <a:srgbClr val="FFFFFF"/>
                </a:solidFill>
                <a:latin typeface="Carlito"/>
                <a:cs typeface="Carlito"/>
              </a:rPr>
              <a:t>yakın </a:t>
            </a:r>
            <a:r>
              <a:rPr sz="1800" b="1" spc="-10" dirty="0">
                <a:solidFill>
                  <a:srgbClr val="FFFFFF"/>
                </a:solidFill>
                <a:latin typeface="Carlito"/>
                <a:cs typeface="Carlito"/>
              </a:rPr>
              <a:t>komşu</a:t>
            </a:r>
            <a:r>
              <a:rPr sz="1800" b="1" spc="-75" dirty="0">
                <a:solidFill>
                  <a:srgbClr val="FFFFFF"/>
                </a:solidFill>
                <a:latin typeface="Carlito"/>
                <a:cs typeface="Carlito"/>
              </a:rPr>
              <a:t> </a:t>
            </a:r>
            <a:r>
              <a:rPr sz="1800" b="1" spc="-5" dirty="0">
                <a:solidFill>
                  <a:srgbClr val="FFFFFF"/>
                </a:solidFill>
                <a:latin typeface="Carlito"/>
                <a:cs typeface="Carlito"/>
              </a:rPr>
              <a:t>algoritması</a:t>
            </a:r>
            <a:endParaRPr sz="1800">
              <a:latin typeface="Carlito"/>
              <a:cs typeface="Carlito"/>
            </a:endParaRPr>
          </a:p>
        </p:txBody>
      </p:sp>
      <p:sp>
        <p:nvSpPr>
          <p:cNvPr id="3" name="object 3"/>
          <p:cNvSpPr/>
          <p:nvPr/>
        </p:nvSpPr>
        <p:spPr>
          <a:xfrm>
            <a:off x="5154167" y="1185672"/>
            <a:ext cx="3496055" cy="219913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92023" y="1185672"/>
            <a:ext cx="2592324" cy="2471928"/>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3092195" y="1185672"/>
            <a:ext cx="1754124" cy="1478279"/>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9736" y="476250"/>
            <a:ext cx="3322320" cy="299720"/>
          </a:xfrm>
          <a:prstGeom prst="rect">
            <a:avLst/>
          </a:prstGeom>
        </p:spPr>
        <p:txBody>
          <a:bodyPr vert="horz" wrap="square" lIns="0" tIns="12700" rIns="0" bIns="0" rtlCol="0">
            <a:spAutoFit/>
          </a:bodyPr>
          <a:lstStyle/>
          <a:p>
            <a:pPr marL="12700">
              <a:lnSpc>
                <a:spcPct val="100000"/>
              </a:lnSpc>
              <a:spcBef>
                <a:spcPts val="100"/>
              </a:spcBef>
            </a:pPr>
            <a:r>
              <a:rPr lang="sv-SE" sz="1800" b="1" spc="-5" dirty="0">
                <a:solidFill>
                  <a:srgbClr val="FFFFFF"/>
                </a:solidFill>
                <a:latin typeface="Carlito"/>
                <a:cs typeface="Carlito"/>
              </a:rPr>
              <a:t>KNN İmputasyonu</a:t>
            </a:r>
            <a:endParaRPr lang="sv-SE" sz="1800" dirty="0">
              <a:latin typeface="Carlito"/>
              <a:cs typeface="Carlito"/>
            </a:endParaRPr>
          </a:p>
        </p:txBody>
      </p:sp>
      <p:pic>
        <p:nvPicPr>
          <p:cNvPr id="7" name="Resim 6">
            <a:extLst>
              <a:ext uri="{FF2B5EF4-FFF2-40B4-BE49-F238E27FC236}">
                <a16:creationId xmlns:a16="http://schemas.microsoft.com/office/drawing/2014/main" id="{9D22C459-DE1F-193F-DFA6-3C9319D5BDF0}"/>
              </a:ext>
            </a:extLst>
          </p:cNvPr>
          <p:cNvPicPr>
            <a:picLocks noChangeAspect="1"/>
          </p:cNvPicPr>
          <p:nvPr/>
        </p:nvPicPr>
        <p:blipFill>
          <a:blip r:embed="rId2"/>
          <a:stretch>
            <a:fillRect/>
          </a:stretch>
        </p:blipFill>
        <p:spPr>
          <a:xfrm>
            <a:off x="685800" y="1047750"/>
            <a:ext cx="7879652" cy="3276600"/>
          </a:xfrm>
          <a:prstGeom prst="rect">
            <a:avLst/>
          </a:prstGeom>
        </p:spPr>
      </p:pic>
    </p:spTree>
    <p:extLst>
      <p:ext uri="{BB962C8B-B14F-4D97-AF65-F5344CB8AC3E}">
        <p14:creationId xmlns:p14="http://schemas.microsoft.com/office/powerpoint/2010/main" val="441568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400" y="135890"/>
            <a:ext cx="3322320" cy="299720"/>
          </a:xfrm>
          <a:prstGeom prst="rect">
            <a:avLst/>
          </a:prstGeom>
        </p:spPr>
        <p:txBody>
          <a:bodyPr vert="horz" wrap="square" lIns="0" tIns="12700" rIns="0" bIns="0" rtlCol="0">
            <a:spAutoFit/>
          </a:bodyPr>
          <a:lstStyle/>
          <a:p>
            <a:pPr marL="12700">
              <a:lnSpc>
                <a:spcPct val="100000"/>
              </a:lnSpc>
              <a:spcBef>
                <a:spcPts val="100"/>
              </a:spcBef>
            </a:pPr>
            <a:r>
              <a:rPr lang="sv-SE" sz="1800" b="1" spc="-5" dirty="0">
                <a:solidFill>
                  <a:srgbClr val="FFFFFF"/>
                </a:solidFill>
                <a:latin typeface="Carlito"/>
                <a:cs typeface="Carlito"/>
              </a:rPr>
              <a:t>KNN İmputasyonu</a:t>
            </a:r>
            <a:r>
              <a:rPr lang="tr-TR" sz="1800" b="1" spc="-5" dirty="0">
                <a:solidFill>
                  <a:srgbClr val="FFFFFF"/>
                </a:solidFill>
                <a:latin typeface="Carlito"/>
                <a:cs typeface="Carlito"/>
              </a:rPr>
              <a:t> Örnek</a:t>
            </a:r>
            <a:endParaRPr lang="sv-SE" sz="1800" dirty="0">
              <a:latin typeface="Carlito"/>
              <a:cs typeface="Carlito"/>
            </a:endParaRPr>
          </a:p>
        </p:txBody>
      </p:sp>
      <p:pic>
        <p:nvPicPr>
          <p:cNvPr id="7" name="Resim 6">
            <a:extLst>
              <a:ext uri="{FF2B5EF4-FFF2-40B4-BE49-F238E27FC236}">
                <a16:creationId xmlns:a16="http://schemas.microsoft.com/office/drawing/2014/main" id="{6358987A-FA93-3ECB-A620-D6C6BC45B95E}"/>
              </a:ext>
            </a:extLst>
          </p:cNvPr>
          <p:cNvPicPr>
            <a:picLocks noChangeAspect="1"/>
          </p:cNvPicPr>
          <p:nvPr/>
        </p:nvPicPr>
        <p:blipFill>
          <a:blip r:embed="rId2"/>
          <a:stretch>
            <a:fillRect/>
          </a:stretch>
        </p:blipFill>
        <p:spPr>
          <a:xfrm>
            <a:off x="2590800" y="142631"/>
            <a:ext cx="5204403" cy="3124200"/>
          </a:xfrm>
          <a:prstGeom prst="rect">
            <a:avLst/>
          </a:prstGeom>
        </p:spPr>
      </p:pic>
      <p:pic>
        <p:nvPicPr>
          <p:cNvPr id="9" name="Resim 8">
            <a:extLst>
              <a:ext uri="{FF2B5EF4-FFF2-40B4-BE49-F238E27FC236}">
                <a16:creationId xmlns:a16="http://schemas.microsoft.com/office/drawing/2014/main" id="{0CBB5B08-C6B0-839D-E9E9-1563D0A3920A}"/>
              </a:ext>
            </a:extLst>
          </p:cNvPr>
          <p:cNvPicPr>
            <a:picLocks noChangeAspect="1"/>
          </p:cNvPicPr>
          <p:nvPr/>
        </p:nvPicPr>
        <p:blipFill>
          <a:blip r:embed="rId3"/>
          <a:stretch>
            <a:fillRect/>
          </a:stretch>
        </p:blipFill>
        <p:spPr>
          <a:xfrm>
            <a:off x="3200400" y="3333750"/>
            <a:ext cx="4343776" cy="1722269"/>
          </a:xfrm>
          <a:prstGeom prst="rect">
            <a:avLst/>
          </a:prstGeom>
        </p:spPr>
      </p:pic>
    </p:spTree>
    <p:extLst>
      <p:ext uri="{BB962C8B-B14F-4D97-AF65-F5344CB8AC3E}">
        <p14:creationId xmlns:p14="http://schemas.microsoft.com/office/powerpoint/2010/main" val="1766342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97DD8-7715-C6EF-BFEE-547546DEC1E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84D4167-54A4-A1F2-45F2-AE7B4AD41A92}"/>
              </a:ext>
            </a:extLst>
          </p:cNvPr>
          <p:cNvSpPr txBox="1"/>
          <p:nvPr/>
        </p:nvSpPr>
        <p:spPr>
          <a:xfrm>
            <a:off x="152400" y="135890"/>
            <a:ext cx="3322320" cy="299720"/>
          </a:xfrm>
          <a:prstGeom prst="rect">
            <a:avLst/>
          </a:prstGeom>
        </p:spPr>
        <p:txBody>
          <a:bodyPr vert="horz" wrap="square" lIns="0" tIns="12700" rIns="0" bIns="0" rtlCol="0">
            <a:spAutoFit/>
          </a:bodyPr>
          <a:lstStyle/>
          <a:p>
            <a:pPr marL="12700">
              <a:lnSpc>
                <a:spcPct val="100000"/>
              </a:lnSpc>
              <a:spcBef>
                <a:spcPts val="100"/>
              </a:spcBef>
            </a:pPr>
            <a:r>
              <a:rPr lang="sv-SE" sz="1800" b="1" spc="-5" dirty="0">
                <a:solidFill>
                  <a:srgbClr val="FFFFFF"/>
                </a:solidFill>
                <a:latin typeface="Carlito"/>
                <a:cs typeface="Carlito"/>
              </a:rPr>
              <a:t>KNN İmputasyonu</a:t>
            </a:r>
            <a:r>
              <a:rPr lang="tr-TR" sz="1800" b="1" spc="-5" dirty="0">
                <a:solidFill>
                  <a:srgbClr val="FFFFFF"/>
                </a:solidFill>
                <a:latin typeface="Carlito"/>
                <a:cs typeface="Carlito"/>
              </a:rPr>
              <a:t> Örnek</a:t>
            </a:r>
            <a:endParaRPr lang="sv-SE" sz="1800" dirty="0">
              <a:latin typeface="Carlito"/>
              <a:cs typeface="Carlito"/>
            </a:endParaRPr>
          </a:p>
        </p:txBody>
      </p:sp>
      <p:pic>
        <p:nvPicPr>
          <p:cNvPr id="4" name="Resim 3">
            <a:extLst>
              <a:ext uri="{FF2B5EF4-FFF2-40B4-BE49-F238E27FC236}">
                <a16:creationId xmlns:a16="http://schemas.microsoft.com/office/drawing/2014/main" id="{4D5B01E8-2613-9D81-82C7-7F29E9B363B7}"/>
              </a:ext>
            </a:extLst>
          </p:cNvPr>
          <p:cNvPicPr>
            <a:picLocks noChangeAspect="1"/>
          </p:cNvPicPr>
          <p:nvPr/>
        </p:nvPicPr>
        <p:blipFill>
          <a:blip r:embed="rId2"/>
          <a:stretch>
            <a:fillRect/>
          </a:stretch>
        </p:blipFill>
        <p:spPr>
          <a:xfrm>
            <a:off x="1676400" y="742950"/>
            <a:ext cx="5415512" cy="3429000"/>
          </a:xfrm>
          <a:prstGeom prst="rect">
            <a:avLst/>
          </a:prstGeom>
        </p:spPr>
      </p:pic>
    </p:spTree>
    <p:extLst>
      <p:ext uri="{BB962C8B-B14F-4D97-AF65-F5344CB8AC3E}">
        <p14:creationId xmlns:p14="http://schemas.microsoft.com/office/powerpoint/2010/main" val="2026106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D5FA2-1F06-1600-F62A-70C3892152B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29D0803-9A87-0D62-88B5-8B5DC0F4BCDC}"/>
              </a:ext>
            </a:extLst>
          </p:cNvPr>
          <p:cNvSpPr txBox="1"/>
          <p:nvPr/>
        </p:nvSpPr>
        <p:spPr>
          <a:xfrm>
            <a:off x="152400" y="135890"/>
            <a:ext cx="3322320" cy="299720"/>
          </a:xfrm>
          <a:prstGeom prst="rect">
            <a:avLst/>
          </a:prstGeom>
        </p:spPr>
        <p:txBody>
          <a:bodyPr vert="horz" wrap="square" lIns="0" tIns="12700" rIns="0" bIns="0" rtlCol="0">
            <a:spAutoFit/>
          </a:bodyPr>
          <a:lstStyle/>
          <a:p>
            <a:pPr marL="12700">
              <a:lnSpc>
                <a:spcPct val="100000"/>
              </a:lnSpc>
              <a:spcBef>
                <a:spcPts val="100"/>
              </a:spcBef>
            </a:pPr>
            <a:r>
              <a:rPr lang="sv-SE" sz="1800" b="1" spc="-5" dirty="0">
                <a:solidFill>
                  <a:srgbClr val="FFFFFF"/>
                </a:solidFill>
                <a:latin typeface="Carlito"/>
                <a:cs typeface="Carlito"/>
              </a:rPr>
              <a:t>KNN İmputasyonu</a:t>
            </a:r>
            <a:r>
              <a:rPr lang="tr-TR" sz="1800" b="1" spc="-5" dirty="0">
                <a:solidFill>
                  <a:srgbClr val="FFFFFF"/>
                </a:solidFill>
                <a:latin typeface="Carlito"/>
                <a:cs typeface="Carlito"/>
              </a:rPr>
              <a:t> Örnek</a:t>
            </a:r>
            <a:endParaRPr lang="sv-SE" sz="1800" dirty="0">
              <a:latin typeface="Carlito"/>
              <a:cs typeface="Carlito"/>
            </a:endParaRPr>
          </a:p>
        </p:txBody>
      </p:sp>
      <p:pic>
        <p:nvPicPr>
          <p:cNvPr id="5" name="Resim 4">
            <a:extLst>
              <a:ext uri="{FF2B5EF4-FFF2-40B4-BE49-F238E27FC236}">
                <a16:creationId xmlns:a16="http://schemas.microsoft.com/office/drawing/2014/main" id="{447CFA52-582D-DA47-9DBB-DF889E932A03}"/>
              </a:ext>
            </a:extLst>
          </p:cNvPr>
          <p:cNvPicPr>
            <a:picLocks noChangeAspect="1"/>
          </p:cNvPicPr>
          <p:nvPr/>
        </p:nvPicPr>
        <p:blipFill>
          <a:blip r:embed="rId2"/>
          <a:stretch>
            <a:fillRect/>
          </a:stretch>
        </p:blipFill>
        <p:spPr>
          <a:xfrm>
            <a:off x="3581400" y="818380"/>
            <a:ext cx="5334000" cy="3663757"/>
          </a:xfrm>
          <a:prstGeom prst="rect">
            <a:avLst/>
          </a:prstGeom>
        </p:spPr>
      </p:pic>
      <p:pic>
        <p:nvPicPr>
          <p:cNvPr id="4" name="Resim 3">
            <a:extLst>
              <a:ext uri="{FF2B5EF4-FFF2-40B4-BE49-F238E27FC236}">
                <a16:creationId xmlns:a16="http://schemas.microsoft.com/office/drawing/2014/main" id="{592A23C7-BC4A-F6B4-1CBC-1B00FC9459D1}"/>
              </a:ext>
            </a:extLst>
          </p:cNvPr>
          <p:cNvPicPr>
            <a:picLocks noChangeAspect="1"/>
          </p:cNvPicPr>
          <p:nvPr/>
        </p:nvPicPr>
        <p:blipFill>
          <a:blip r:embed="rId3"/>
          <a:stretch>
            <a:fillRect/>
          </a:stretch>
        </p:blipFill>
        <p:spPr>
          <a:xfrm>
            <a:off x="152400" y="827465"/>
            <a:ext cx="3344572" cy="1322166"/>
          </a:xfrm>
          <a:prstGeom prst="rect">
            <a:avLst/>
          </a:prstGeom>
        </p:spPr>
      </p:pic>
    </p:spTree>
    <p:extLst>
      <p:ext uri="{BB962C8B-B14F-4D97-AF65-F5344CB8AC3E}">
        <p14:creationId xmlns:p14="http://schemas.microsoft.com/office/powerpoint/2010/main" val="3161235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55F71-50D5-E8B7-7525-07289654BAA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9C465A5-647E-D01D-8DA8-37F698E7C987}"/>
              </a:ext>
            </a:extLst>
          </p:cNvPr>
          <p:cNvSpPr txBox="1"/>
          <p:nvPr/>
        </p:nvSpPr>
        <p:spPr>
          <a:xfrm>
            <a:off x="152400" y="135890"/>
            <a:ext cx="3322320" cy="299720"/>
          </a:xfrm>
          <a:prstGeom prst="rect">
            <a:avLst/>
          </a:prstGeom>
        </p:spPr>
        <p:txBody>
          <a:bodyPr vert="horz" wrap="square" lIns="0" tIns="12700" rIns="0" bIns="0" rtlCol="0">
            <a:spAutoFit/>
          </a:bodyPr>
          <a:lstStyle/>
          <a:p>
            <a:pPr marL="12700">
              <a:lnSpc>
                <a:spcPct val="100000"/>
              </a:lnSpc>
              <a:spcBef>
                <a:spcPts val="100"/>
              </a:spcBef>
            </a:pPr>
            <a:r>
              <a:rPr lang="sv-SE" sz="1800" b="1" spc="-5" dirty="0">
                <a:solidFill>
                  <a:srgbClr val="FFFFFF"/>
                </a:solidFill>
                <a:latin typeface="Carlito"/>
                <a:cs typeface="Carlito"/>
              </a:rPr>
              <a:t>KNN İmputasyonu</a:t>
            </a:r>
            <a:r>
              <a:rPr lang="tr-TR" sz="1800" b="1" spc="-5" dirty="0">
                <a:solidFill>
                  <a:srgbClr val="FFFFFF"/>
                </a:solidFill>
                <a:latin typeface="Carlito"/>
                <a:cs typeface="Carlito"/>
              </a:rPr>
              <a:t> Örnek</a:t>
            </a:r>
            <a:endParaRPr lang="sv-SE" sz="1800" dirty="0">
              <a:latin typeface="Carlito"/>
              <a:cs typeface="Carlito"/>
            </a:endParaRPr>
          </a:p>
        </p:txBody>
      </p:sp>
      <p:pic>
        <p:nvPicPr>
          <p:cNvPr id="4" name="Resim 3">
            <a:extLst>
              <a:ext uri="{FF2B5EF4-FFF2-40B4-BE49-F238E27FC236}">
                <a16:creationId xmlns:a16="http://schemas.microsoft.com/office/drawing/2014/main" id="{7B709022-4775-15E9-59B8-7A2C6BB83BD2}"/>
              </a:ext>
            </a:extLst>
          </p:cNvPr>
          <p:cNvPicPr>
            <a:picLocks noChangeAspect="1"/>
          </p:cNvPicPr>
          <p:nvPr/>
        </p:nvPicPr>
        <p:blipFill>
          <a:blip r:embed="rId2"/>
          <a:stretch>
            <a:fillRect/>
          </a:stretch>
        </p:blipFill>
        <p:spPr>
          <a:xfrm>
            <a:off x="4419600" y="590550"/>
            <a:ext cx="4587638" cy="4038950"/>
          </a:xfrm>
          <a:prstGeom prst="rect">
            <a:avLst/>
          </a:prstGeom>
        </p:spPr>
      </p:pic>
      <p:pic>
        <p:nvPicPr>
          <p:cNvPr id="3" name="Resim 2">
            <a:extLst>
              <a:ext uri="{FF2B5EF4-FFF2-40B4-BE49-F238E27FC236}">
                <a16:creationId xmlns:a16="http://schemas.microsoft.com/office/drawing/2014/main" id="{9A27E373-2E82-EA2B-25DE-57563F202270}"/>
              </a:ext>
            </a:extLst>
          </p:cNvPr>
          <p:cNvPicPr>
            <a:picLocks noChangeAspect="1"/>
          </p:cNvPicPr>
          <p:nvPr/>
        </p:nvPicPr>
        <p:blipFill>
          <a:blip r:embed="rId3"/>
          <a:stretch>
            <a:fillRect/>
          </a:stretch>
        </p:blipFill>
        <p:spPr>
          <a:xfrm>
            <a:off x="152399" y="827464"/>
            <a:ext cx="4026857" cy="1591885"/>
          </a:xfrm>
          <a:prstGeom prst="rect">
            <a:avLst/>
          </a:prstGeom>
        </p:spPr>
      </p:pic>
    </p:spTree>
    <p:extLst>
      <p:ext uri="{BB962C8B-B14F-4D97-AF65-F5344CB8AC3E}">
        <p14:creationId xmlns:p14="http://schemas.microsoft.com/office/powerpoint/2010/main" val="13246403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A9E0B-4C6B-819B-C26C-7CE2D2DE8D8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BB93AFD-EA24-7A00-48BF-B5AB7AE7FEFB}"/>
              </a:ext>
            </a:extLst>
          </p:cNvPr>
          <p:cNvSpPr txBox="1"/>
          <p:nvPr/>
        </p:nvSpPr>
        <p:spPr>
          <a:xfrm>
            <a:off x="152400" y="135890"/>
            <a:ext cx="3322320" cy="299720"/>
          </a:xfrm>
          <a:prstGeom prst="rect">
            <a:avLst/>
          </a:prstGeom>
        </p:spPr>
        <p:txBody>
          <a:bodyPr vert="horz" wrap="square" lIns="0" tIns="12700" rIns="0" bIns="0" rtlCol="0">
            <a:spAutoFit/>
          </a:bodyPr>
          <a:lstStyle/>
          <a:p>
            <a:pPr marL="12700">
              <a:lnSpc>
                <a:spcPct val="100000"/>
              </a:lnSpc>
              <a:spcBef>
                <a:spcPts val="100"/>
              </a:spcBef>
            </a:pPr>
            <a:r>
              <a:rPr lang="sv-SE" sz="1800" b="1" spc="-5" dirty="0">
                <a:solidFill>
                  <a:srgbClr val="FFFFFF"/>
                </a:solidFill>
                <a:latin typeface="Carlito"/>
                <a:cs typeface="Carlito"/>
              </a:rPr>
              <a:t>KNN İmputasyonu</a:t>
            </a:r>
            <a:r>
              <a:rPr lang="tr-TR" sz="1800" b="1" spc="-5" dirty="0">
                <a:solidFill>
                  <a:srgbClr val="FFFFFF"/>
                </a:solidFill>
                <a:latin typeface="Carlito"/>
                <a:cs typeface="Carlito"/>
              </a:rPr>
              <a:t> Örnek</a:t>
            </a:r>
            <a:endParaRPr lang="sv-SE" sz="1800" dirty="0">
              <a:latin typeface="Carlito"/>
              <a:cs typeface="Carlito"/>
            </a:endParaRPr>
          </a:p>
        </p:txBody>
      </p:sp>
      <p:pic>
        <p:nvPicPr>
          <p:cNvPr id="5" name="Resim 4">
            <a:extLst>
              <a:ext uri="{FF2B5EF4-FFF2-40B4-BE49-F238E27FC236}">
                <a16:creationId xmlns:a16="http://schemas.microsoft.com/office/drawing/2014/main" id="{BFB37CFC-ED30-5C51-7EEA-0115597D2187}"/>
              </a:ext>
            </a:extLst>
          </p:cNvPr>
          <p:cNvPicPr>
            <a:picLocks noChangeAspect="1"/>
          </p:cNvPicPr>
          <p:nvPr/>
        </p:nvPicPr>
        <p:blipFill>
          <a:blip r:embed="rId2"/>
          <a:stretch>
            <a:fillRect/>
          </a:stretch>
        </p:blipFill>
        <p:spPr>
          <a:xfrm>
            <a:off x="1996217" y="435610"/>
            <a:ext cx="5151566" cy="4496190"/>
          </a:xfrm>
          <a:prstGeom prst="rect">
            <a:avLst/>
          </a:prstGeom>
        </p:spPr>
      </p:pic>
    </p:spTree>
    <p:extLst>
      <p:ext uri="{BB962C8B-B14F-4D97-AF65-F5344CB8AC3E}">
        <p14:creationId xmlns:p14="http://schemas.microsoft.com/office/powerpoint/2010/main" val="26257867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6D0C-543A-B4E1-4CE6-6588C23E647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5580C8B-ACF5-0872-BF8B-1C71443D7AED}"/>
              </a:ext>
            </a:extLst>
          </p:cNvPr>
          <p:cNvSpPr txBox="1"/>
          <p:nvPr/>
        </p:nvSpPr>
        <p:spPr>
          <a:xfrm>
            <a:off x="152400" y="135890"/>
            <a:ext cx="3322320" cy="299720"/>
          </a:xfrm>
          <a:prstGeom prst="rect">
            <a:avLst/>
          </a:prstGeom>
        </p:spPr>
        <p:txBody>
          <a:bodyPr vert="horz" wrap="square" lIns="0" tIns="12700" rIns="0" bIns="0" rtlCol="0">
            <a:spAutoFit/>
          </a:bodyPr>
          <a:lstStyle/>
          <a:p>
            <a:pPr marL="12700">
              <a:lnSpc>
                <a:spcPct val="100000"/>
              </a:lnSpc>
              <a:spcBef>
                <a:spcPts val="100"/>
              </a:spcBef>
            </a:pPr>
            <a:r>
              <a:rPr lang="sv-SE" sz="1800" b="1" spc="-5" dirty="0">
                <a:solidFill>
                  <a:srgbClr val="FFFFFF"/>
                </a:solidFill>
                <a:latin typeface="Carlito"/>
                <a:cs typeface="Carlito"/>
              </a:rPr>
              <a:t>KNN İmputasyonu</a:t>
            </a:r>
            <a:r>
              <a:rPr lang="tr-TR" sz="1800" b="1" spc="-5" dirty="0">
                <a:solidFill>
                  <a:srgbClr val="FFFFFF"/>
                </a:solidFill>
                <a:latin typeface="Carlito"/>
                <a:cs typeface="Carlito"/>
              </a:rPr>
              <a:t> Örnek</a:t>
            </a:r>
            <a:endParaRPr lang="sv-SE" sz="1800" dirty="0">
              <a:latin typeface="Carlito"/>
              <a:cs typeface="Carlito"/>
            </a:endParaRPr>
          </a:p>
        </p:txBody>
      </p:sp>
      <p:pic>
        <p:nvPicPr>
          <p:cNvPr id="7" name="Resim 6">
            <a:extLst>
              <a:ext uri="{FF2B5EF4-FFF2-40B4-BE49-F238E27FC236}">
                <a16:creationId xmlns:a16="http://schemas.microsoft.com/office/drawing/2014/main" id="{E7A6FEA4-C9F2-3A33-E45D-85BEB1B26674}"/>
              </a:ext>
            </a:extLst>
          </p:cNvPr>
          <p:cNvPicPr>
            <a:picLocks noChangeAspect="1"/>
          </p:cNvPicPr>
          <p:nvPr/>
        </p:nvPicPr>
        <p:blipFill>
          <a:blip r:embed="rId2"/>
          <a:stretch>
            <a:fillRect/>
          </a:stretch>
        </p:blipFill>
        <p:spPr>
          <a:xfrm>
            <a:off x="228600" y="742951"/>
            <a:ext cx="4790547" cy="3657600"/>
          </a:xfrm>
          <a:prstGeom prst="rect">
            <a:avLst/>
          </a:prstGeom>
        </p:spPr>
      </p:pic>
      <p:pic>
        <p:nvPicPr>
          <p:cNvPr id="9" name="Resim 8">
            <a:extLst>
              <a:ext uri="{FF2B5EF4-FFF2-40B4-BE49-F238E27FC236}">
                <a16:creationId xmlns:a16="http://schemas.microsoft.com/office/drawing/2014/main" id="{441C1CF8-A145-33FC-4928-42FD8410948F}"/>
              </a:ext>
            </a:extLst>
          </p:cNvPr>
          <p:cNvPicPr>
            <a:picLocks noChangeAspect="1"/>
          </p:cNvPicPr>
          <p:nvPr/>
        </p:nvPicPr>
        <p:blipFill>
          <a:blip r:embed="rId3"/>
          <a:stretch>
            <a:fillRect/>
          </a:stretch>
        </p:blipFill>
        <p:spPr>
          <a:xfrm>
            <a:off x="5181600" y="325315"/>
            <a:ext cx="3596952" cy="2720576"/>
          </a:xfrm>
          <a:prstGeom prst="rect">
            <a:avLst/>
          </a:prstGeom>
        </p:spPr>
      </p:pic>
      <p:pic>
        <p:nvPicPr>
          <p:cNvPr id="5" name="Resim 4">
            <a:extLst>
              <a:ext uri="{FF2B5EF4-FFF2-40B4-BE49-F238E27FC236}">
                <a16:creationId xmlns:a16="http://schemas.microsoft.com/office/drawing/2014/main" id="{D099D645-4127-457F-7472-B7B890D2BF9E}"/>
              </a:ext>
            </a:extLst>
          </p:cNvPr>
          <p:cNvPicPr>
            <a:picLocks noChangeAspect="1"/>
          </p:cNvPicPr>
          <p:nvPr/>
        </p:nvPicPr>
        <p:blipFill>
          <a:blip r:embed="rId4"/>
          <a:stretch>
            <a:fillRect/>
          </a:stretch>
        </p:blipFill>
        <p:spPr>
          <a:xfrm>
            <a:off x="5181600" y="3181350"/>
            <a:ext cx="3896253" cy="1490550"/>
          </a:xfrm>
          <a:prstGeom prst="rect">
            <a:avLst/>
          </a:prstGeom>
        </p:spPr>
      </p:pic>
    </p:spTree>
    <p:extLst>
      <p:ext uri="{BB962C8B-B14F-4D97-AF65-F5344CB8AC3E}">
        <p14:creationId xmlns:p14="http://schemas.microsoft.com/office/powerpoint/2010/main" val="38572319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59EFA-28E2-EC4E-7436-A5644B0C458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D01B403-AD77-DD24-2060-B9E6F7ACB871}"/>
              </a:ext>
            </a:extLst>
          </p:cNvPr>
          <p:cNvSpPr txBox="1"/>
          <p:nvPr/>
        </p:nvSpPr>
        <p:spPr>
          <a:xfrm>
            <a:off x="152400" y="135890"/>
            <a:ext cx="3322320" cy="299720"/>
          </a:xfrm>
          <a:prstGeom prst="rect">
            <a:avLst/>
          </a:prstGeom>
        </p:spPr>
        <p:txBody>
          <a:bodyPr vert="horz" wrap="square" lIns="0" tIns="12700" rIns="0" bIns="0" rtlCol="0">
            <a:spAutoFit/>
          </a:bodyPr>
          <a:lstStyle/>
          <a:p>
            <a:pPr marL="12700">
              <a:lnSpc>
                <a:spcPct val="100000"/>
              </a:lnSpc>
              <a:spcBef>
                <a:spcPts val="100"/>
              </a:spcBef>
            </a:pPr>
            <a:r>
              <a:rPr lang="sv-SE" sz="1800" b="1" spc="-5" dirty="0">
                <a:solidFill>
                  <a:srgbClr val="FFFFFF"/>
                </a:solidFill>
                <a:latin typeface="Carlito"/>
                <a:cs typeface="Carlito"/>
              </a:rPr>
              <a:t>KNN İmputasyonu</a:t>
            </a:r>
            <a:r>
              <a:rPr lang="tr-TR" sz="1800" b="1" spc="-5" dirty="0">
                <a:solidFill>
                  <a:srgbClr val="FFFFFF"/>
                </a:solidFill>
                <a:latin typeface="Carlito"/>
                <a:cs typeface="Carlito"/>
              </a:rPr>
              <a:t> Örnek</a:t>
            </a:r>
            <a:endParaRPr lang="sv-SE" sz="1800" dirty="0">
              <a:latin typeface="Carlito"/>
              <a:cs typeface="Carlito"/>
            </a:endParaRPr>
          </a:p>
        </p:txBody>
      </p:sp>
      <p:pic>
        <p:nvPicPr>
          <p:cNvPr id="4" name="Resim 3">
            <a:extLst>
              <a:ext uri="{FF2B5EF4-FFF2-40B4-BE49-F238E27FC236}">
                <a16:creationId xmlns:a16="http://schemas.microsoft.com/office/drawing/2014/main" id="{1A7AEE34-FBBA-9F7D-9DF5-AE1A43EDD248}"/>
              </a:ext>
            </a:extLst>
          </p:cNvPr>
          <p:cNvPicPr>
            <a:picLocks noChangeAspect="1"/>
          </p:cNvPicPr>
          <p:nvPr/>
        </p:nvPicPr>
        <p:blipFill>
          <a:blip r:embed="rId2"/>
          <a:stretch>
            <a:fillRect/>
          </a:stretch>
        </p:blipFill>
        <p:spPr>
          <a:xfrm>
            <a:off x="2034320" y="441178"/>
            <a:ext cx="5075360" cy="4435224"/>
          </a:xfrm>
          <a:prstGeom prst="rect">
            <a:avLst/>
          </a:prstGeom>
        </p:spPr>
      </p:pic>
    </p:spTree>
    <p:extLst>
      <p:ext uri="{BB962C8B-B14F-4D97-AF65-F5344CB8AC3E}">
        <p14:creationId xmlns:p14="http://schemas.microsoft.com/office/powerpoint/2010/main" val="15654542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99448CE-BC2E-D8C6-96A9-CB6DAF6E0CEB}"/>
              </a:ext>
            </a:extLst>
          </p:cNvPr>
          <p:cNvSpPr txBox="1"/>
          <p:nvPr/>
        </p:nvSpPr>
        <p:spPr>
          <a:xfrm>
            <a:off x="152400" y="743044"/>
            <a:ext cx="9105900" cy="3657411"/>
          </a:xfrm>
          <a:prstGeom prst="rect">
            <a:avLst/>
          </a:prstGeom>
          <a:noFill/>
        </p:spPr>
        <p:txBody>
          <a:bodyPr wrap="square">
            <a:spAutoFit/>
          </a:bodyPr>
          <a:lstStyle/>
          <a:p>
            <a:pPr>
              <a:lnSpc>
                <a:spcPct val="130000"/>
              </a:lnSpc>
            </a:pPr>
            <a:r>
              <a:rPr lang="tr-TR" dirty="0">
                <a:solidFill>
                  <a:schemeClr val="bg1"/>
                </a:solidFill>
                <a:latin typeface="Times New Roman" panose="02020603050405020304" pitchFamily="18" charset="0"/>
                <a:cs typeface="Times New Roman" panose="02020603050405020304" pitchFamily="18" charset="0"/>
              </a:rPr>
              <a:t>#----------KNN </a:t>
            </a:r>
            <a:r>
              <a:rPr lang="tr-TR" dirty="0" err="1">
                <a:solidFill>
                  <a:schemeClr val="bg1"/>
                </a:solidFill>
                <a:latin typeface="Times New Roman" panose="02020603050405020304" pitchFamily="18" charset="0"/>
                <a:cs typeface="Times New Roman" panose="02020603050405020304" pitchFamily="18" charset="0"/>
              </a:rPr>
              <a:t>Imputer</a:t>
            </a:r>
            <a:r>
              <a:rPr lang="tr-TR" dirty="0">
                <a:solidFill>
                  <a:schemeClr val="bg1"/>
                </a:solidFill>
                <a:latin typeface="Times New Roman" panose="02020603050405020304" pitchFamily="18" charset="0"/>
                <a:cs typeface="Times New Roman" panose="02020603050405020304" pitchFamily="18" charset="0"/>
              </a:rPr>
              <a:t>------------</a:t>
            </a:r>
          </a:p>
          <a:p>
            <a:pPr>
              <a:lnSpc>
                <a:spcPct val="130000"/>
              </a:lnSpc>
            </a:pPr>
            <a:r>
              <a:rPr lang="tr-TR" dirty="0" err="1">
                <a:solidFill>
                  <a:schemeClr val="bg1"/>
                </a:solidFill>
                <a:latin typeface="Times New Roman" panose="02020603050405020304" pitchFamily="18" charset="0"/>
                <a:cs typeface="Times New Roman" panose="02020603050405020304" pitchFamily="18" charset="0"/>
              </a:rPr>
              <a:t>from</a:t>
            </a:r>
            <a:r>
              <a:rPr lang="tr-TR" dirty="0">
                <a:solidFill>
                  <a:schemeClr val="bg1"/>
                </a:solidFill>
                <a:latin typeface="Times New Roman" panose="02020603050405020304" pitchFamily="18" charset="0"/>
                <a:cs typeface="Times New Roman" panose="02020603050405020304" pitchFamily="18" charset="0"/>
              </a:rPr>
              <a:t> </a:t>
            </a:r>
            <a:r>
              <a:rPr lang="tr-TR" dirty="0" err="1">
                <a:solidFill>
                  <a:schemeClr val="bg1"/>
                </a:solidFill>
                <a:latin typeface="Times New Roman" panose="02020603050405020304" pitchFamily="18" charset="0"/>
                <a:cs typeface="Times New Roman" panose="02020603050405020304" pitchFamily="18" charset="0"/>
              </a:rPr>
              <a:t>sklearn.impute</a:t>
            </a:r>
            <a:r>
              <a:rPr lang="tr-TR" dirty="0">
                <a:solidFill>
                  <a:schemeClr val="bg1"/>
                </a:solidFill>
                <a:latin typeface="Times New Roman" panose="02020603050405020304" pitchFamily="18" charset="0"/>
                <a:cs typeface="Times New Roman" panose="02020603050405020304" pitchFamily="18" charset="0"/>
              </a:rPr>
              <a:t> </a:t>
            </a:r>
            <a:r>
              <a:rPr lang="tr-TR" dirty="0" err="1">
                <a:solidFill>
                  <a:schemeClr val="bg1"/>
                </a:solidFill>
                <a:latin typeface="Times New Roman" panose="02020603050405020304" pitchFamily="18" charset="0"/>
                <a:cs typeface="Times New Roman" panose="02020603050405020304" pitchFamily="18" charset="0"/>
              </a:rPr>
              <a:t>import</a:t>
            </a:r>
            <a:r>
              <a:rPr lang="tr-TR" dirty="0">
                <a:solidFill>
                  <a:schemeClr val="bg1"/>
                </a:solidFill>
                <a:latin typeface="Times New Roman" panose="02020603050405020304" pitchFamily="18" charset="0"/>
                <a:cs typeface="Times New Roman" panose="02020603050405020304" pitchFamily="18" charset="0"/>
              </a:rPr>
              <a:t> </a:t>
            </a:r>
            <a:r>
              <a:rPr lang="tr-TR" dirty="0" err="1">
                <a:solidFill>
                  <a:schemeClr val="bg1"/>
                </a:solidFill>
                <a:latin typeface="Times New Roman" panose="02020603050405020304" pitchFamily="18" charset="0"/>
                <a:cs typeface="Times New Roman" panose="02020603050405020304" pitchFamily="18" charset="0"/>
              </a:rPr>
              <a:t>KNNImputer</a:t>
            </a:r>
            <a:endParaRPr lang="tr-TR" dirty="0">
              <a:solidFill>
                <a:schemeClr val="bg1"/>
              </a:solidFill>
              <a:latin typeface="Times New Roman" panose="02020603050405020304" pitchFamily="18" charset="0"/>
              <a:cs typeface="Times New Roman" panose="02020603050405020304" pitchFamily="18" charset="0"/>
            </a:endParaRPr>
          </a:p>
          <a:p>
            <a:pPr>
              <a:lnSpc>
                <a:spcPct val="130000"/>
              </a:lnSpc>
            </a:pPr>
            <a:r>
              <a:rPr lang="tr-TR" dirty="0">
                <a:solidFill>
                  <a:schemeClr val="bg1"/>
                </a:solidFill>
                <a:latin typeface="Times New Roman" panose="02020603050405020304" pitchFamily="18" charset="0"/>
                <a:cs typeface="Times New Roman" panose="02020603050405020304" pitchFamily="18" charset="0"/>
              </a:rPr>
              <a:t># I </a:t>
            </a:r>
            <a:r>
              <a:rPr lang="tr-TR" dirty="0" err="1">
                <a:solidFill>
                  <a:schemeClr val="bg1"/>
                </a:solidFill>
                <a:latin typeface="Times New Roman" panose="02020603050405020304" pitchFamily="18" charset="0"/>
                <a:cs typeface="Times New Roman" panose="02020603050405020304" pitchFamily="18" charset="0"/>
              </a:rPr>
              <a:t>specify</a:t>
            </a:r>
            <a:r>
              <a:rPr lang="tr-TR" dirty="0">
                <a:solidFill>
                  <a:schemeClr val="bg1"/>
                </a:solidFill>
                <a:latin typeface="Times New Roman" panose="02020603050405020304" pitchFamily="18" charset="0"/>
                <a:cs typeface="Times New Roman" panose="02020603050405020304" pitchFamily="18" charset="0"/>
              </a:rPr>
              <a:t> </a:t>
            </a:r>
            <a:r>
              <a:rPr lang="tr-TR" dirty="0" err="1">
                <a:solidFill>
                  <a:schemeClr val="bg1"/>
                </a:solidFill>
                <a:latin typeface="Times New Roman" panose="02020603050405020304" pitchFamily="18" charset="0"/>
                <a:cs typeface="Times New Roman" panose="02020603050405020304" pitchFamily="18" charset="0"/>
              </a:rPr>
              <a:t>the</a:t>
            </a:r>
            <a:r>
              <a:rPr lang="tr-TR" dirty="0">
                <a:solidFill>
                  <a:schemeClr val="bg1"/>
                </a:solidFill>
                <a:latin typeface="Times New Roman" panose="02020603050405020304" pitchFamily="18" charset="0"/>
                <a:cs typeface="Times New Roman" panose="02020603050405020304" pitchFamily="18" charset="0"/>
              </a:rPr>
              <a:t> </a:t>
            </a:r>
            <a:r>
              <a:rPr lang="tr-TR" dirty="0" err="1">
                <a:solidFill>
                  <a:schemeClr val="bg1"/>
                </a:solidFill>
                <a:latin typeface="Times New Roman" panose="02020603050405020304" pitchFamily="18" charset="0"/>
                <a:cs typeface="Times New Roman" panose="02020603050405020304" pitchFamily="18" charset="0"/>
              </a:rPr>
              <a:t>nearest</a:t>
            </a:r>
            <a:r>
              <a:rPr lang="tr-TR" dirty="0">
                <a:solidFill>
                  <a:schemeClr val="bg1"/>
                </a:solidFill>
                <a:latin typeface="Times New Roman" panose="02020603050405020304" pitchFamily="18" charset="0"/>
                <a:cs typeface="Times New Roman" panose="02020603050405020304" pitchFamily="18" charset="0"/>
              </a:rPr>
              <a:t> </a:t>
            </a:r>
            <a:r>
              <a:rPr lang="tr-TR" dirty="0" err="1">
                <a:solidFill>
                  <a:schemeClr val="bg1"/>
                </a:solidFill>
                <a:latin typeface="Times New Roman" panose="02020603050405020304" pitchFamily="18" charset="0"/>
                <a:cs typeface="Times New Roman" panose="02020603050405020304" pitchFamily="18" charset="0"/>
              </a:rPr>
              <a:t>neighbor</a:t>
            </a:r>
            <a:r>
              <a:rPr lang="tr-TR" dirty="0">
                <a:solidFill>
                  <a:schemeClr val="bg1"/>
                </a:solidFill>
                <a:latin typeface="Times New Roman" panose="02020603050405020304" pitchFamily="18" charset="0"/>
                <a:cs typeface="Times New Roman" panose="02020603050405020304" pitchFamily="18" charset="0"/>
              </a:rPr>
              <a:t> </a:t>
            </a:r>
            <a:r>
              <a:rPr lang="tr-TR" dirty="0" err="1">
                <a:solidFill>
                  <a:schemeClr val="bg1"/>
                </a:solidFill>
                <a:latin typeface="Times New Roman" panose="02020603050405020304" pitchFamily="18" charset="0"/>
                <a:cs typeface="Times New Roman" panose="02020603050405020304" pitchFamily="18" charset="0"/>
              </a:rPr>
              <a:t>to</a:t>
            </a:r>
            <a:r>
              <a:rPr lang="tr-TR" dirty="0">
                <a:solidFill>
                  <a:schemeClr val="bg1"/>
                </a:solidFill>
                <a:latin typeface="Times New Roman" panose="02020603050405020304" pitchFamily="18" charset="0"/>
                <a:cs typeface="Times New Roman" panose="02020603050405020304" pitchFamily="18" charset="0"/>
              </a:rPr>
              <a:t> be 3 </a:t>
            </a:r>
          </a:p>
          <a:p>
            <a:pPr>
              <a:lnSpc>
                <a:spcPct val="130000"/>
              </a:lnSpc>
            </a:pPr>
            <a:r>
              <a:rPr lang="tr-TR" dirty="0" err="1">
                <a:solidFill>
                  <a:schemeClr val="bg1"/>
                </a:solidFill>
                <a:latin typeface="Times New Roman" panose="02020603050405020304" pitchFamily="18" charset="0"/>
                <a:cs typeface="Times New Roman" panose="02020603050405020304" pitchFamily="18" charset="0"/>
              </a:rPr>
              <a:t>knndata</a:t>
            </a:r>
            <a:r>
              <a:rPr lang="tr-TR" dirty="0">
                <a:solidFill>
                  <a:schemeClr val="bg1"/>
                </a:solidFill>
                <a:latin typeface="Times New Roman" panose="02020603050405020304" pitchFamily="18" charset="0"/>
                <a:cs typeface="Times New Roman" panose="02020603050405020304" pitchFamily="18" charset="0"/>
              </a:rPr>
              <a:t>=</a:t>
            </a:r>
            <a:r>
              <a:rPr lang="tr-TR" dirty="0" err="1">
                <a:solidFill>
                  <a:schemeClr val="bg1"/>
                </a:solidFill>
                <a:latin typeface="Times New Roman" panose="02020603050405020304" pitchFamily="18" charset="0"/>
                <a:cs typeface="Times New Roman" panose="02020603050405020304" pitchFamily="18" charset="0"/>
              </a:rPr>
              <a:t>pd.read_csv</a:t>
            </a:r>
            <a:r>
              <a:rPr lang="tr-TR" dirty="0">
                <a:solidFill>
                  <a:schemeClr val="bg1"/>
                </a:solidFill>
                <a:latin typeface="Times New Roman" panose="02020603050405020304" pitchFamily="18" charset="0"/>
                <a:cs typeface="Times New Roman" panose="02020603050405020304" pitchFamily="18" charset="0"/>
              </a:rPr>
              <a:t>('data/bikedetails.csv')</a:t>
            </a:r>
          </a:p>
          <a:p>
            <a:pPr>
              <a:lnSpc>
                <a:spcPct val="130000"/>
              </a:lnSpc>
            </a:pPr>
            <a:r>
              <a:rPr lang="tr-TR" dirty="0">
                <a:solidFill>
                  <a:schemeClr val="bg1"/>
                </a:solidFill>
                <a:latin typeface="Times New Roman" panose="02020603050405020304" pitchFamily="18" charset="0"/>
                <a:cs typeface="Times New Roman" panose="02020603050405020304" pitchFamily="18" charset="0"/>
              </a:rPr>
              <a:t>knndata1=</a:t>
            </a:r>
            <a:r>
              <a:rPr lang="tr-TR" dirty="0" err="1">
                <a:solidFill>
                  <a:schemeClr val="bg1"/>
                </a:solidFill>
                <a:latin typeface="Times New Roman" panose="02020603050405020304" pitchFamily="18" charset="0"/>
                <a:cs typeface="Times New Roman" panose="02020603050405020304" pitchFamily="18" charset="0"/>
              </a:rPr>
              <a:t>copy.deepcopy</a:t>
            </a:r>
            <a:r>
              <a:rPr lang="tr-TR" dirty="0">
                <a:solidFill>
                  <a:schemeClr val="bg1"/>
                </a:solidFill>
                <a:latin typeface="Times New Roman" panose="02020603050405020304" pitchFamily="18" charset="0"/>
                <a:cs typeface="Times New Roman" panose="02020603050405020304" pitchFamily="18" charset="0"/>
              </a:rPr>
              <a:t>(</a:t>
            </a:r>
            <a:r>
              <a:rPr lang="tr-TR" dirty="0" err="1">
                <a:solidFill>
                  <a:schemeClr val="bg1"/>
                </a:solidFill>
                <a:latin typeface="Times New Roman" panose="02020603050405020304" pitchFamily="18" charset="0"/>
                <a:cs typeface="Times New Roman" panose="02020603050405020304" pitchFamily="18" charset="0"/>
              </a:rPr>
              <a:t>knndata</a:t>
            </a:r>
            <a:r>
              <a:rPr lang="tr-TR" dirty="0">
                <a:solidFill>
                  <a:schemeClr val="bg1"/>
                </a:solidFill>
                <a:latin typeface="Times New Roman" panose="02020603050405020304" pitchFamily="18" charset="0"/>
                <a:cs typeface="Times New Roman" panose="02020603050405020304" pitchFamily="18" charset="0"/>
              </a:rPr>
              <a:t>)</a:t>
            </a:r>
          </a:p>
          <a:p>
            <a:pPr>
              <a:lnSpc>
                <a:spcPct val="130000"/>
              </a:lnSpc>
            </a:pPr>
            <a:r>
              <a:rPr lang="tr-TR" dirty="0" err="1">
                <a:solidFill>
                  <a:schemeClr val="bg1"/>
                </a:solidFill>
                <a:latin typeface="Times New Roman" panose="02020603050405020304" pitchFamily="18" charset="0"/>
                <a:cs typeface="Times New Roman" panose="02020603050405020304" pitchFamily="18" charset="0"/>
              </a:rPr>
              <a:t>print</a:t>
            </a:r>
            <a:r>
              <a:rPr lang="tr-TR" dirty="0">
                <a:solidFill>
                  <a:schemeClr val="bg1"/>
                </a:solidFill>
                <a:latin typeface="Times New Roman" panose="02020603050405020304" pitchFamily="18" charset="0"/>
                <a:cs typeface="Times New Roman" panose="02020603050405020304" pitchFamily="18" charset="0"/>
              </a:rPr>
              <a:t>(</a:t>
            </a:r>
            <a:r>
              <a:rPr lang="tr-TR" dirty="0" err="1">
                <a:solidFill>
                  <a:schemeClr val="bg1"/>
                </a:solidFill>
                <a:latin typeface="Times New Roman" panose="02020603050405020304" pitchFamily="18" charset="0"/>
                <a:cs typeface="Times New Roman" panose="02020603050405020304" pitchFamily="18" charset="0"/>
              </a:rPr>
              <a:t>knndata</a:t>
            </a:r>
            <a:r>
              <a:rPr lang="tr-TR" dirty="0">
                <a:solidFill>
                  <a:schemeClr val="bg1"/>
                </a:solidFill>
                <a:latin typeface="Times New Roman" panose="02020603050405020304" pitchFamily="18" charset="0"/>
                <a:cs typeface="Times New Roman" panose="02020603050405020304" pitchFamily="18" charset="0"/>
              </a:rPr>
              <a:t>["</a:t>
            </a:r>
            <a:r>
              <a:rPr lang="tr-TR" dirty="0" err="1">
                <a:solidFill>
                  <a:schemeClr val="bg1"/>
                </a:solidFill>
                <a:latin typeface="Times New Roman" panose="02020603050405020304" pitchFamily="18" charset="0"/>
                <a:cs typeface="Times New Roman" panose="02020603050405020304" pitchFamily="18" charset="0"/>
              </a:rPr>
              <a:t>ex_showroom_price</a:t>
            </a:r>
            <a:r>
              <a:rPr lang="tr-TR" dirty="0">
                <a:solidFill>
                  <a:schemeClr val="bg1"/>
                </a:solidFill>
                <a:latin typeface="Times New Roman" panose="02020603050405020304" pitchFamily="18" charset="0"/>
                <a:cs typeface="Times New Roman" panose="02020603050405020304" pitchFamily="18" charset="0"/>
              </a:rPr>
              <a:t>"][:20])</a:t>
            </a:r>
          </a:p>
          <a:p>
            <a:pPr>
              <a:lnSpc>
                <a:spcPct val="130000"/>
              </a:lnSpc>
            </a:pPr>
            <a:r>
              <a:rPr lang="tr-TR" dirty="0" err="1">
                <a:solidFill>
                  <a:schemeClr val="bg1"/>
                </a:solidFill>
                <a:latin typeface="Times New Roman" panose="02020603050405020304" pitchFamily="18" charset="0"/>
                <a:cs typeface="Times New Roman" panose="02020603050405020304" pitchFamily="18" charset="0"/>
              </a:rPr>
              <a:t>fea_transformer</a:t>
            </a:r>
            <a:r>
              <a:rPr lang="tr-TR" dirty="0">
                <a:solidFill>
                  <a:schemeClr val="bg1"/>
                </a:solidFill>
                <a:latin typeface="Times New Roman" panose="02020603050405020304" pitchFamily="18" charset="0"/>
                <a:cs typeface="Times New Roman" panose="02020603050405020304" pitchFamily="18" charset="0"/>
              </a:rPr>
              <a:t> = </a:t>
            </a:r>
            <a:r>
              <a:rPr lang="tr-TR" dirty="0" err="1">
                <a:solidFill>
                  <a:schemeClr val="bg1"/>
                </a:solidFill>
                <a:latin typeface="Times New Roman" panose="02020603050405020304" pitchFamily="18" charset="0"/>
                <a:cs typeface="Times New Roman" panose="02020603050405020304" pitchFamily="18" charset="0"/>
              </a:rPr>
              <a:t>KNNImputer</a:t>
            </a:r>
            <a:r>
              <a:rPr lang="tr-TR" dirty="0">
                <a:solidFill>
                  <a:schemeClr val="bg1"/>
                </a:solidFill>
                <a:latin typeface="Times New Roman" panose="02020603050405020304" pitchFamily="18" charset="0"/>
                <a:cs typeface="Times New Roman" panose="02020603050405020304" pitchFamily="18" charset="0"/>
              </a:rPr>
              <a:t>(</a:t>
            </a:r>
            <a:r>
              <a:rPr lang="tr-TR" dirty="0" err="1">
                <a:solidFill>
                  <a:schemeClr val="bg1"/>
                </a:solidFill>
                <a:latin typeface="Times New Roman" panose="02020603050405020304" pitchFamily="18" charset="0"/>
                <a:cs typeface="Times New Roman" panose="02020603050405020304" pitchFamily="18" charset="0"/>
              </a:rPr>
              <a:t>n_neighbors</a:t>
            </a:r>
            <a:r>
              <a:rPr lang="tr-TR" dirty="0">
                <a:solidFill>
                  <a:schemeClr val="bg1"/>
                </a:solidFill>
                <a:latin typeface="Times New Roman" panose="02020603050405020304" pitchFamily="18" charset="0"/>
                <a:cs typeface="Times New Roman" panose="02020603050405020304" pitchFamily="18" charset="0"/>
              </a:rPr>
              <a:t>=10)</a:t>
            </a:r>
          </a:p>
          <a:p>
            <a:pPr>
              <a:lnSpc>
                <a:spcPct val="130000"/>
              </a:lnSpc>
            </a:pPr>
            <a:r>
              <a:rPr lang="tr-TR" dirty="0" err="1">
                <a:solidFill>
                  <a:srgbClr val="FFFF00"/>
                </a:solidFill>
                <a:latin typeface="Times New Roman" panose="02020603050405020304" pitchFamily="18" charset="0"/>
                <a:cs typeface="Times New Roman" panose="02020603050405020304" pitchFamily="18" charset="0"/>
              </a:rPr>
              <a:t>values</a:t>
            </a:r>
            <a:r>
              <a:rPr lang="tr-TR" dirty="0">
                <a:solidFill>
                  <a:srgbClr val="FFFF00"/>
                </a:solidFill>
                <a:latin typeface="Times New Roman" panose="02020603050405020304" pitchFamily="18" charset="0"/>
                <a:cs typeface="Times New Roman" panose="02020603050405020304" pitchFamily="18" charset="0"/>
              </a:rPr>
              <a:t> = </a:t>
            </a:r>
            <a:r>
              <a:rPr lang="tr-TR" dirty="0" err="1">
                <a:solidFill>
                  <a:srgbClr val="FFFF00"/>
                </a:solidFill>
                <a:latin typeface="Times New Roman" panose="02020603050405020304" pitchFamily="18" charset="0"/>
                <a:cs typeface="Times New Roman" panose="02020603050405020304" pitchFamily="18" charset="0"/>
              </a:rPr>
              <a:t>fea_transformer.fit_transform</a:t>
            </a:r>
            <a:r>
              <a:rPr lang="tr-TR" dirty="0">
                <a:solidFill>
                  <a:srgbClr val="FFFF00"/>
                </a:solidFill>
                <a:latin typeface="Times New Roman" panose="02020603050405020304" pitchFamily="18" charset="0"/>
                <a:cs typeface="Times New Roman" panose="02020603050405020304" pitchFamily="18" charset="0"/>
              </a:rPr>
              <a:t>(</a:t>
            </a:r>
            <a:r>
              <a:rPr lang="tr-TR" dirty="0" err="1">
                <a:solidFill>
                  <a:srgbClr val="FFFF00"/>
                </a:solidFill>
                <a:latin typeface="Times New Roman" panose="02020603050405020304" pitchFamily="18" charset="0"/>
                <a:cs typeface="Times New Roman" panose="02020603050405020304" pitchFamily="18" charset="0"/>
              </a:rPr>
              <a:t>knndata</a:t>
            </a:r>
            <a:r>
              <a:rPr lang="tr-TR" dirty="0">
                <a:solidFill>
                  <a:srgbClr val="FFFF00"/>
                </a:solidFill>
                <a:latin typeface="Times New Roman" panose="02020603050405020304" pitchFamily="18" charset="0"/>
                <a:cs typeface="Times New Roman" panose="02020603050405020304" pitchFamily="18" charset="0"/>
              </a:rPr>
              <a:t>[["</a:t>
            </a:r>
            <a:r>
              <a:rPr lang="tr-TR" dirty="0" err="1">
                <a:solidFill>
                  <a:srgbClr val="FFFF00"/>
                </a:solidFill>
                <a:latin typeface="Times New Roman" panose="02020603050405020304" pitchFamily="18" charset="0"/>
                <a:cs typeface="Times New Roman" panose="02020603050405020304" pitchFamily="18" charset="0"/>
              </a:rPr>
              <a:t>year</a:t>
            </a:r>
            <a:r>
              <a:rPr lang="tr-TR" dirty="0">
                <a:solidFill>
                  <a:srgbClr val="FFFF00"/>
                </a:solidFill>
                <a:latin typeface="Times New Roman" panose="02020603050405020304" pitchFamily="18" charset="0"/>
                <a:cs typeface="Times New Roman" panose="02020603050405020304" pitchFamily="18" charset="0"/>
              </a:rPr>
              <a:t>","km_</a:t>
            </a:r>
            <a:r>
              <a:rPr lang="tr-TR" dirty="0" err="1">
                <a:solidFill>
                  <a:srgbClr val="FFFF00"/>
                </a:solidFill>
                <a:latin typeface="Times New Roman" panose="02020603050405020304" pitchFamily="18" charset="0"/>
                <a:cs typeface="Times New Roman" panose="02020603050405020304" pitchFamily="18" charset="0"/>
              </a:rPr>
              <a:t>driven</a:t>
            </a:r>
            <a:r>
              <a:rPr lang="tr-TR" dirty="0">
                <a:solidFill>
                  <a:srgbClr val="FFFF00"/>
                </a:solidFill>
                <a:latin typeface="Times New Roman" panose="02020603050405020304" pitchFamily="18" charset="0"/>
                <a:cs typeface="Times New Roman" panose="02020603050405020304" pitchFamily="18" charset="0"/>
              </a:rPr>
              <a:t>","</a:t>
            </a:r>
            <a:r>
              <a:rPr lang="tr-TR" b="1" dirty="0" err="1">
                <a:solidFill>
                  <a:srgbClr val="00B0F0"/>
                </a:solidFill>
                <a:latin typeface="Times New Roman" panose="02020603050405020304" pitchFamily="18" charset="0"/>
                <a:cs typeface="Times New Roman" panose="02020603050405020304" pitchFamily="18" charset="0"/>
              </a:rPr>
              <a:t>ex_showroom_price</a:t>
            </a:r>
            <a:r>
              <a:rPr lang="tr-TR" dirty="0">
                <a:solidFill>
                  <a:srgbClr val="FFFF00"/>
                </a:solidFill>
                <a:latin typeface="Times New Roman" panose="02020603050405020304" pitchFamily="18" charset="0"/>
                <a:cs typeface="Times New Roman" panose="02020603050405020304" pitchFamily="18" charset="0"/>
              </a:rPr>
              <a:t>"]])</a:t>
            </a:r>
          </a:p>
          <a:p>
            <a:pPr>
              <a:lnSpc>
                <a:spcPct val="130000"/>
              </a:lnSpc>
            </a:pPr>
            <a:r>
              <a:rPr lang="tr-TR" dirty="0" err="1">
                <a:solidFill>
                  <a:srgbClr val="FFFF00"/>
                </a:solidFill>
                <a:latin typeface="Times New Roman" panose="02020603050405020304" pitchFamily="18" charset="0"/>
                <a:cs typeface="Times New Roman" panose="02020603050405020304" pitchFamily="18" charset="0"/>
              </a:rPr>
              <a:t>knndata</a:t>
            </a:r>
            <a:r>
              <a:rPr lang="tr-TR" dirty="0">
                <a:solidFill>
                  <a:srgbClr val="FFFF00"/>
                </a:solidFill>
                <a:latin typeface="Times New Roman" panose="02020603050405020304" pitchFamily="18" charset="0"/>
                <a:cs typeface="Times New Roman" panose="02020603050405020304" pitchFamily="18" charset="0"/>
              </a:rPr>
              <a:t>["</a:t>
            </a:r>
            <a:r>
              <a:rPr lang="tr-TR" dirty="0" err="1">
                <a:solidFill>
                  <a:srgbClr val="FFFF00"/>
                </a:solidFill>
                <a:latin typeface="Times New Roman" panose="02020603050405020304" pitchFamily="18" charset="0"/>
                <a:cs typeface="Times New Roman" panose="02020603050405020304" pitchFamily="18" charset="0"/>
              </a:rPr>
              <a:t>ex_showroom_price</a:t>
            </a:r>
            <a:r>
              <a:rPr lang="tr-TR" dirty="0">
                <a:solidFill>
                  <a:srgbClr val="FFFF00"/>
                </a:solidFill>
                <a:latin typeface="Times New Roman" panose="02020603050405020304" pitchFamily="18" charset="0"/>
                <a:cs typeface="Times New Roman" panose="02020603050405020304" pitchFamily="18" charset="0"/>
              </a:rPr>
              <a:t>"] = </a:t>
            </a:r>
            <a:r>
              <a:rPr lang="tr-TR" dirty="0" err="1">
                <a:solidFill>
                  <a:srgbClr val="FFFF00"/>
                </a:solidFill>
                <a:latin typeface="Times New Roman" panose="02020603050405020304" pitchFamily="18" charset="0"/>
                <a:cs typeface="Times New Roman" panose="02020603050405020304" pitchFamily="18" charset="0"/>
              </a:rPr>
              <a:t>values</a:t>
            </a:r>
            <a:r>
              <a:rPr lang="tr-TR" dirty="0">
                <a:solidFill>
                  <a:srgbClr val="FFFF00"/>
                </a:solidFill>
                <a:latin typeface="Times New Roman" panose="02020603050405020304" pitchFamily="18" charset="0"/>
                <a:cs typeface="Times New Roman" panose="02020603050405020304" pitchFamily="18" charset="0"/>
              </a:rPr>
              <a:t>[:, 2]</a:t>
            </a:r>
          </a:p>
          <a:p>
            <a:pPr>
              <a:lnSpc>
                <a:spcPct val="130000"/>
              </a:lnSpc>
            </a:pPr>
            <a:r>
              <a:rPr lang="tr-TR" dirty="0" err="1">
                <a:solidFill>
                  <a:schemeClr val="bg1"/>
                </a:solidFill>
                <a:latin typeface="Times New Roman" panose="02020603050405020304" pitchFamily="18" charset="0"/>
                <a:cs typeface="Times New Roman" panose="02020603050405020304" pitchFamily="18" charset="0"/>
              </a:rPr>
              <a:t>print</a:t>
            </a:r>
            <a:r>
              <a:rPr lang="tr-TR" dirty="0">
                <a:solidFill>
                  <a:schemeClr val="bg1"/>
                </a:solidFill>
                <a:latin typeface="Times New Roman" panose="02020603050405020304" pitchFamily="18" charset="0"/>
                <a:cs typeface="Times New Roman" panose="02020603050405020304" pitchFamily="18" charset="0"/>
              </a:rPr>
              <a:t>(</a:t>
            </a:r>
            <a:r>
              <a:rPr lang="tr-TR" dirty="0" err="1">
                <a:solidFill>
                  <a:schemeClr val="bg1"/>
                </a:solidFill>
                <a:latin typeface="Times New Roman" panose="02020603050405020304" pitchFamily="18" charset="0"/>
                <a:cs typeface="Times New Roman" panose="02020603050405020304" pitchFamily="18" charset="0"/>
              </a:rPr>
              <a:t>knndata</a:t>
            </a:r>
            <a:r>
              <a:rPr lang="tr-TR" dirty="0">
                <a:solidFill>
                  <a:schemeClr val="bg1"/>
                </a:solidFill>
                <a:latin typeface="Times New Roman" panose="02020603050405020304" pitchFamily="18" charset="0"/>
                <a:cs typeface="Times New Roman" panose="02020603050405020304" pitchFamily="18" charset="0"/>
              </a:rPr>
              <a:t>["</a:t>
            </a:r>
            <a:r>
              <a:rPr lang="tr-TR" dirty="0" err="1">
                <a:solidFill>
                  <a:schemeClr val="bg1"/>
                </a:solidFill>
                <a:latin typeface="Times New Roman" panose="02020603050405020304" pitchFamily="18" charset="0"/>
                <a:cs typeface="Times New Roman" panose="02020603050405020304" pitchFamily="18" charset="0"/>
              </a:rPr>
              <a:t>ex_showroom_price</a:t>
            </a:r>
            <a:r>
              <a:rPr lang="tr-TR" dirty="0">
                <a:solidFill>
                  <a:schemeClr val="bg1"/>
                </a:solidFill>
                <a:latin typeface="Times New Roman" panose="02020603050405020304" pitchFamily="18" charset="0"/>
                <a:cs typeface="Times New Roman" panose="02020603050405020304" pitchFamily="18" charset="0"/>
              </a:rPr>
              <a:t>"][:20])</a:t>
            </a:r>
          </a:p>
        </p:txBody>
      </p:sp>
      <p:sp>
        <p:nvSpPr>
          <p:cNvPr id="8" name="TextBox 7">
            <a:extLst>
              <a:ext uri="{FF2B5EF4-FFF2-40B4-BE49-F238E27FC236}">
                <a16:creationId xmlns:a16="http://schemas.microsoft.com/office/drawing/2014/main" id="{7DF87929-1A47-BB8A-C252-2632E4815E6F}"/>
              </a:ext>
            </a:extLst>
          </p:cNvPr>
          <p:cNvSpPr txBox="1"/>
          <p:nvPr/>
        </p:nvSpPr>
        <p:spPr>
          <a:xfrm>
            <a:off x="1828800" y="354930"/>
            <a:ext cx="4572000" cy="369332"/>
          </a:xfrm>
          <a:prstGeom prst="rect">
            <a:avLst/>
          </a:prstGeom>
          <a:noFill/>
        </p:spPr>
        <p:txBody>
          <a:bodyPr wrap="square">
            <a:spAutoFit/>
          </a:bodyPr>
          <a:lstStyle/>
          <a:p>
            <a:pPr marL="12700" algn="ctr">
              <a:lnSpc>
                <a:spcPct val="100000"/>
              </a:lnSpc>
              <a:spcBef>
                <a:spcPts val="100"/>
              </a:spcBef>
            </a:pPr>
            <a:r>
              <a:rPr lang="tr-TR" sz="1800" b="1" spc="-5" dirty="0">
                <a:solidFill>
                  <a:srgbClr val="FFFF00"/>
                </a:solidFill>
                <a:latin typeface="Times New Roman" panose="02020603050405020304" pitchFamily="18" charset="0"/>
                <a:cs typeface="Times New Roman" panose="02020603050405020304" pitchFamily="18" charset="0"/>
              </a:rPr>
              <a:t>KNN </a:t>
            </a:r>
            <a:r>
              <a:rPr lang="tr-TR" sz="1800" b="1" spc="-5" dirty="0" err="1">
                <a:solidFill>
                  <a:srgbClr val="FFFF00"/>
                </a:solidFill>
                <a:latin typeface="Times New Roman" panose="02020603050405020304" pitchFamily="18" charset="0"/>
                <a:cs typeface="Times New Roman" panose="02020603050405020304" pitchFamily="18" charset="0"/>
              </a:rPr>
              <a:t>Imputation</a:t>
            </a:r>
            <a:r>
              <a:rPr lang="tr-TR" sz="1800" b="1" spc="-5" dirty="0">
                <a:solidFill>
                  <a:srgbClr val="FFFF00"/>
                </a:solidFill>
                <a:latin typeface="Times New Roman" panose="02020603050405020304" pitchFamily="18" charset="0"/>
                <a:cs typeface="Times New Roman" panose="02020603050405020304" pitchFamily="18" charset="0"/>
              </a:rPr>
              <a:t> </a:t>
            </a:r>
            <a:r>
              <a:rPr lang="tr-TR" sz="1800" b="1" spc="-5" dirty="0" err="1">
                <a:solidFill>
                  <a:srgbClr val="FFFF00"/>
                </a:solidFill>
                <a:latin typeface="Times New Roman" panose="02020603050405020304" pitchFamily="18" charset="0"/>
                <a:cs typeface="Times New Roman" panose="02020603050405020304" pitchFamily="18" charset="0"/>
              </a:rPr>
              <a:t>Code</a:t>
            </a:r>
            <a:endParaRPr lang="tr-TR" sz="1800" dirty="0">
              <a:solidFill>
                <a:srgbClr val="FFFF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FA2CC-79D1-D7D7-1812-7FE26F85EA4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860BEAF-DCD1-2256-D5D7-C6CC82D850EE}"/>
              </a:ext>
            </a:extLst>
          </p:cNvPr>
          <p:cNvSpPr txBox="1"/>
          <p:nvPr/>
        </p:nvSpPr>
        <p:spPr>
          <a:xfrm>
            <a:off x="1828800" y="179787"/>
            <a:ext cx="4572000" cy="369332"/>
          </a:xfrm>
          <a:prstGeom prst="rect">
            <a:avLst/>
          </a:prstGeom>
          <a:noFill/>
        </p:spPr>
        <p:txBody>
          <a:bodyPr wrap="square">
            <a:spAutoFit/>
          </a:bodyPr>
          <a:lstStyle/>
          <a:p>
            <a:pPr marL="12700" algn="ctr">
              <a:lnSpc>
                <a:spcPct val="100000"/>
              </a:lnSpc>
              <a:spcBef>
                <a:spcPts val="100"/>
              </a:spcBef>
            </a:pPr>
            <a:r>
              <a:rPr lang="tr-TR" sz="1800" b="1" spc="-5" dirty="0">
                <a:solidFill>
                  <a:srgbClr val="FFFF00"/>
                </a:solidFill>
                <a:latin typeface="Times New Roman" panose="02020603050405020304" pitchFamily="18" charset="0"/>
                <a:cs typeface="Times New Roman" panose="02020603050405020304" pitchFamily="18" charset="0"/>
              </a:rPr>
              <a:t>Ödev</a:t>
            </a:r>
            <a:endParaRPr lang="tr-TR" sz="1800" dirty="0">
              <a:solidFill>
                <a:srgbClr val="FFFF00"/>
              </a:solidFill>
              <a:latin typeface="Times New Roman" panose="02020603050405020304" pitchFamily="18" charset="0"/>
              <a:cs typeface="Times New Roman" panose="02020603050405020304" pitchFamily="18" charset="0"/>
            </a:endParaRPr>
          </a:p>
        </p:txBody>
      </p:sp>
      <p:graphicFrame>
        <p:nvGraphicFramePr>
          <p:cNvPr id="2" name="Tablo 1">
            <a:extLst>
              <a:ext uri="{FF2B5EF4-FFF2-40B4-BE49-F238E27FC236}">
                <a16:creationId xmlns:a16="http://schemas.microsoft.com/office/drawing/2014/main" id="{4D438F87-5408-20F8-B621-3A1A14D13BE3}"/>
              </a:ext>
            </a:extLst>
          </p:cNvPr>
          <p:cNvGraphicFramePr>
            <a:graphicFrameLocks noGrp="1"/>
          </p:cNvGraphicFramePr>
          <p:nvPr/>
        </p:nvGraphicFramePr>
        <p:xfrm>
          <a:off x="1189038" y="1403350"/>
          <a:ext cx="6765924" cy="2926080"/>
        </p:xfrm>
        <a:graphic>
          <a:graphicData uri="http://schemas.openxmlformats.org/drawingml/2006/table">
            <a:tbl>
              <a:tblPr/>
              <a:tblGrid>
                <a:gridCol w="1691481">
                  <a:extLst>
                    <a:ext uri="{9D8B030D-6E8A-4147-A177-3AD203B41FA5}">
                      <a16:colId xmlns:a16="http://schemas.microsoft.com/office/drawing/2014/main" val="994096941"/>
                    </a:ext>
                  </a:extLst>
                </a:gridCol>
                <a:gridCol w="1691481">
                  <a:extLst>
                    <a:ext uri="{9D8B030D-6E8A-4147-A177-3AD203B41FA5}">
                      <a16:colId xmlns:a16="http://schemas.microsoft.com/office/drawing/2014/main" val="926534639"/>
                    </a:ext>
                  </a:extLst>
                </a:gridCol>
                <a:gridCol w="1691481">
                  <a:extLst>
                    <a:ext uri="{9D8B030D-6E8A-4147-A177-3AD203B41FA5}">
                      <a16:colId xmlns:a16="http://schemas.microsoft.com/office/drawing/2014/main" val="1108136541"/>
                    </a:ext>
                  </a:extLst>
                </a:gridCol>
                <a:gridCol w="1691481">
                  <a:extLst>
                    <a:ext uri="{9D8B030D-6E8A-4147-A177-3AD203B41FA5}">
                      <a16:colId xmlns:a16="http://schemas.microsoft.com/office/drawing/2014/main" val="3406311544"/>
                    </a:ext>
                  </a:extLst>
                </a:gridCol>
              </a:tblGrid>
              <a:tr h="0">
                <a:tc>
                  <a:txBody>
                    <a:bodyPr/>
                    <a:lstStyle/>
                    <a:p>
                      <a:pPr>
                        <a:buNone/>
                      </a:pPr>
                      <a:r>
                        <a:rPr lang="tr-TR"/>
                        <a:t>Yöntem</a:t>
                      </a:r>
                    </a:p>
                  </a:txBody>
                  <a:tcPr anchor="ctr">
                    <a:lnL>
                      <a:noFill/>
                    </a:lnL>
                    <a:lnR>
                      <a:noFill/>
                    </a:lnR>
                    <a:lnT>
                      <a:noFill/>
                    </a:lnT>
                    <a:lnB>
                      <a:noFill/>
                    </a:lnB>
                    <a:noFill/>
                  </a:tcPr>
                </a:tc>
                <a:tc>
                  <a:txBody>
                    <a:bodyPr/>
                    <a:lstStyle/>
                    <a:p>
                      <a:pPr algn="r">
                        <a:buNone/>
                      </a:pPr>
                      <a:r>
                        <a:rPr lang="tr-TR"/>
                        <a:t>MAE</a:t>
                      </a:r>
                    </a:p>
                  </a:txBody>
                  <a:tcPr anchor="ctr">
                    <a:lnL>
                      <a:noFill/>
                    </a:lnL>
                    <a:lnR>
                      <a:noFill/>
                    </a:lnR>
                    <a:lnT>
                      <a:noFill/>
                    </a:lnT>
                    <a:lnB>
                      <a:noFill/>
                    </a:lnB>
                    <a:noFill/>
                  </a:tcPr>
                </a:tc>
                <a:tc>
                  <a:txBody>
                    <a:bodyPr/>
                    <a:lstStyle/>
                    <a:p>
                      <a:pPr algn="r">
                        <a:buNone/>
                      </a:pPr>
                      <a:r>
                        <a:rPr lang="tr-TR"/>
                        <a:t>RMSE</a:t>
                      </a:r>
                    </a:p>
                  </a:txBody>
                  <a:tcPr anchor="ctr">
                    <a:lnL>
                      <a:noFill/>
                    </a:lnL>
                    <a:lnR>
                      <a:noFill/>
                    </a:lnR>
                    <a:lnT>
                      <a:noFill/>
                    </a:lnT>
                    <a:lnB>
                      <a:noFill/>
                    </a:lnB>
                    <a:noFill/>
                  </a:tcPr>
                </a:tc>
                <a:tc>
                  <a:txBody>
                    <a:bodyPr/>
                    <a:lstStyle/>
                    <a:p>
                      <a:pPr algn="r">
                        <a:buNone/>
                      </a:pPr>
                      <a:r>
                        <a:rPr lang="tr-TR"/>
                        <a:t>R²</a:t>
                      </a:r>
                    </a:p>
                  </a:txBody>
                  <a:tcPr anchor="ctr">
                    <a:lnL>
                      <a:noFill/>
                    </a:lnL>
                    <a:lnR>
                      <a:noFill/>
                    </a:lnR>
                    <a:lnT>
                      <a:noFill/>
                    </a:lnT>
                    <a:lnB>
                      <a:noFill/>
                    </a:lnB>
                    <a:noFill/>
                  </a:tcPr>
                </a:tc>
                <a:extLst>
                  <a:ext uri="{0D108BD9-81ED-4DB2-BD59-A6C34878D82A}">
                    <a16:rowId xmlns:a16="http://schemas.microsoft.com/office/drawing/2014/main" val="1903372915"/>
                  </a:ext>
                </a:extLst>
              </a:tr>
              <a:tr h="0">
                <a:tc>
                  <a:txBody>
                    <a:bodyPr/>
                    <a:lstStyle/>
                    <a:p>
                      <a:pPr>
                        <a:buNone/>
                      </a:pPr>
                      <a:r>
                        <a:rPr lang="tr-TR"/>
                        <a:t>Mean</a:t>
                      </a: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extLst>
                  <a:ext uri="{0D108BD9-81ED-4DB2-BD59-A6C34878D82A}">
                    <a16:rowId xmlns:a16="http://schemas.microsoft.com/office/drawing/2014/main" val="2111246189"/>
                  </a:ext>
                </a:extLst>
              </a:tr>
              <a:tr h="0">
                <a:tc>
                  <a:txBody>
                    <a:bodyPr/>
                    <a:lstStyle/>
                    <a:p>
                      <a:pPr>
                        <a:buNone/>
                      </a:pPr>
                      <a:r>
                        <a:rPr lang="tr-TR"/>
                        <a:t>Median</a:t>
                      </a: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extLst>
                  <a:ext uri="{0D108BD9-81ED-4DB2-BD59-A6C34878D82A}">
                    <a16:rowId xmlns:a16="http://schemas.microsoft.com/office/drawing/2014/main" val="1459436176"/>
                  </a:ext>
                </a:extLst>
              </a:tr>
              <a:tr h="0">
                <a:tc>
                  <a:txBody>
                    <a:bodyPr/>
                    <a:lstStyle/>
                    <a:p>
                      <a:pPr>
                        <a:buNone/>
                      </a:pPr>
                      <a:r>
                        <a:rPr lang="tr-TR"/>
                        <a:t>KNN (K=3)</a:t>
                      </a: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extLst>
                  <a:ext uri="{0D108BD9-81ED-4DB2-BD59-A6C34878D82A}">
                    <a16:rowId xmlns:a16="http://schemas.microsoft.com/office/drawing/2014/main" val="1253241407"/>
                  </a:ext>
                </a:extLst>
              </a:tr>
              <a:tr h="0">
                <a:tc>
                  <a:txBody>
                    <a:bodyPr/>
                    <a:lstStyle/>
                    <a:p>
                      <a:pPr>
                        <a:buNone/>
                      </a:pPr>
                      <a:r>
                        <a:rPr lang="tr-TR"/>
                        <a:t>KNN (K=5)</a:t>
                      </a: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extLst>
                  <a:ext uri="{0D108BD9-81ED-4DB2-BD59-A6C34878D82A}">
                    <a16:rowId xmlns:a16="http://schemas.microsoft.com/office/drawing/2014/main" val="515989193"/>
                  </a:ext>
                </a:extLst>
              </a:tr>
              <a:tr h="0">
                <a:tc>
                  <a:txBody>
                    <a:bodyPr/>
                    <a:lstStyle/>
                    <a:p>
                      <a:pPr>
                        <a:buNone/>
                      </a:pPr>
                      <a:r>
                        <a:rPr lang="tr-TR"/>
                        <a:t>KNN (K=10)</a:t>
                      </a: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extLst>
                  <a:ext uri="{0D108BD9-81ED-4DB2-BD59-A6C34878D82A}">
                    <a16:rowId xmlns:a16="http://schemas.microsoft.com/office/drawing/2014/main" val="3092105508"/>
                  </a:ext>
                </a:extLst>
              </a:tr>
              <a:tr h="0">
                <a:tc>
                  <a:txBody>
                    <a:bodyPr/>
                    <a:lstStyle/>
                    <a:p>
                      <a:pPr>
                        <a:buNone/>
                      </a:pPr>
                      <a:r>
                        <a:rPr lang="tr-TR"/>
                        <a:t>MICE</a:t>
                      </a: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extLst>
                  <a:ext uri="{0D108BD9-81ED-4DB2-BD59-A6C34878D82A}">
                    <a16:rowId xmlns:a16="http://schemas.microsoft.com/office/drawing/2014/main" val="3696390887"/>
                  </a:ext>
                </a:extLst>
              </a:tr>
              <a:tr h="0">
                <a:tc>
                  <a:txBody>
                    <a:bodyPr/>
                    <a:lstStyle/>
                    <a:p>
                      <a:pPr>
                        <a:buNone/>
                      </a:pPr>
                      <a:r>
                        <a:rPr lang="tr-TR"/>
                        <a:t>Random Forest</a:t>
                      </a: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extLst>
                  <a:ext uri="{0D108BD9-81ED-4DB2-BD59-A6C34878D82A}">
                    <a16:rowId xmlns:a16="http://schemas.microsoft.com/office/drawing/2014/main" val="823370209"/>
                  </a:ext>
                </a:extLst>
              </a:tr>
            </a:tbl>
          </a:graphicData>
        </a:graphic>
      </p:graphicFrame>
      <p:sp>
        <p:nvSpPr>
          <p:cNvPr id="7" name="Metin kutusu 6">
            <a:extLst>
              <a:ext uri="{FF2B5EF4-FFF2-40B4-BE49-F238E27FC236}">
                <a16:creationId xmlns:a16="http://schemas.microsoft.com/office/drawing/2014/main" id="{48C823F7-614A-8704-887F-492853D12F62}"/>
              </a:ext>
            </a:extLst>
          </p:cNvPr>
          <p:cNvSpPr txBox="1"/>
          <p:nvPr/>
        </p:nvSpPr>
        <p:spPr>
          <a:xfrm>
            <a:off x="152400" y="577897"/>
            <a:ext cx="8594724" cy="4201150"/>
          </a:xfrm>
          <a:prstGeom prst="rect">
            <a:avLst/>
          </a:prstGeom>
          <a:noFill/>
        </p:spPr>
        <p:txBody>
          <a:bodyPr wrap="square">
            <a:spAutoFit/>
          </a:bodyPr>
          <a:lstStyle/>
          <a:p>
            <a:pPr algn="ctr">
              <a:buNone/>
            </a:pPr>
            <a:r>
              <a:rPr lang="tr-TR" sz="1400" b="1" dirty="0">
                <a:solidFill>
                  <a:srgbClr val="FFFF00"/>
                </a:solidFill>
              </a:rPr>
              <a:t>Eksik Veri Tamamlama Yöntemlerinin Karşılaştırılması</a:t>
            </a:r>
          </a:p>
          <a:p>
            <a:pPr>
              <a:spcAft>
                <a:spcPts val="600"/>
              </a:spcAft>
              <a:buNone/>
            </a:pPr>
            <a:r>
              <a:rPr lang="tr-TR" sz="1400" dirty="0">
                <a:solidFill>
                  <a:schemeClr val="bg1"/>
                </a:solidFill>
              </a:rPr>
              <a:t>Bir veri seti üzerinde farklı </a:t>
            </a:r>
            <a:r>
              <a:rPr lang="tr-TR" sz="1400" b="1" dirty="0">
                <a:solidFill>
                  <a:schemeClr val="bg1"/>
                </a:solidFill>
              </a:rPr>
              <a:t>eksik veri tamamlama (</a:t>
            </a:r>
            <a:r>
              <a:rPr lang="tr-TR" sz="1400" b="1" dirty="0" err="1">
                <a:solidFill>
                  <a:schemeClr val="bg1"/>
                </a:solidFill>
              </a:rPr>
              <a:t>Imputation</a:t>
            </a:r>
            <a:r>
              <a:rPr lang="tr-TR" sz="1400" b="1" dirty="0">
                <a:solidFill>
                  <a:schemeClr val="bg1"/>
                </a:solidFill>
              </a:rPr>
              <a:t>)</a:t>
            </a:r>
            <a:r>
              <a:rPr lang="tr-TR" sz="1400" dirty="0">
                <a:solidFill>
                  <a:schemeClr val="bg1"/>
                </a:solidFill>
              </a:rPr>
              <a:t> yöntemlerini uygulayarak performanslarını karşılaştırınız.</a:t>
            </a:r>
          </a:p>
          <a:p>
            <a:pPr>
              <a:buNone/>
            </a:pPr>
            <a:r>
              <a:rPr lang="tr-TR" sz="1400" b="1" dirty="0">
                <a:solidFill>
                  <a:srgbClr val="FFFF00"/>
                </a:solidFill>
              </a:rPr>
              <a:t>1. Veri Seti</a:t>
            </a:r>
          </a:p>
          <a:p>
            <a:pPr>
              <a:buNone/>
            </a:pPr>
            <a:r>
              <a:rPr lang="tr-TR" sz="1400" dirty="0" err="1">
                <a:solidFill>
                  <a:schemeClr val="bg1"/>
                </a:solidFill>
              </a:rPr>
              <a:t>Kaggle</a:t>
            </a:r>
            <a:r>
              <a:rPr lang="tr-TR" sz="1400" dirty="0">
                <a:solidFill>
                  <a:schemeClr val="bg1"/>
                </a:solidFill>
              </a:rPr>
              <a:t>, UCI veya benzeri bir kaynaktan </a:t>
            </a:r>
            <a:r>
              <a:rPr lang="tr-TR" sz="1400" b="1" dirty="0">
                <a:solidFill>
                  <a:schemeClr val="bg1"/>
                </a:solidFill>
              </a:rPr>
              <a:t>sayısal değişkenler içeren bir veri seti</a:t>
            </a:r>
            <a:r>
              <a:rPr lang="tr-TR" sz="1400" dirty="0">
                <a:solidFill>
                  <a:schemeClr val="bg1"/>
                </a:solidFill>
              </a:rPr>
              <a:t> seçiniz.</a:t>
            </a:r>
          </a:p>
          <a:p>
            <a:pPr>
              <a:spcAft>
                <a:spcPts val="600"/>
              </a:spcAft>
              <a:buNone/>
            </a:pPr>
            <a:r>
              <a:rPr lang="tr-TR" sz="1400" dirty="0">
                <a:solidFill>
                  <a:schemeClr val="bg1"/>
                </a:solidFill>
              </a:rPr>
              <a:t>Veri setinde yeterli miktarda eksik veri yoksa, mevcut verilerin bir bölümünü rastgele eksik hale getiriniz.</a:t>
            </a:r>
          </a:p>
          <a:p>
            <a:pPr>
              <a:buNone/>
            </a:pPr>
            <a:r>
              <a:rPr lang="tr-TR" sz="1400" b="1" dirty="0">
                <a:solidFill>
                  <a:srgbClr val="FFFF00"/>
                </a:solidFill>
              </a:rPr>
              <a:t>2. Kullanılacak Yöntemler</a:t>
            </a:r>
          </a:p>
          <a:p>
            <a:pPr>
              <a:buNone/>
            </a:pPr>
            <a:r>
              <a:rPr lang="tr-TR" sz="1400" dirty="0">
                <a:solidFill>
                  <a:schemeClr val="bg1"/>
                </a:solidFill>
              </a:rPr>
              <a:t>Aşağıdaki yöntemleri uygulayınız:</a:t>
            </a:r>
          </a:p>
          <a:p>
            <a:pPr marL="742950" lvl="1" indent="-285750">
              <a:buFont typeface="Arial" panose="020B0604020202020204" pitchFamily="34" charset="0"/>
              <a:buChar char="•"/>
            </a:pPr>
            <a:r>
              <a:rPr lang="tr-TR" sz="1400" dirty="0" err="1">
                <a:solidFill>
                  <a:schemeClr val="bg1"/>
                </a:solidFill>
              </a:rPr>
              <a:t>Mean</a:t>
            </a:r>
            <a:r>
              <a:rPr lang="tr-TR" sz="1400" dirty="0">
                <a:solidFill>
                  <a:schemeClr val="bg1"/>
                </a:solidFill>
              </a:rPr>
              <a:t> </a:t>
            </a:r>
            <a:r>
              <a:rPr lang="tr-TR" sz="1400" dirty="0" err="1">
                <a:solidFill>
                  <a:schemeClr val="bg1"/>
                </a:solidFill>
              </a:rPr>
              <a:t>Imputation</a:t>
            </a:r>
            <a:endParaRPr lang="tr-TR" sz="1400" dirty="0">
              <a:solidFill>
                <a:schemeClr val="bg1"/>
              </a:solidFill>
            </a:endParaRPr>
          </a:p>
          <a:p>
            <a:pPr marL="742950" lvl="1" indent="-285750">
              <a:buFont typeface="Arial" panose="020B0604020202020204" pitchFamily="34" charset="0"/>
              <a:buChar char="•"/>
            </a:pPr>
            <a:r>
              <a:rPr lang="tr-TR" sz="1400" dirty="0" err="1">
                <a:solidFill>
                  <a:schemeClr val="bg1"/>
                </a:solidFill>
              </a:rPr>
              <a:t>Median</a:t>
            </a:r>
            <a:r>
              <a:rPr lang="tr-TR" sz="1400" dirty="0">
                <a:solidFill>
                  <a:schemeClr val="bg1"/>
                </a:solidFill>
              </a:rPr>
              <a:t> </a:t>
            </a:r>
            <a:r>
              <a:rPr lang="tr-TR" sz="1400" dirty="0" err="1">
                <a:solidFill>
                  <a:schemeClr val="bg1"/>
                </a:solidFill>
              </a:rPr>
              <a:t>Imputation</a:t>
            </a:r>
            <a:endParaRPr lang="tr-TR" sz="1400" dirty="0">
              <a:solidFill>
                <a:schemeClr val="bg1"/>
              </a:solidFill>
            </a:endParaRPr>
          </a:p>
          <a:p>
            <a:pPr marL="742950" lvl="1" indent="-285750">
              <a:buFont typeface="Arial" panose="020B0604020202020204" pitchFamily="34" charset="0"/>
              <a:buChar char="•"/>
            </a:pPr>
            <a:r>
              <a:rPr lang="tr-TR" sz="1400" dirty="0">
                <a:solidFill>
                  <a:schemeClr val="bg1"/>
                </a:solidFill>
              </a:rPr>
              <a:t>KNN </a:t>
            </a:r>
            <a:r>
              <a:rPr lang="tr-TR" sz="1400" dirty="0" err="1">
                <a:solidFill>
                  <a:schemeClr val="bg1"/>
                </a:solidFill>
              </a:rPr>
              <a:t>Imputer</a:t>
            </a:r>
            <a:r>
              <a:rPr lang="tr-TR" sz="1400" dirty="0">
                <a:solidFill>
                  <a:schemeClr val="bg1"/>
                </a:solidFill>
              </a:rPr>
              <a:t> (</a:t>
            </a:r>
            <a:r>
              <a:rPr lang="tr-TR" sz="1400" dirty="0">
                <a:solidFill>
                  <a:schemeClr val="bg1"/>
                </a:solidFill>
                <a:latin typeface="+mn-lt"/>
              </a:rPr>
              <a:t>K=3</a:t>
            </a:r>
            <a:r>
              <a:rPr lang="tr-TR" sz="1400" dirty="0">
                <a:solidFill>
                  <a:schemeClr val="bg1"/>
                </a:solidFill>
              </a:rPr>
              <a:t>, </a:t>
            </a:r>
            <a:r>
              <a:rPr lang="tr-TR" sz="1400" dirty="0">
                <a:solidFill>
                  <a:schemeClr val="bg1"/>
                </a:solidFill>
                <a:latin typeface="+mn-lt"/>
              </a:rPr>
              <a:t>K=5</a:t>
            </a:r>
            <a:r>
              <a:rPr lang="tr-TR" sz="1400" dirty="0">
                <a:solidFill>
                  <a:schemeClr val="bg1"/>
                </a:solidFill>
              </a:rPr>
              <a:t>, </a:t>
            </a:r>
            <a:r>
              <a:rPr lang="tr-TR" sz="1400" dirty="0">
                <a:solidFill>
                  <a:schemeClr val="bg1"/>
                </a:solidFill>
                <a:latin typeface="+mn-lt"/>
              </a:rPr>
              <a:t>K=10</a:t>
            </a:r>
            <a:r>
              <a:rPr lang="tr-TR" sz="1400" dirty="0">
                <a:solidFill>
                  <a:schemeClr val="bg1"/>
                </a:solidFill>
              </a:rPr>
              <a:t>)</a:t>
            </a:r>
          </a:p>
          <a:p>
            <a:pPr marL="742950" lvl="1" indent="-285750">
              <a:buFont typeface="Arial" panose="020B0604020202020204" pitchFamily="34" charset="0"/>
              <a:buChar char="•"/>
            </a:pPr>
            <a:r>
              <a:rPr lang="tr-TR" sz="1400" dirty="0" err="1">
                <a:solidFill>
                  <a:schemeClr val="bg1"/>
                </a:solidFill>
              </a:rPr>
              <a:t>Iterative</a:t>
            </a:r>
            <a:r>
              <a:rPr lang="tr-TR" sz="1400" dirty="0">
                <a:solidFill>
                  <a:schemeClr val="bg1"/>
                </a:solidFill>
              </a:rPr>
              <a:t> </a:t>
            </a:r>
            <a:r>
              <a:rPr lang="tr-TR" sz="1400" dirty="0" err="1">
                <a:solidFill>
                  <a:schemeClr val="bg1"/>
                </a:solidFill>
              </a:rPr>
              <a:t>Imputer</a:t>
            </a:r>
            <a:r>
              <a:rPr lang="tr-TR" sz="1400" dirty="0">
                <a:solidFill>
                  <a:schemeClr val="bg1"/>
                </a:solidFill>
              </a:rPr>
              <a:t> (MICE)</a:t>
            </a:r>
          </a:p>
          <a:p>
            <a:pPr marL="742950" lvl="1" indent="-285750">
              <a:spcAft>
                <a:spcPts val="600"/>
              </a:spcAft>
              <a:buFont typeface="Arial" panose="020B0604020202020204" pitchFamily="34" charset="0"/>
              <a:buChar char="•"/>
            </a:pPr>
            <a:r>
              <a:rPr lang="tr-TR" sz="1400" dirty="0" err="1">
                <a:solidFill>
                  <a:schemeClr val="bg1"/>
                </a:solidFill>
              </a:rPr>
              <a:t>Random</a:t>
            </a:r>
            <a:r>
              <a:rPr lang="tr-TR" sz="1400" dirty="0">
                <a:solidFill>
                  <a:schemeClr val="bg1"/>
                </a:solidFill>
              </a:rPr>
              <a:t> </a:t>
            </a:r>
            <a:r>
              <a:rPr lang="tr-TR" sz="1400" dirty="0" err="1">
                <a:solidFill>
                  <a:schemeClr val="bg1"/>
                </a:solidFill>
              </a:rPr>
              <a:t>Forest</a:t>
            </a:r>
            <a:r>
              <a:rPr lang="tr-TR" sz="1400" dirty="0">
                <a:solidFill>
                  <a:schemeClr val="bg1"/>
                </a:solidFill>
              </a:rPr>
              <a:t> tabanlı </a:t>
            </a:r>
            <a:r>
              <a:rPr lang="tr-TR" sz="1400" dirty="0" err="1">
                <a:solidFill>
                  <a:schemeClr val="bg1"/>
                </a:solidFill>
              </a:rPr>
              <a:t>Imputation</a:t>
            </a:r>
            <a:endParaRPr lang="tr-TR" sz="1400" dirty="0">
              <a:solidFill>
                <a:schemeClr val="bg1"/>
              </a:solidFill>
            </a:endParaRPr>
          </a:p>
          <a:p>
            <a:pPr>
              <a:buNone/>
            </a:pPr>
            <a:r>
              <a:rPr lang="tr-TR" sz="1400" b="1" dirty="0">
                <a:solidFill>
                  <a:srgbClr val="FFFF00"/>
                </a:solidFill>
              </a:rPr>
              <a:t>3. Performans Karşılaştırması</a:t>
            </a:r>
          </a:p>
          <a:p>
            <a:pPr>
              <a:buNone/>
            </a:pPr>
            <a:r>
              <a:rPr lang="tr-TR" sz="1400" dirty="0">
                <a:solidFill>
                  <a:schemeClr val="bg1"/>
                </a:solidFill>
              </a:rPr>
              <a:t>Her yöntemin eksik verileri ne kadar başarılı tamamladığını aşağıdaki ölçütlerle karşılaştırınız:</a:t>
            </a:r>
          </a:p>
          <a:p>
            <a:pPr marL="742950" lvl="1" indent="-285750">
              <a:buFont typeface="Arial" panose="020B0604020202020204" pitchFamily="34" charset="0"/>
              <a:buChar char="•"/>
            </a:pPr>
            <a:r>
              <a:rPr lang="tr-TR" sz="1400" b="1" dirty="0">
                <a:solidFill>
                  <a:schemeClr val="bg1"/>
                </a:solidFill>
              </a:rPr>
              <a:t>MAE</a:t>
            </a:r>
            <a:endParaRPr lang="tr-TR" sz="1400" dirty="0">
              <a:solidFill>
                <a:schemeClr val="bg1"/>
              </a:solidFill>
            </a:endParaRPr>
          </a:p>
          <a:p>
            <a:pPr marL="742950" lvl="1" indent="-285750">
              <a:buFont typeface="Arial" panose="020B0604020202020204" pitchFamily="34" charset="0"/>
              <a:buChar char="•"/>
            </a:pPr>
            <a:r>
              <a:rPr lang="tr-TR" sz="1400" b="1" dirty="0">
                <a:solidFill>
                  <a:schemeClr val="bg1"/>
                </a:solidFill>
              </a:rPr>
              <a:t>RMSE</a:t>
            </a:r>
            <a:endParaRPr lang="tr-TR" sz="1400" dirty="0">
              <a:solidFill>
                <a:schemeClr val="bg1"/>
              </a:solidFill>
            </a:endParaRPr>
          </a:p>
          <a:p>
            <a:pPr marL="742950" lvl="1" indent="-285750">
              <a:buFont typeface="Arial" panose="020B0604020202020204" pitchFamily="34" charset="0"/>
              <a:buChar char="•"/>
            </a:pPr>
            <a:r>
              <a:rPr lang="tr-TR" sz="1400" b="1" dirty="0">
                <a:solidFill>
                  <a:schemeClr val="bg1"/>
                </a:solidFill>
              </a:rPr>
              <a:t>R²</a:t>
            </a:r>
            <a:endParaRPr lang="tr-TR" sz="1400" dirty="0">
              <a:solidFill>
                <a:schemeClr val="bg1"/>
              </a:solidFill>
            </a:endParaRPr>
          </a:p>
        </p:txBody>
      </p:sp>
    </p:spTree>
    <p:extLst>
      <p:ext uri="{BB962C8B-B14F-4D97-AF65-F5344CB8AC3E}">
        <p14:creationId xmlns:p14="http://schemas.microsoft.com/office/powerpoint/2010/main" val="14192481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CB1BE-BA73-D49E-1925-3C7DED60BD0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DBBC93E-9716-C0AD-AD34-0F2278CAD464}"/>
              </a:ext>
            </a:extLst>
          </p:cNvPr>
          <p:cNvSpPr txBox="1"/>
          <p:nvPr/>
        </p:nvSpPr>
        <p:spPr>
          <a:xfrm>
            <a:off x="1905000" y="165059"/>
            <a:ext cx="4572000" cy="369332"/>
          </a:xfrm>
          <a:prstGeom prst="rect">
            <a:avLst/>
          </a:prstGeom>
          <a:noFill/>
        </p:spPr>
        <p:txBody>
          <a:bodyPr wrap="square">
            <a:spAutoFit/>
          </a:bodyPr>
          <a:lstStyle/>
          <a:p>
            <a:pPr marL="12700" algn="ctr">
              <a:lnSpc>
                <a:spcPct val="100000"/>
              </a:lnSpc>
              <a:spcBef>
                <a:spcPts val="100"/>
              </a:spcBef>
            </a:pPr>
            <a:r>
              <a:rPr lang="tr-TR" sz="1800" b="1" spc="-5" dirty="0">
                <a:solidFill>
                  <a:srgbClr val="FFFF00"/>
                </a:solidFill>
                <a:latin typeface="Times New Roman" panose="02020603050405020304" pitchFamily="18" charset="0"/>
                <a:cs typeface="Times New Roman" panose="02020603050405020304" pitchFamily="18" charset="0"/>
              </a:rPr>
              <a:t>Ödev</a:t>
            </a:r>
            <a:endParaRPr lang="tr-TR" sz="1800" dirty="0">
              <a:solidFill>
                <a:srgbClr val="FFFF00"/>
              </a:solidFill>
              <a:latin typeface="Times New Roman" panose="02020603050405020304" pitchFamily="18" charset="0"/>
              <a:cs typeface="Times New Roman" panose="02020603050405020304" pitchFamily="18" charset="0"/>
            </a:endParaRPr>
          </a:p>
        </p:txBody>
      </p:sp>
      <p:graphicFrame>
        <p:nvGraphicFramePr>
          <p:cNvPr id="2" name="Tablo 1">
            <a:extLst>
              <a:ext uri="{FF2B5EF4-FFF2-40B4-BE49-F238E27FC236}">
                <a16:creationId xmlns:a16="http://schemas.microsoft.com/office/drawing/2014/main" id="{AFA08AB0-4C9F-6630-7334-A892F466DFBA}"/>
              </a:ext>
            </a:extLst>
          </p:cNvPr>
          <p:cNvGraphicFramePr>
            <a:graphicFrameLocks noGrp="1"/>
          </p:cNvGraphicFramePr>
          <p:nvPr/>
        </p:nvGraphicFramePr>
        <p:xfrm>
          <a:off x="1189038" y="1403350"/>
          <a:ext cx="6765924" cy="2926080"/>
        </p:xfrm>
        <a:graphic>
          <a:graphicData uri="http://schemas.openxmlformats.org/drawingml/2006/table">
            <a:tbl>
              <a:tblPr/>
              <a:tblGrid>
                <a:gridCol w="1691481">
                  <a:extLst>
                    <a:ext uri="{9D8B030D-6E8A-4147-A177-3AD203B41FA5}">
                      <a16:colId xmlns:a16="http://schemas.microsoft.com/office/drawing/2014/main" val="994096941"/>
                    </a:ext>
                  </a:extLst>
                </a:gridCol>
                <a:gridCol w="1691481">
                  <a:extLst>
                    <a:ext uri="{9D8B030D-6E8A-4147-A177-3AD203B41FA5}">
                      <a16:colId xmlns:a16="http://schemas.microsoft.com/office/drawing/2014/main" val="926534639"/>
                    </a:ext>
                  </a:extLst>
                </a:gridCol>
                <a:gridCol w="1691481">
                  <a:extLst>
                    <a:ext uri="{9D8B030D-6E8A-4147-A177-3AD203B41FA5}">
                      <a16:colId xmlns:a16="http://schemas.microsoft.com/office/drawing/2014/main" val="1108136541"/>
                    </a:ext>
                  </a:extLst>
                </a:gridCol>
                <a:gridCol w="1691481">
                  <a:extLst>
                    <a:ext uri="{9D8B030D-6E8A-4147-A177-3AD203B41FA5}">
                      <a16:colId xmlns:a16="http://schemas.microsoft.com/office/drawing/2014/main" val="3406311544"/>
                    </a:ext>
                  </a:extLst>
                </a:gridCol>
              </a:tblGrid>
              <a:tr h="0">
                <a:tc>
                  <a:txBody>
                    <a:bodyPr/>
                    <a:lstStyle/>
                    <a:p>
                      <a:pPr>
                        <a:buNone/>
                      </a:pPr>
                      <a:r>
                        <a:rPr lang="tr-TR"/>
                        <a:t>Yöntem</a:t>
                      </a:r>
                    </a:p>
                  </a:txBody>
                  <a:tcPr anchor="ctr">
                    <a:lnL>
                      <a:noFill/>
                    </a:lnL>
                    <a:lnR>
                      <a:noFill/>
                    </a:lnR>
                    <a:lnT>
                      <a:noFill/>
                    </a:lnT>
                    <a:lnB>
                      <a:noFill/>
                    </a:lnB>
                    <a:noFill/>
                  </a:tcPr>
                </a:tc>
                <a:tc>
                  <a:txBody>
                    <a:bodyPr/>
                    <a:lstStyle/>
                    <a:p>
                      <a:pPr algn="r">
                        <a:buNone/>
                      </a:pPr>
                      <a:r>
                        <a:rPr lang="tr-TR"/>
                        <a:t>MAE</a:t>
                      </a:r>
                    </a:p>
                  </a:txBody>
                  <a:tcPr anchor="ctr">
                    <a:lnL>
                      <a:noFill/>
                    </a:lnL>
                    <a:lnR>
                      <a:noFill/>
                    </a:lnR>
                    <a:lnT>
                      <a:noFill/>
                    </a:lnT>
                    <a:lnB>
                      <a:noFill/>
                    </a:lnB>
                    <a:noFill/>
                  </a:tcPr>
                </a:tc>
                <a:tc>
                  <a:txBody>
                    <a:bodyPr/>
                    <a:lstStyle/>
                    <a:p>
                      <a:pPr algn="r">
                        <a:buNone/>
                      </a:pPr>
                      <a:r>
                        <a:rPr lang="tr-TR"/>
                        <a:t>RMSE</a:t>
                      </a:r>
                    </a:p>
                  </a:txBody>
                  <a:tcPr anchor="ctr">
                    <a:lnL>
                      <a:noFill/>
                    </a:lnL>
                    <a:lnR>
                      <a:noFill/>
                    </a:lnR>
                    <a:lnT>
                      <a:noFill/>
                    </a:lnT>
                    <a:lnB>
                      <a:noFill/>
                    </a:lnB>
                    <a:noFill/>
                  </a:tcPr>
                </a:tc>
                <a:tc>
                  <a:txBody>
                    <a:bodyPr/>
                    <a:lstStyle/>
                    <a:p>
                      <a:pPr algn="r">
                        <a:buNone/>
                      </a:pPr>
                      <a:r>
                        <a:rPr lang="tr-TR"/>
                        <a:t>R²</a:t>
                      </a:r>
                    </a:p>
                  </a:txBody>
                  <a:tcPr anchor="ctr">
                    <a:lnL>
                      <a:noFill/>
                    </a:lnL>
                    <a:lnR>
                      <a:noFill/>
                    </a:lnR>
                    <a:lnT>
                      <a:noFill/>
                    </a:lnT>
                    <a:lnB>
                      <a:noFill/>
                    </a:lnB>
                    <a:noFill/>
                  </a:tcPr>
                </a:tc>
                <a:extLst>
                  <a:ext uri="{0D108BD9-81ED-4DB2-BD59-A6C34878D82A}">
                    <a16:rowId xmlns:a16="http://schemas.microsoft.com/office/drawing/2014/main" val="1903372915"/>
                  </a:ext>
                </a:extLst>
              </a:tr>
              <a:tr h="0">
                <a:tc>
                  <a:txBody>
                    <a:bodyPr/>
                    <a:lstStyle/>
                    <a:p>
                      <a:pPr>
                        <a:buNone/>
                      </a:pPr>
                      <a:r>
                        <a:rPr lang="tr-TR"/>
                        <a:t>Mean</a:t>
                      </a: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extLst>
                  <a:ext uri="{0D108BD9-81ED-4DB2-BD59-A6C34878D82A}">
                    <a16:rowId xmlns:a16="http://schemas.microsoft.com/office/drawing/2014/main" val="2111246189"/>
                  </a:ext>
                </a:extLst>
              </a:tr>
              <a:tr h="0">
                <a:tc>
                  <a:txBody>
                    <a:bodyPr/>
                    <a:lstStyle/>
                    <a:p>
                      <a:pPr>
                        <a:buNone/>
                      </a:pPr>
                      <a:r>
                        <a:rPr lang="tr-TR"/>
                        <a:t>Median</a:t>
                      </a: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dirty="0"/>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extLst>
                  <a:ext uri="{0D108BD9-81ED-4DB2-BD59-A6C34878D82A}">
                    <a16:rowId xmlns:a16="http://schemas.microsoft.com/office/drawing/2014/main" val="1459436176"/>
                  </a:ext>
                </a:extLst>
              </a:tr>
              <a:tr h="0">
                <a:tc>
                  <a:txBody>
                    <a:bodyPr/>
                    <a:lstStyle/>
                    <a:p>
                      <a:pPr>
                        <a:buNone/>
                      </a:pPr>
                      <a:r>
                        <a:rPr lang="tr-TR"/>
                        <a:t>KNN (K=3)</a:t>
                      </a: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extLst>
                  <a:ext uri="{0D108BD9-81ED-4DB2-BD59-A6C34878D82A}">
                    <a16:rowId xmlns:a16="http://schemas.microsoft.com/office/drawing/2014/main" val="1253241407"/>
                  </a:ext>
                </a:extLst>
              </a:tr>
              <a:tr h="0">
                <a:tc>
                  <a:txBody>
                    <a:bodyPr/>
                    <a:lstStyle/>
                    <a:p>
                      <a:pPr>
                        <a:buNone/>
                      </a:pPr>
                      <a:r>
                        <a:rPr lang="tr-TR"/>
                        <a:t>KNN (K=5)</a:t>
                      </a: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extLst>
                  <a:ext uri="{0D108BD9-81ED-4DB2-BD59-A6C34878D82A}">
                    <a16:rowId xmlns:a16="http://schemas.microsoft.com/office/drawing/2014/main" val="515989193"/>
                  </a:ext>
                </a:extLst>
              </a:tr>
              <a:tr h="0">
                <a:tc>
                  <a:txBody>
                    <a:bodyPr/>
                    <a:lstStyle/>
                    <a:p>
                      <a:pPr>
                        <a:buNone/>
                      </a:pPr>
                      <a:r>
                        <a:rPr lang="tr-TR"/>
                        <a:t>KNN (K=10)</a:t>
                      </a: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extLst>
                  <a:ext uri="{0D108BD9-81ED-4DB2-BD59-A6C34878D82A}">
                    <a16:rowId xmlns:a16="http://schemas.microsoft.com/office/drawing/2014/main" val="3092105508"/>
                  </a:ext>
                </a:extLst>
              </a:tr>
              <a:tr h="0">
                <a:tc>
                  <a:txBody>
                    <a:bodyPr/>
                    <a:lstStyle/>
                    <a:p>
                      <a:pPr>
                        <a:buNone/>
                      </a:pPr>
                      <a:r>
                        <a:rPr lang="tr-TR"/>
                        <a:t>MICE</a:t>
                      </a: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tc>
                  <a:txBody>
                    <a:bodyPr/>
                    <a:lstStyle/>
                    <a:p>
                      <a:pPr algn="r">
                        <a:buNone/>
                      </a:pPr>
                      <a:endParaRPr lang="tr-TR"/>
                    </a:p>
                  </a:txBody>
                  <a:tcPr anchor="ctr">
                    <a:lnL>
                      <a:noFill/>
                    </a:lnL>
                    <a:lnR>
                      <a:noFill/>
                    </a:lnR>
                    <a:lnT>
                      <a:noFill/>
                    </a:lnT>
                    <a:lnB>
                      <a:noFill/>
                    </a:lnB>
                    <a:noFill/>
                  </a:tcPr>
                </a:tc>
                <a:extLst>
                  <a:ext uri="{0D108BD9-81ED-4DB2-BD59-A6C34878D82A}">
                    <a16:rowId xmlns:a16="http://schemas.microsoft.com/office/drawing/2014/main" val="3696390887"/>
                  </a:ext>
                </a:extLst>
              </a:tr>
              <a:tr h="0">
                <a:tc>
                  <a:txBody>
                    <a:bodyPr/>
                    <a:lstStyle/>
                    <a:p>
                      <a:pPr>
                        <a:buNone/>
                      </a:pPr>
                      <a:r>
                        <a:rPr lang="tr-TR"/>
                        <a:t>Random Forest</a:t>
                      </a:r>
                    </a:p>
                  </a:txBody>
                  <a:tcPr anchor="ctr">
                    <a:lnL>
                      <a:noFill/>
                    </a:lnL>
                    <a:lnR>
                      <a:noFill/>
                    </a:lnR>
                    <a:lnT>
                      <a:noFill/>
                    </a:lnT>
                    <a:lnB>
                      <a:noFill/>
                    </a:lnB>
                    <a:noFill/>
                  </a:tcPr>
                </a:tc>
                <a:tc>
                  <a:txBody>
                    <a:bodyPr/>
                    <a:lstStyle/>
                    <a:p>
                      <a:pPr algn="r">
                        <a:buNone/>
                      </a:pPr>
                      <a:endParaRPr lang="tr-TR" dirty="0"/>
                    </a:p>
                  </a:txBody>
                  <a:tcPr anchor="ctr">
                    <a:lnL>
                      <a:noFill/>
                    </a:lnL>
                    <a:lnR>
                      <a:noFill/>
                    </a:lnR>
                    <a:lnT>
                      <a:noFill/>
                    </a:lnT>
                    <a:lnB>
                      <a:noFill/>
                    </a:lnB>
                    <a:noFill/>
                  </a:tcPr>
                </a:tc>
                <a:tc>
                  <a:txBody>
                    <a:bodyPr/>
                    <a:lstStyle/>
                    <a:p>
                      <a:pPr algn="r">
                        <a:buNone/>
                      </a:pPr>
                      <a:endParaRPr lang="tr-TR" dirty="0"/>
                    </a:p>
                  </a:txBody>
                  <a:tcPr anchor="ctr">
                    <a:lnL>
                      <a:noFill/>
                    </a:lnL>
                    <a:lnR>
                      <a:noFill/>
                    </a:lnR>
                    <a:lnT>
                      <a:noFill/>
                    </a:lnT>
                    <a:lnB>
                      <a:noFill/>
                    </a:lnB>
                    <a:noFill/>
                  </a:tcPr>
                </a:tc>
                <a:tc>
                  <a:txBody>
                    <a:bodyPr/>
                    <a:lstStyle/>
                    <a:p>
                      <a:pPr algn="r">
                        <a:buNone/>
                      </a:pPr>
                      <a:endParaRPr lang="tr-TR" dirty="0"/>
                    </a:p>
                  </a:txBody>
                  <a:tcPr anchor="ctr">
                    <a:lnL>
                      <a:noFill/>
                    </a:lnL>
                    <a:lnR>
                      <a:noFill/>
                    </a:lnR>
                    <a:lnT>
                      <a:noFill/>
                    </a:lnT>
                    <a:lnB>
                      <a:noFill/>
                    </a:lnB>
                    <a:noFill/>
                  </a:tcPr>
                </a:tc>
                <a:extLst>
                  <a:ext uri="{0D108BD9-81ED-4DB2-BD59-A6C34878D82A}">
                    <a16:rowId xmlns:a16="http://schemas.microsoft.com/office/drawing/2014/main" val="823370209"/>
                  </a:ext>
                </a:extLst>
              </a:tr>
            </a:tbl>
          </a:graphicData>
        </a:graphic>
      </p:graphicFrame>
      <p:sp>
        <p:nvSpPr>
          <p:cNvPr id="7" name="Metin kutusu 6">
            <a:extLst>
              <a:ext uri="{FF2B5EF4-FFF2-40B4-BE49-F238E27FC236}">
                <a16:creationId xmlns:a16="http://schemas.microsoft.com/office/drawing/2014/main" id="{6493DD62-7AEA-6947-7A13-96C5D9A17BB4}"/>
              </a:ext>
            </a:extLst>
          </p:cNvPr>
          <p:cNvSpPr txBox="1"/>
          <p:nvPr/>
        </p:nvSpPr>
        <p:spPr>
          <a:xfrm>
            <a:off x="152400" y="495572"/>
            <a:ext cx="8594724" cy="4152355"/>
          </a:xfrm>
          <a:prstGeom prst="rect">
            <a:avLst/>
          </a:prstGeom>
          <a:noFill/>
        </p:spPr>
        <p:txBody>
          <a:bodyPr wrap="square">
            <a:spAutoFit/>
          </a:bodyPr>
          <a:lstStyle/>
          <a:p>
            <a:pPr algn="ctr">
              <a:buNone/>
            </a:pPr>
            <a:r>
              <a:rPr lang="tr-TR" sz="1400" b="1" dirty="0">
                <a:solidFill>
                  <a:srgbClr val="FFFF00"/>
                </a:solidFill>
              </a:rPr>
              <a:t>Eksik Veri Tamamlama Yöntemlerinin Karşılaştırılması</a:t>
            </a:r>
          </a:p>
          <a:p>
            <a:pPr marL="285750" indent="-285750">
              <a:buFont typeface="Arial" panose="020B0604020202020204" pitchFamily="34" charset="0"/>
              <a:buChar char="•"/>
            </a:pPr>
            <a:r>
              <a:rPr lang="tr-TR" sz="1400" dirty="0">
                <a:solidFill>
                  <a:schemeClr val="bg1"/>
                </a:solidFill>
              </a:rPr>
              <a:t>Sonuçları tablo halinde gösteriniz.</a:t>
            </a:r>
          </a:p>
          <a:p>
            <a:pPr marL="285750" indent="-285750">
              <a:buFont typeface="Arial" panose="020B0604020202020204" pitchFamily="34" charset="0"/>
              <a:buChar char="•"/>
            </a:pPr>
            <a:endParaRPr lang="tr-TR" sz="1400" dirty="0">
              <a:solidFill>
                <a:schemeClr val="bg1"/>
              </a:solidFill>
            </a:endParaRPr>
          </a:p>
          <a:p>
            <a:pPr marL="285750" indent="-285750">
              <a:buFont typeface="Arial" panose="020B0604020202020204" pitchFamily="34" charset="0"/>
              <a:buChar char="•"/>
            </a:pPr>
            <a:endParaRPr lang="tr-TR" sz="1400" dirty="0">
              <a:solidFill>
                <a:schemeClr val="bg1"/>
              </a:solidFill>
            </a:endParaRPr>
          </a:p>
          <a:p>
            <a:pPr marL="285750" indent="-285750">
              <a:buFont typeface="Arial" panose="020B0604020202020204" pitchFamily="34" charset="0"/>
              <a:buChar char="•"/>
            </a:pPr>
            <a:endParaRPr lang="tr-TR" sz="1400" dirty="0">
              <a:solidFill>
                <a:schemeClr val="bg1"/>
              </a:solidFill>
            </a:endParaRPr>
          </a:p>
          <a:p>
            <a:pPr marL="285750" indent="-285750">
              <a:buFont typeface="Arial" panose="020B0604020202020204" pitchFamily="34" charset="0"/>
              <a:buChar char="•"/>
            </a:pPr>
            <a:endParaRPr lang="tr-TR" sz="1400" dirty="0">
              <a:solidFill>
                <a:schemeClr val="bg1"/>
              </a:solidFill>
            </a:endParaRPr>
          </a:p>
          <a:p>
            <a:pPr marL="285750" indent="-285750">
              <a:buFont typeface="Arial" panose="020B0604020202020204" pitchFamily="34" charset="0"/>
              <a:buChar char="•"/>
            </a:pPr>
            <a:endParaRPr lang="tr-TR" sz="1400" dirty="0">
              <a:solidFill>
                <a:schemeClr val="bg1"/>
              </a:solidFill>
            </a:endParaRPr>
          </a:p>
          <a:p>
            <a:pPr marL="285750" indent="-285750">
              <a:buFont typeface="Arial" panose="020B0604020202020204" pitchFamily="34" charset="0"/>
              <a:buChar char="•"/>
            </a:pPr>
            <a:endParaRPr lang="tr-TR" sz="1400" dirty="0">
              <a:solidFill>
                <a:schemeClr val="bg1"/>
              </a:solidFill>
            </a:endParaRPr>
          </a:p>
          <a:p>
            <a:pPr marL="285750" indent="-285750">
              <a:buFont typeface="Arial" panose="020B0604020202020204" pitchFamily="34" charset="0"/>
              <a:buChar char="•"/>
            </a:pPr>
            <a:endParaRPr lang="tr-TR" sz="1400" dirty="0">
              <a:solidFill>
                <a:schemeClr val="bg1"/>
              </a:solidFill>
            </a:endParaRPr>
          </a:p>
          <a:p>
            <a:pPr marL="285750" indent="-285750">
              <a:buFont typeface="Arial" panose="020B0604020202020204" pitchFamily="34" charset="0"/>
              <a:buChar char="•"/>
            </a:pPr>
            <a:endParaRPr lang="tr-TR" sz="1400" dirty="0">
              <a:solidFill>
                <a:schemeClr val="bg1"/>
              </a:solidFill>
            </a:endParaRPr>
          </a:p>
          <a:p>
            <a:pPr marL="285750" indent="-285750">
              <a:buFont typeface="Arial" panose="020B0604020202020204" pitchFamily="34" charset="0"/>
              <a:buChar char="•"/>
            </a:pPr>
            <a:endParaRPr lang="tr-TR" sz="1400" dirty="0">
              <a:solidFill>
                <a:schemeClr val="bg1"/>
              </a:solidFill>
            </a:endParaRPr>
          </a:p>
          <a:p>
            <a:pPr marL="285750" indent="-285750">
              <a:buFont typeface="Arial" panose="020B0604020202020204" pitchFamily="34" charset="0"/>
              <a:buChar char="•"/>
            </a:pPr>
            <a:endParaRPr lang="tr-TR" sz="1400" dirty="0">
              <a:solidFill>
                <a:schemeClr val="bg1"/>
              </a:solidFill>
            </a:endParaRPr>
          </a:p>
          <a:p>
            <a:pPr marL="285750" indent="-285750">
              <a:buFont typeface="Arial" panose="020B0604020202020204" pitchFamily="34" charset="0"/>
              <a:buChar char="•"/>
            </a:pPr>
            <a:endParaRPr lang="tr-TR" sz="1400" dirty="0">
              <a:solidFill>
                <a:schemeClr val="bg1"/>
              </a:solidFill>
            </a:endParaRPr>
          </a:p>
          <a:p>
            <a:pPr marL="285750" indent="-285750">
              <a:lnSpc>
                <a:spcPct val="150000"/>
              </a:lnSpc>
              <a:buFont typeface="Arial" panose="020B0604020202020204" pitchFamily="34" charset="0"/>
              <a:buChar char="•"/>
            </a:pPr>
            <a:endParaRPr lang="tr-TR" sz="1400" dirty="0">
              <a:solidFill>
                <a:schemeClr val="bg1"/>
              </a:solidFill>
            </a:endParaRPr>
          </a:p>
          <a:p>
            <a:pPr>
              <a:lnSpc>
                <a:spcPct val="150000"/>
              </a:lnSpc>
            </a:pPr>
            <a:r>
              <a:rPr lang="tr-TR" sz="1400" dirty="0">
                <a:solidFill>
                  <a:schemeClr val="bg1"/>
                </a:solidFill>
              </a:rPr>
              <a:t>4. </a:t>
            </a:r>
            <a:r>
              <a:rPr lang="tr-TR" sz="1400" dirty="0" err="1">
                <a:solidFill>
                  <a:schemeClr val="bg1"/>
                </a:solidFill>
              </a:rPr>
              <a:t>GrafikYöntemlerin</a:t>
            </a:r>
            <a:r>
              <a:rPr lang="tr-TR" sz="1400" dirty="0">
                <a:solidFill>
                  <a:schemeClr val="bg1"/>
                </a:solidFill>
              </a:rPr>
              <a:t> performanslarını karşılaştıran en az bir grafik hazırlayınız.</a:t>
            </a:r>
          </a:p>
          <a:p>
            <a:pPr>
              <a:lnSpc>
                <a:spcPct val="150000"/>
              </a:lnSpc>
            </a:pPr>
            <a:r>
              <a:rPr lang="tr-TR" sz="1400" dirty="0">
                <a:solidFill>
                  <a:schemeClr val="bg1"/>
                </a:solidFill>
              </a:rPr>
              <a:t>5. </a:t>
            </a:r>
            <a:r>
              <a:rPr lang="tr-TR" sz="1400" dirty="0" err="1">
                <a:solidFill>
                  <a:schemeClr val="bg1"/>
                </a:solidFill>
              </a:rPr>
              <a:t>DeğerlendirmeSonuçları</a:t>
            </a:r>
            <a:r>
              <a:rPr lang="tr-TR" sz="1400" dirty="0">
                <a:solidFill>
                  <a:schemeClr val="bg1"/>
                </a:solidFill>
              </a:rPr>
              <a:t> </a:t>
            </a:r>
            <a:r>
              <a:rPr lang="tr-TR" sz="1400" dirty="0" err="1">
                <a:solidFill>
                  <a:schemeClr val="bg1"/>
                </a:solidFill>
              </a:rPr>
              <a:t>yorumlayınız:Hangi</a:t>
            </a:r>
            <a:r>
              <a:rPr lang="tr-TR" sz="1400" dirty="0">
                <a:solidFill>
                  <a:schemeClr val="bg1"/>
                </a:solidFill>
              </a:rPr>
              <a:t> yöntem daha başarılı sonuç verdi? </a:t>
            </a:r>
            <a:r>
              <a:rPr lang="tr-TR" sz="1400" dirty="0" err="1">
                <a:solidFill>
                  <a:schemeClr val="bg1"/>
                </a:solidFill>
              </a:rPr>
              <a:t>KNN'de</a:t>
            </a:r>
            <a:r>
              <a:rPr lang="tr-TR" sz="1400" dirty="0">
                <a:solidFill>
                  <a:schemeClr val="bg1"/>
                </a:solidFill>
              </a:rPr>
              <a:t> K değerinin değiştirilmesi sonucu nasıl </a:t>
            </a:r>
            <a:r>
              <a:rPr lang="tr-TR" sz="1400" dirty="0" err="1">
                <a:solidFill>
                  <a:schemeClr val="bg1"/>
                </a:solidFill>
              </a:rPr>
              <a:t>etkiledi?Eksik</a:t>
            </a:r>
            <a:r>
              <a:rPr lang="tr-TR" sz="1400" dirty="0">
                <a:solidFill>
                  <a:schemeClr val="bg1"/>
                </a:solidFill>
              </a:rPr>
              <a:t> veri oranı arttığında yöntemlerin performansı nasıl değişti?</a:t>
            </a:r>
          </a:p>
        </p:txBody>
      </p:sp>
      <p:graphicFrame>
        <p:nvGraphicFramePr>
          <p:cNvPr id="13" name="Tablo 12">
            <a:extLst>
              <a:ext uri="{FF2B5EF4-FFF2-40B4-BE49-F238E27FC236}">
                <a16:creationId xmlns:a16="http://schemas.microsoft.com/office/drawing/2014/main" id="{946224FA-AA3F-C535-3428-6A1D61B2DAE5}"/>
              </a:ext>
            </a:extLst>
          </p:cNvPr>
          <p:cNvGraphicFramePr>
            <a:graphicFrameLocks noGrp="1"/>
          </p:cNvGraphicFramePr>
          <p:nvPr>
            <p:extLst>
              <p:ext uri="{D42A27DB-BD31-4B8C-83A1-F6EECF244321}">
                <p14:modId xmlns:p14="http://schemas.microsoft.com/office/powerpoint/2010/main" val="2202957070"/>
              </p:ext>
            </p:extLst>
          </p:nvPr>
        </p:nvGraphicFramePr>
        <p:xfrm>
          <a:off x="1752600" y="1084853"/>
          <a:ext cx="4007776" cy="2327800"/>
        </p:xfrm>
        <a:graphic>
          <a:graphicData uri="http://schemas.openxmlformats.org/drawingml/2006/table">
            <a:tbl>
              <a:tblPr>
                <a:tableStyleId>{BC89EF96-8CEA-46FF-86C4-4CE0E7609802}</a:tableStyleId>
              </a:tblPr>
              <a:tblGrid>
                <a:gridCol w="1001944">
                  <a:extLst>
                    <a:ext uri="{9D8B030D-6E8A-4147-A177-3AD203B41FA5}">
                      <a16:colId xmlns:a16="http://schemas.microsoft.com/office/drawing/2014/main" val="3432925576"/>
                    </a:ext>
                  </a:extLst>
                </a:gridCol>
                <a:gridCol w="1001944">
                  <a:extLst>
                    <a:ext uri="{9D8B030D-6E8A-4147-A177-3AD203B41FA5}">
                      <a16:colId xmlns:a16="http://schemas.microsoft.com/office/drawing/2014/main" val="2492721324"/>
                    </a:ext>
                  </a:extLst>
                </a:gridCol>
                <a:gridCol w="1001944">
                  <a:extLst>
                    <a:ext uri="{9D8B030D-6E8A-4147-A177-3AD203B41FA5}">
                      <a16:colId xmlns:a16="http://schemas.microsoft.com/office/drawing/2014/main" val="1264434412"/>
                    </a:ext>
                  </a:extLst>
                </a:gridCol>
                <a:gridCol w="1001944">
                  <a:extLst>
                    <a:ext uri="{9D8B030D-6E8A-4147-A177-3AD203B41FA5}">
                      <a16:colId xmlns:a16="http://schemas.microsoft.com/office/drawing/2014/main" val="1466925649"/>
                    </a:ext>
                  </a:extLst>
                </a:gridCol>
              </a:tblGrid>
              <a:tr h="266700">
                <a:tc>
                  <a:txBody>
                    <a:bodyPr/>
                    <a:lstStyle/>
                    <a:p>
                      <a:pPr>
                        <a:buNone/>
                      </a:pPr>
                      <a:r>
                        <a:rPr lang="tr-TR" sz="1400">
                          <a:solidFill>
                            <a:schemeClr val="bg1"/>
                          </a:solidFill>
                        </a:rPr>
                        <a:t>Yöntem</a:t>
                      </a:r>
                    </a:p>
                  </a:txBody>
                  <a:tcPr marL="34181" marR="34181" marT="17090" marB="17090" anchor="ctr"/>
                </a:tc>
                <a:tc>
                  <a:txBody>
                    <a:bodyPr/>
                    <a:lstStyle/>
                    <a:p>
                      <a:pPr algn="r">
                        <a:buNone/>
                      </a:pPr>
                      <a:r>
                        <a:rPr lang="tr-TR" sz="1400">
                          <a:solidFill>
                            <a:schemeClr val="bg1"/>
                          </a:solidFill>
                        </a:rPr>
                        <a:t>MAE</a:t>
                      </a:r>
                    </a:p>
                  </a:txBody>
                  <a:tcPr marL="34181" marR="34181" marT="17090" marB="17090" anchor="ctr"/>
                </a:tc>
                <a:tc>
                  <a:txBody>
                    <a:bodyPr/>
                    <a:lstStyle/>
                    <a:p>
                      <a:pPr algn="r">
                        <a:buNone/>
                      </a:pPr>
                      <a:r>
                        <a:rPr lang="tr-TR" sz="1400">
                          <a:solidFill>
                            <a:schemeClr val="bg1"/>
                          </a:solidFill>
                        </a:rPr>
                        <a:t>RMSE</a:t>
                      </a:r>
                    </a:p>
                  </a:txBody>
                  <a:tcPr marL="34181" marR="34181" marT="17090" marB="17090" anchor="ctr"/>
                </a:tc>
                <a:tc>
                  <a:txBody>
                    <a:bodyPr/>
                    <a:lstStyle/>
                    <a:p>
                      <a:pPr algn="r">
                        <a:buNone/>
                      </a:pPr>
                      <a:r>
                        <a:rPr lang="tr-TR" sz="1400">
                          <a:solidFill>
                            <a:schemeClr val="bg1"/>
                          </a:solidFill>
                        </a:rPr>
                        <a:t>R²</a:t>
                      </a:r>
                    </a:p>
                  </a:txBody>
                  <a:tcPr marL="34181" marR="34181" marT="17090" marB="17090" anchor="ctr"/>
                </a:tc>
                <a:extLst>
                  <a:ext uri="{0D108BD9-81ED-4DB2-BD59-A6C34878D82A}">
                    <a16:rowId xmlns:a16="http://schemas.microsoft.com/office/drawing/2014/main" val="555890427"/>
                  </a:ext>
                </a:extLst>
              </a:tr>
              <a:tr h="266700">
                <a:tc>
                  <a:txBody>
                    <a:bodyPr/>
                    <a:lstStyle/>
                    <a:p>
                      <a:pPr>
                        <a:buNone/>
                      </a:pPr>
                      <a:r>
                        <a:rPr lang="tr-TR" sz="1400">
                          <a:solidFill>
                            <a:schemeClr val="bg1"/>
                          </a:solidFill>
                        </a:rPr>
                        <a:t>Mean</a:t>
                      </a:r>
                    </a:p>
                  </a:txBody>
                  <a:tcPr marL="34181" marR="34181" marT="17090" marB="17090" anchor="ctr"/>
                </a:tc>
                <a:tc>
                  <a:txBody>
                    <a:bodyPr/>
                    <a:lstStyle/>
                    <a:p>
                      <a:pPr algn="r">
                        <a:buNone/>
                      </a:pPr>
                      <a:endParaRPr lang="tr-TR" sz="1400" dirty="0">
                        <a:solidFill>
                          <a:schemeClr val="bg1"/>
                        </a:solidFill>
                      </a:endParaRP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extLst>
                  <a:ext uri="{0D108BD9-81ED-4DB2-BD59-A6C34878D82A}">
                    <a16:rowId xmlns:a16="http://schemas.microsoft.com/office/drawing/2014/main" val="1781893538"/>
                  </a:ext>
                </a:extLst>
              </a:tr>
              <a:tr h="266700">
                <a:tc>
                  <a:txBody>
                    <a:bodyPr/>
                    <a:lstStyle/>
                    <a:p>
                      <a:pPr>
                        <a:buNone/>
                      </a:pPr>
                      <a:r>
                        <a:rPr lang="tr-TR" sz="1400">
                          <a:solidFill>
                            <a:schemeClr val="bg1"/>
                          </a:solidFill>
                        </a:rPr>
                        <a:t>Median</a:t>
                      </a: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extLst>
                  <a:ext uri="{0D108BD9-81ED-4DB2-BD59-A6C34878D82A}">
                    <a16:rowId xmlns:a16="http://schemas.microsoft.com/office/drawing/2014/main" val="991914067"/>
                  </a:ext>
                </a:extLst>
              </a:tr>
              <a:tr h="266700">
                <a:tc>
                  <a:txBody>
                    <a:bodyPr/>
                    <a:lstStyle/>
                    <a:p>
                      <a:pPr>
                        <a:buNone/>
                      </a:pPr>
                      <a:r>
                        <a:rPr lang="tr-TR" sz="1400">
                          <a:solidFill>
                            <a:schemeClr val="bg1"/>
                          </a:solidFill>
                        </a:rPr>
                        <a:t>KNN (K=3)</a:t>
                      </a: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extLst>
                  <a:ext uri="{0D108BD9-81ED-4DB2-BD59-A6C34878D82A}">
                    <a16:rowId xmlns:a16="http://schemas.microsoft.com/office/drawing/2014/main" val="194763914"/>
                  </a:ext>
                </a:extLst>
              </a:tr>
              <a:tr h="266700">
                <a:tc>
                  <a:txBody>
                    <a:bodyPr/>
                    <a:lstStyle/>
                    <a:p>
                      <a:pPr>
                        <a:buNone/>
                      </a:pPr>
                      <a:r>
                        <a:rPr lang="tr-TR" sz="1400">
                          <a:solidFill>
                            <a:schemeClr val="bg1"/>
                          </a:solidFill>
                        </a:rPr>
                        <a:t>KNN (K=5)</a:t>
                      </a: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extLst>
                  <a:ext uri="{0D108BD9-81ED-4DB2-BD59-A6C34878D82A}">
                    <a16:rowId xmlns:a16="http://schemas.microsoft.com/office/drawing/2014/main" val="2156161033"/>
                  </a:ext>
                </a:extLst>
              </a:tr>
              <a:tr h="266700">
                <a:tc>
                  <a:txBody>
                    <a:bodyPr/>
                    <a:lstStyle/>
                    <a:p>
                      <a:pPr>
                        <a:buNone/>
                      </a:pPr>
                      <a:r>
                        <a:rPr lang="tr-TR" sz="1400">
                          <a:solidFill>
                            <a:schemeClr val="bg1"/>
                          </a:solidFill>
                        </a:rPr>
                        <a:t>KNN (K=10)</a:t>
                      </a: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tc>
                  <a:txBody>
                    <a:bodyPr/>
                    <a:lstStyle/>
                    <a:p>
                      <a:pPr algn="r">
                        <a:buNone/>
                      </a:pPr>
                      <a:endParaRPr lang="tr-TR" sz="1400" dirty="0">
                        <a:solidFill>
                          <a:schemeClr val="bg1"/>
                        </a:solidFill>
                      </a:endParaRPr>
                    </a:p>
                  </a:txBody>
                  <a:tcPr marL="34181" marR="34181" marT="17090" marB="17090" anchor="ctr"/>
                </a:tc>
                <a:extLst>
                  <a:ext uri="{0D108BD9-81ED-4DB2-BD59-A6C34878D82A}">
                    <a16:rowId xmlns:a16="http://schemas.microsoft.com/office/drawing/2014/main" val="2416008805"/>
                  </a:ext>
                </a:extLst>
              </a:tr>
              <a:tr h="266700">
                <a:tc>
                  <a:txBody>
                    <a:bodyPr/>
                    <a:lstStyle/>
                    <a:p>
                      <a:pPr>
                        <a:buNone/>
                      </a:pPr>
                      <a:r>
                        <a:rPr lang="tr-TR" sz="1400">
                          <a:solidFill>
                            <a:schemeClr val="bg1"/>
                          </a:solidFill>
                        </a:rPr>
                        <a:t>MICE</a:t>
                      </a: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extLst>
                  <a:ext uri="{0D108BD9-81ED-4DB2-BD59-A6C34878D82A}">
                    <a16:rowId xmlns:a16="http://schemas.microsoft.com/office/drawing/2014/main" val="1740254649"/>
                  </a:ext>
                </a:extLst>
              </a:tr>
              <a:tr h="266700">
                <a:tc>
                  <a:txBody>
                    <a:bodyPr/>
                    <a:lstStyle/>
                    <a:p>
                      <a:pPr>
                        <a:buNone/>
                      </a:pPr>
                      <a:r>
                        <a:rPr lang="tr-TR" sz="1400">
                          <a:solidFill>
                            <a:schemeClr val="bg1"/>
                          </a:solidFill>
                        </a:rPr>
                        <a:t>Random Forest</a:t>
                      </a: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tc>
                  <a:txBody>
                    <a:bodyPr/>
                    <a:lstStyle/>
                    <a:p>
                      <a:pPr algn="r">
                        <a:buNone/>
                      </a:pPr>
                      <a:endParaRPr lang="tr-TR" sz="1400">
                        <a:solidFill>
                          <a:schemeClr val="bg1"/>
                        </a:solidFill>
                      </a:endParaRPr>
                    </a:p>
                  </a:txBody>
                  <a:tcPr marL="34181" marR="34181" marT="17090" marB="17090" anchor="ctr"/>
                </a:tc>
                <a:tc>
                  <a:txBody>
                    <a:bodyPr/>
                    <a:lstStyle/>
                    <a:p>
                      <a:pPr algn="r">
                        <a:buNone/>
                      </a:pPr>
                      <a:endParaRPr lang="tr-TR" sz="1400" dirty="0">
                        <a:solidFill>
                          <a:schemeClr val="bg1"/>
                        </a:solidFill>
                      </a:endParaRPr>
                    </a:p>
                  </a:txBody>
                  <a:tcPr marL="34181" marR="34181" marT="17090" marB="17090" anchor="ctr"/>
                </a:tc>
                <a:extLst>
                  <a:ext uri="{0D108BD9-81ED-4DB2-BD59-A6C34878D82A}">
                    <a16:rowId xmlns:a16="http://schemas.microsoft.com/office/drawing/2014/main" val="2634223005"/>
                  </a:ext>
                </a:extLst>
              </a:tr>
            </a:tbl>
          </a:graphicData>
        </a:graphic>
      </p:graphicFrame>
    </p:spTree>
    <p:extLst>
      <p:ext uri="{BB962C8B-B14F-4D97-AF65-F5344CB8AC3E}">
        <p14:creationId xmlns:p14="http://schemas.microsoft.com/office/powerpoint/2010/main" val="2520530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655" y="209550"/>
            <a:ext cx="519049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Carlito"/>
                <a:cs typeface="Carlito"/>
              </a:rPr>
              <a:t>K-NN </a:t>
            </a:r>
            <a:r>
              <a:rPr sz="1800" b="1" dirty="0">
                <a:solidFill>
                  <a:srgbClr val="FFFFFF"/>
                </a:solidFill>
                <a:latin typeface="Carlito"/>
                <a:cs typeface="Carlito"/>
              </a:rPr>
              <a:t>– En </a:t>
            </a:r>
            <a:r>
              <a:rPr sz="1800" b="1" spc="-5" dirty="0">
                <a:solidFill>
                  <a:srgbClr val="FFFFFF"/>
                </a:solidFill>
                <a:latin typeface="Carlito"/>
                <a:cs typeface="Carlito"/>
              </a:rPr>
              <a:t>yakın </a:t>
            </a:r>
            <a:r>
              <a:rPr sz="1800" b="1" spc="-10" dirty="0">
                <a:solidFill>
                  <a:srgbClr val="FFFFFF"/>
                </a:solidFill>
                <a:latin typeface="Carlito"/>
                <a:cs typeface="Carlito"/>
              </a:rPr>
              <a:t>komşu </a:t>
            </a:r>
            <a:r>
              <a:rPr sz="1800" b="1" spc="-5" dirty="0">
                <a:solidFill>
                  <a:srgbClr val="FFFFFF"/>
                </a:solidFill>
                <a:latin typeface="Carlito"/>
                <a:cs typeface="Carlito"/>
              </a:rPr>
              <a:t>algoritması </a:t>
            </a:r>
            <a:r>
              <a:rPr sz="1800" b="1" dirty="0">
                <a:solidFill>
                  <a:srgbClr val="FFFFFF"/>
                </a:solidFill>
                <a:latin typeface="Carlito"/>
                <a:cs typeface="Carlito"/>
              </a:rPr>
              <a:t>– </a:t>
            </a:r>
            <a:r>
              <a:rPr sz="1800" b="1" spc="-5" dirty="0">
                <a:solidFill>
                  <a:srgbClr val="FFFFFF"/>
                </a:solidFill>
                <a:latin typeface="Carlito"/>
                <a:cs typeface="Carlito"/>
              </a:rPr>
              <a:t>Örnek </a:t>
            </a:r>
            <a:r>
              <a:rPr sz="1800" b="1" dirty="0">
                <a:solidFill>
                  <a:srgbClr val="FFFFFF"/>
                </a:solidFill>
                <a:latin typeface="Carlito"/>
                <a:cs typeface="Carlito"/>
              </a:rPr>
              <a:t>bir</a:t>
            </a:r>
            <a:r>
              <a:rPr sz="1800" b="1" spc="-85" dirty="0">
                <a:solidFill>
                  <a:srgbClr val="FFFFFF"/>
                </a:solidFill>
                <a:latin typeface="Carlito"/>
                <a:cs typeface="Carlito"/>
              </a:rPr>
              <a:t> </a:t>
            </a:r>
            <a:r>
              <a:rPr sz="1800" b="1" spc="-5" dirty="0">
                <a:solidFill>
                  <a:srgbClr val="FFFFFF"/>
                </a:solidFill>
                <a:latin typeface="Carlito"/>
                <a:cs typeface="Carlito"/>
              </a:rPr>
              <a:t>çalışma</a:t>
            </a:r>
            <a:endParaRPr sz="1800" dirty="0">
              <a:latin typeface="Carlito"/>
              <a:cs typeface="Carlito"/>
            </a:endParaRPr>
          </a:p>
        </p:txBody>
      </p:sp>
      <p:sp>
        <p:nvSpPr>
          <p:cNvPr id="3" name="object 3"/>
          <p:cNvSpPr/>
          <p:nvPr/>
        </p:nvSpPr>
        <p:spPr>
          <a:xfrm>
            <a:off x="304800" y="590550"/>
            <a:ext cx="6629400" cy="434340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7010400" y="666750"/>
            <a:ext cx="1629155" cy="1562099"/>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5300738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47800" y="895350"/>
            <a:ext cx="5419344" cy="2951988"/>
          </a:xfrm>
          <a:prstGeom prst="rect">
            <a:avLst/>
          </a:prstGeom>
          <a:blipFill>
            <a:blip r:embed="rId2" cstate="print"/>
            <a:stretch>
              <a:fillRect/>
            </a:stretch>
          </a:blipFill>
        </p:spPr>
        <p:txBody>
          <a:bodyPr wrap="square" lIns="0" tIns="0" rIns="0" bIns="0" rtlCol="0"/>
          <a:lstStyle/>
          <a:p>
            <a:endParaRPr/>
          </a:p>
        </p:txBody>
      </p:sp>
      <p:sp>
        <p:nvSpPr>
          <p:cNvPr id="3" name="TextBox 2">
            <a:extLst>
              <a:ext uri="{FF2B5EF4-FFF2-40B4-BE49-F238E27FC236}">
                <a16:creationId xmlns:a16="http://schemas.microsoft.com/office/drawing/2014/main" id="{C5F10F6C-A8EA-A725-8C3B-648CE6696E38}"/>
              </a:ext>
            </a:extLst>
          </p:cNvPr>
          <p:cNvSpPr txBox="1"/>
          <p:nvPr/>
        </p:nvSpPr>
        <p:spPr>
          <a:xfrm>
            <a:off x="4150600" y="2182606"/>
            <a:ext cx="2745816" cy="369332"/>
          </a:xfrm>
          <a:prstGeom prst="rect">
            <a:avLst/>
          </a:prstGeom>
          <a:noFill/>
        </p:spPr>
        <p:txBody>
          <a:bodyPr wrap="none" rtlCol="0">
            <a:spAutoFit/>
          </a:bodyPr>
          <a:lstStyle/>
          <a:p>
            <a:r>
              <a:rPr lang="tr-TR" dirty="0"/>
              <a:t>Gürültülü ve aykırı değerler</a:t>
            </a:r>
          </a:p>
        </p:txBody>
      </p:sp>
      <p:sp>
        <p:nvSpPr>
          <p:cNvPr id="4" name="TextBox 3">
            <a:extLst>
              <a:ext uri="{FF2B5EF4-FFF2-40B4-BE49-F238E27FC236}">
                <a16:creationId xmlns:a16="http://schemas.microsoft.com/office/drawing/2014/main" id="{8B630568-7DC5-AAEE-88DF-1706FBF72137}"/>
              </a:ext>
            </a:extLst>
          </p:cNvPr>
          <p:cNvSpPr txBox="1"/>
          <p:nvPr/>
        </p:nvSpPr>
        <p:spPr>
          <a:xfrm>
            <a:off x="4180417" y="2634590"/>
            <a:ext cx="1487074" cy="369332"/>
          </a:xfrm>
          <a:prstGeom prst="rect">
            <a:avLst/>
          </a:prstGeom>
          <a:noFill/>
        </p:spPr>
        <p:txBody>
          <a:bodyPr wrap="none" rtlCol="0">
            <a:spAutoFit/>
          </a:bodyPr>
          <a:lstStyle/>
          <a:p>
            <a:r>
              <a:rPr lang="tr-TR" dirty="0"/>
              <a:t>Eksik değerler</a:t>
            </a:r>
          </a:p>
        </p:txBody>
      </p:sp>
      <p:sp>
        <p:nvSpPr>
          <p:cNvPr id="7" name="TextBox 6">
            <a:extLst>
              <a:ext uri="{FF2B5EF4-FFF2-40B4-BE49-F238E27FC236}">
                <a16:creationId xmlns:a16="http://schemas.microsoft.com/office/drawing/2014/main" id="{29B1FFC0-6946-BD89-210B-D0DACA055260}"/>
              </a:ext>
            </a:extLst>
          </p:cNvPr>
          <p:cNvSpPr txBox="1"/>
          <p:nvPr/>
        </p:nvSpPr>
        <p:spPr>
          <a:xfrm>
            <a:off x="4215383" y="3045248"/>
            <a:ext cx="1514132" cy="369332"/>
          </a:xfrm>
          <a:prstGeom prst="rect">
            <a:avLst/>
          </a:prstGeom>
          <a:noFill/>
        </p:spPr>
        <p:txBody>
          <a:bodyPr wrap="none" rtlCol="0">
            <a:spAutoFit/>
          </a:bodyPr>
          <a:lstStyle/>
          <a:p>
            <a:r>
              <a:rPr lang="tr-TR" dirty="0"/>
              <a:t>Yinelenen veri</a:t>
            </a:r>
          </a:p>
        </p:txBody>
      </p:sp>
      <p:sp>
        <p:nvSpPr>
          <p:cNvPr id="8" name="TextBox 7">
            <a:extLst>
              <a:ext uri="{FF2B5EF4-FFF2-40B4-BE49-F238E27FC236}">
                <a16:creationId xmlns:a16="http://schemas.microsoft.com/office/drawing/2014/main" id="{1679CF3D-EDE5-BC90-6B01-AB0EFF7FE52D}"/>
              </a:ext>
            </a:extLst>
          </p:cNvPr>
          <p:cNvSpPr txBox="1"/>
          <p:nvPr/>
        </p:nvSpPr>
        <p:spPr>
          <a:xfrm>
            <a:off x="4215383" y="3462418"/>
            <a:ext cx="1740605" cy="369332"/>
          </a:xfrm>
          <a:prstGeom prst="rect">
            <a:avLst/>
          </a:prstGeom>
          <a:noFill/>
        </p:spPr>
        <p:txBody>
          <a:bodyPr wrap="none" rtlCol="0">
            <a:spAutoFit/>
          </a:bodyPr>
          <a:lstStyle/>
          <a:p>
            <a:r>
              <a:rPr lang="tr-TR" dirty="0"/>
              <a:t>Tutarsız değerler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2000" y="819150"/>
            <a:ext cx="7958328" cy="3909060"/>
          </a:xfrm>
          <a:prstGeom prst="rect">
            <a:avLst/>
          </a:prstGeom>
          <a:blipFill>
            <a:blip r:embed="rId2" cstate="print"/>
            <a:stretch>
              <a:fillRect/>
            </a:stretch>
          </a:blipFill>
        </p:spPr>
        <p:txBody>
          <a:bodyPr wrap="square" lIns="0" tIns="0" rIns="0" bIns="0" rtlCol="0"/>
          <a:lstStyle/>
          <a:p>
            <a:endParaRPr lang="tr-TR" dirty="0"/>
          </a:p>
        </p:txBody>
      </p:sp>
      <p:sp>
        <p:nvSpPr>
          <p:cNvPr id="4" name="TextBox 3">
            <a:extLst>
              <a:ext uri="{FF2B5EF4-FFF2-40B4-BE49-F238E27FC236}">
                <a16:creationId xmlns:a16="http://schemas.microsoft.com/office/drawing/2014/main" id="{7CA0070D-FCB3-7D5B-98B8-C0EAE626BC62}"/>
              </a:ext>
            </a:extLst>
          </p:cNvPr>
          <p:cNvSpPr txBox="1"/>
          <p:nvPr/>
        </p:nvSpPr>
        <p:spPr>
          <a:xfrm>
            <a:off x="4876800" y="3181350"/>
            <a:ext cx="3174094" cy="646331"/>
          </a:xfrm>
          <a:prstGeom prst="rect">
            <a:avLst/>
          </a:prstGeom>
          <a:noFill/>
        </p:spPr>
        <p:txBody>
          <a:bodyPr wrap="square">
            <a:spAutoFit/>
          </a:bodyPr>
          <a:lstStyle/>
          <a:p>
            <a:r>
              <a:rPr lang="tr-TR" dirty="0"/>
              <a:t>verilerin geri kalanından farklı özelliklere sahip az sayıda nokta</a:t>
            </a:r>
          </a:p>
        </p:txBody>
      </p:sp>
      <p:sp>
        <p:nvSpPr>
          <p:cNvPr id="5" name="TextBox 4">
            <a:extLst>
              <a:ext uri="{FF2B5EF4-FFF2-40B4-BE49-F238E27FC236}">
                <a16:creationId xmlns:a16="http://schemas.microsoft.com/office/drawing/2014/main" id="{3847F75F-12C5-0AC6-9270-23B64AF386DB}"/>
              </a:ext>
            </a:extLst>
          </p:cNvPr>
          <p:cNvSpPr txBox="1"/>
          <p:nvPr/>
        </p:nvSpPr>
        <p:spPr>
          <a:xfrm>
            <a:off x="2514600" y="2647950"/>
            <a:ext cx="1587046" cy="369332"/>
          </a:xfrm>
          <a:prstGeom prst="rect">
            <a:avLst/>
          </a:prstGeom>
          <a:noFill/>
        </p:spPr>
        <p:txBody>
          <a:bodyPr wrap="square">
            <a:spAutoFit/>
          </a:bodyPr>
          <a:lstStyle/>
          <a:p>
            <a:r>
              <a:rPr lang="tr-TR" dirty="0"/>
              <a:t>Ölçüm hatası</a:t>
            </a:r>
          </a:p>
        </p:txBody>
      </p:sp>
      <p:sp>
        <p:nvSpPr>
          <p:cNvPr id="6" name="TextBox 5">
            <a:extLst>
              <a:ext uri="{FF2B5EF4-FFF2-40B4-BE49-F238E27FC236}">
                <a16:creationId xmlns:a16="http://schemas.microsoft.com/office/drawing/2014/main" id="{2EF450C8-EF38-D976-6C93-AF28744421BC}"/>
              </a:ext>
            </a:extLst>
          </p:cNvPr>
          <p:cNvSpPr txBox="1"/>
          <p:nvPr/>
        </p:nvSpPr>
        <p:spPr>
          <a:xfrm>
            <a:off x="2209800" y="3525222"/>
            <a:ext cx="1587046" cy="369332"/>
          </a:xfrm>
          <a:prstGeom prst="rect">
            <a:avLst/>
          </a:prstGeom>
          <a:noFill/>
        </p:spPr>
        <p:txBody>
          <a:bodyPr wrap="square">
            <a:spAutoFit/>
          </a:bodyPr>
          <a:lstStyle/>
          <a:p>
            <a:r>
              <a:rPr lang="tr-TR" dirty="0"/>
              <a:t>Zamansal</a:t>
            </a:r>
          </a:p>
        </p:txBody>
      </p:sp>
      <p:sp>
        <p:nvSpPr>
          <p:cNvPr id="7" name="TextBox 6">
            <a:extLst>
              <a:ext uri="{FF2B5EF4-FFF2-40B4-BE49-F238E27FC236}">
                <a16:creationId xmlns:a16="http://schemas.microsoft.com/office/drawing/2014/main" id="{2171BAAC-70DE-1F46-BACA-340906E3043D}"/>
              </a:ext>
            </a:extLst>
          </p:cNvPr>
          <p:cNvSpPr txBox="1"/>
          <p:nvPr/>
        </p:nvSpPr>
        <p:spPr>
          <a:xfrm>
            <a:off x="2199861" y="3827681"/>
            <a:ext cx="1587046" cy="369332"/>
          </a:xfrm>
          <a:prstGeom prst="rect">
            <a:avLst/>
          </a:prstGeom>
          <a:noFill/>
        </p:spPr>
        <p:txBody>
          <a:bodyPr wrap="square">
            <a:spAutoFit/>
          </a:bodyPr>
          <a:lstStyle/>
          <a:p>
            <a:r>
              <a:rPr lang="tr-TR" dirty="0"/>
              <a:t>Uzaysal</a:t>
            </a:r>
          </a:p>
        </p:txBody>
      </p:sp>
      <p:sp>
        <p:nvSpPr>
          <p:cNvPr id="8" name="Metin kutusu 7">
            <a:extLst>
              <a:ext uri="{FF2B5EF4-FFF2-40B4-BE49-F238E27FC236}">
                <a16:creationId xmlns:a16="http://schemas.microsoft.com/office/drawing/2014/main" id="{1DDE52F5-CD1F-26BC-DD6B-A52D59518465}"/>
              </a:ext>
            </a:extLst>
          </p:cNvPr>
          <p:cNvSpPr txBox="1"/>
          <p:nvPr/>
        </p:nvSpPr>
        <p:spPr>
          <a:xfrm>
            <a:off x="5791200" y="1446252"/>
            <a:ext cx="1702706" cy="369332"/>
          </a:xfrm>
          <a:prstGeom prst="rect">
            <a:avLst/>
          </a:prstGeom>
          <a:noFill/>
        </p:spPr>
        <p:txBody>
          <a:bodyPr wrap="square">
            <a:spAutoFit/>
          </a:bodyPr>
          <a:lstStyle/>
          <a:p>
            <a:r>
              <a:rPr lang="tr-TR" dirty="0"/>
              <a:t>Aykırı değerler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1D46E2-A119-59D0-A77A-D847A442F346}"/>
              </a:ext>
            </a:extLst>
          </p:cNvPr>
          <p:cNvSpPr txBox="1"/>
          <p:nvPr/>
        </p:nvSpPr>
        <p:spPr>
          <a:xfrm>
            <a:off x="381000" y="438150"/>
            <a:ext cx="8229600" cy="4524315"/>
          </a:xfrm>
          <a:prstGeom prst="rect">
            <a:avLst/>
          </a:prstGeom>
          <a:noFill/>
        </p:spPr>
        <p:txBody>
          <a:bodyPr wrap="square" rtlCol="0">
            <a:spAutoFit/>
          </a:bodyPr>
          <a:lstStyle/>
          <a:p>
            <a:pPr algn="ctr"/>
            <a:r>
              <a:rPr lang="fi-FI" b="1" dirty="0">
                <a:solidFill>
                  <a:srgbClr val="FFFF00"/>
                </a:solidFill>
              </a:rPr>
              <a:t>Veri Kalitesi ve Ölçüm Metrikleri</a:t>
            </a:r>
            <a:endParaRPr lang="tr-TR" b="1" dirty="0">
              <a:solidFill>
                <a:srgbClr val="FFFF00"/>
              </a:solidFill>
            </a:endParaRPr>
          </a:p>
          <a:p>
            <a:pPr algn="ctr"/>
            <a:endParaRPr lang="tr-TR" dirty="0">
              <a:solidFill>
                <a:schemeClr val="bg1"/>
              </a:solidFill>
            </a:endParaRPr>
          </a:p>
          <a:p>
            <a:r>
              <a:rPr lang="tr-TR" dirty="0">
                <a:solidFill>
                  <a:schemeClr val="bg1"/>
                </a:solidFill>
              </a:rPr>
              <a:t>Veri kalitesi, bir veri setinin doğruluğu, eksiksizliği, tutarlılığı, güvenilirliği ve kullanılabilirliği gibi çeşitli ölçütlerle değerlendirilir. Veri kalitesini ölçmek için kullanılan temel ölçütler şunlar olabilir:</a:t>
            </a:r>
          </a:p>
          <a:p>
            <a:endParaRPr lang="tr-TR" dirty="0">
              <a:solidFill>
                <a:schemeClr val="bg1"/>
              </a:solidFill>
            </a:endParaRPr>
          </a:p>
          <a:p>
            <a:pPr marL="285750" indent="-285750">
              <a:buFont typeface="Arial" panose="020B0604020202020204" pitchFamily="34" charset="0"/>
              <a:buChar char="•"/>
            </a:pPr>
            <a:r>
              <a:rPr lang="tr-TR" b="1" u="sng" dirty="0">
                <a:solidFill>
                  <a:srgbClr val="FFFF00"/>
                </a:solidFill>
              </a:rPr>
              <a:t>Doğruluk (</a:t>
            </a:r>
            <a:r>
              <a:rPr lang="tr-TR" b="1" u="sng" dirty="0" err="1">
                <a:solidFill>
                  <a:srgbClr val="FFFF00"/>
                </a:solidFill>
              </a:rPr>
              <a:t>Accuracy</a:t>
            </a:r>
            <a:r>
              <a:rPr lang="tr-TR" b="1" u="sng" dirty="0">
                <a:solidFill>
                  <a:srgbClr val="FFFF00"/>
                </a:solidFill>
              </a:rPr>
              <a:t>): </a:t>
            </a:r>
            <a:r>
              <a:rPr lang="tr-TR" dirty="0">
                <a:solidFill>
                  <a:schemeClr val="bg1"/>
                </a:solidFill>
              </a:rPr>
              <a:t>Veri setindeki bilgilerin gerçek dünyadaki durumu ne kadar yansıttığını ifade eder. Yanlış veya hatalı verilerin olmaması önemlidir.</a:t>
            </a:r>
          </a:p>
          <a:p>
            <a:pPr marL="285750" indent="-285750">
              <a:buFont typeface="Arial" panose="020B0604020202020204" pitchFamily="34" charset="0"/>
              <a:buChar char="•"/>
            </a:pPr>
            <a:endParaRPr lang="tr-TR" dirty="0">
              <a:solidFill>
                <a:schemeClr val="bg1"/>
              </a:solidFill>
            </a:endParaRPr>
          </a:p>
          <a:p>
            <a:pPr marL="285750" indent="-285750">
              <a:buFont typeface="Arial" panose="020B0604020202020204" pitchFamily="34" charset="0"/>
              <a:buChar char="•"/>
            </a:pPr>
            <a:r>
              <a:rPr lang="tr-TR" b="1" u="sng" dirty="0">
                <a:solidFill>
                  <a:srgbClr val="FFFF00"/>
                </a:solidFill>
              </a:rPr>
              <a:t>Eksiksizlik (</a:t>
            </a:r>
            <a:r>
              <a:rPr lang="tr-TR" b="1" u="sng" dirty="0" err="1">
                <a:solidFill>
                  <a:srgbClr val="FFFF00"/>
                </a:solidFill>
              </a:rPr>
              <a:t>Completeness</a:t>
            </a:r>
            <a:r>
              <a:rPr lang="tr-TR" b="1" u="sng" dirty="0">
                <a:solidFill>
                  <a:srgbClr val="FFFF00"/>
                </a:solidFill>
              </a:rPr>
              <a:t>): </a:t>
            </a:r>
            <a:r>
              <a:rPr lang="tr-TR" dirty="0">
                <a:solidFill>
                  <a:schemeClr val="bg1"/>
                </a:solidFill>
              </a:rPr>
              <a:t>Veri setindeki eksik veya boş değerlerin sayısıdır. Düşük eksiksizlik, veri kalitesini olumsuz etkileyebilir.</a:t>
            </a:r>
          </a:p>
          <a:p>
            <a:pPr marL="285750" indent="-285750">
              <a:buFont typeface="Arial" panose="020B0604020202020204" pitchFamily="34" charset="0"/>
              <a:buChar char="•"/>
            </a:pPr>
            <a:endParaRPr lang="tr-TR" dirty="0">
              <a:solidFill>
                <a:schemeClr val="bg1"/>
              </a:solidFill>
            </a:endParaRPr>
          </a:p>
          <a:p>
            <a:pPr marL="285750" indent="-285750">
              <a:buFont typeface="Arial" panose="020B0604020202020204" pitchFamily="34" charset="0"/>
              <a:buChar char="•"/>
            </a:pPr>
            <a:r>
              <a:rPr lang="tr-TR" b="1" u="sng" dirty="0">
                <a:solidFill>
                  <a:srgbClr val="FFFF00"/>
                </a:solidFill>
              </a:rPr>
              <a:t>Tutarlılık (</a:t>
            </a:r>
            <a:r>
              <a:rPr lang="tr-TR" b="1" u="sng" dirty="0" err="1">
                <a:solidFill>
                  <a:srgbClr val="FFFF00"/>
                </a:solidFill>
              </a:rPr>
              <a:t>Consistency</a:t>
            </a:r>
            <a:r>
              <a:rPr lang="tr-TR" b="1" u="sng" dirty="0">
                <a:solidFill>
                  <a:srgbClr val="FFFF00"/>
                </a:solidFill>
              </a:rPr>
              <a:t>): </a:t>
            </a:r>
            <a:r>
              <a:rPr lang="tr-TR" dirty="0">
                <a:solidFill>
                  <a:schemeClr val="bg1"/>
                </a:solidFill>
              </a:rPr>
              <a:t>Veri setindeki bilgilerin içsel olarak çelişkisiz olması gerekmektedir. Aynı bilginin farklı yerlerde farklı şekilde temsil edilmesi veri tutarlılığı sorunu yaratabilir.</a:t>
            </a:r>
          </a:p>
          <a:p>
            <a:endParaRPr lang="tr-TR" dirty="0">
              <a:solidFill>
                <a:schemeClr val="bg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1D46E2-A119-59D0-A77A-D847A442F346}"/>
              </a:ext>
            </a:extLst>
          </p:cNvPr>
          <p:cNvSpPr txBox="1"/>
          <p:nvPr/>
        </p:nvSpPr>
        <p:spPr>
          <a:xfrm>
            <a:off x="457200" y="171093"/>
            <a:ext cx="8229600" cy="4801314"/>
          </a:xfrm>
          <a:prstGeom prst="rect">
            <a:avLst/>
          </a:prstGeom>
          <a:noFill/>
        </p:spPr>
        <p:txBody>
          <a:bodyPr wrap="square" rtlCol="0">
            <a:spAutoFit/>
          </a:bodyPr>
          <a:lstStyle/>
          <a:p>
            <a:pPr algn="ctr"/>
            <a:r>
              <a:rPr lang="fi-FI" b="1" dirty="0">
                <a:solidFill>
                  <a:srgbClr val="FFFF00"/>
                </a:solidFill>
              </a:rPr>
              <a:t>Veri Kalitesi ve Ölçüm Metrikleri</a:t>
            </a:r>
            <a:endParaRPr lang="tr-TR" b="1" dirty="0">
              <a:solidFill>
                <a:srgbClr val="FFFF00"/>
              </a:solidFill>
            </a:endParaRPr>
          </a:p>
          <a:p>
            <a:pPr algn="ctr"/>
            <a:endParaRPr lang="tr-TR" b="1" dirty="0">
              <a:solidFill>
                <a:srgbClr val="FFFF00"/>
              </a:solidFill>
            </a:endParaRPr>
          </a:p>
          <a:p>
            <a:pPr marL="285750" indent="-285750">
              <a:buFont typeface="Arial" panose="020B0604020202020204" pitchFamily="34" charset="0"/>
              <a:buChar char="•"/>
            </a:pPr>
            <a:r>
              <a:rPr lang="tr-TR" b="1" u="sng" dirty="0">
                <a:solidFill>
                  <a:srgbClr val="FFFF00"/>
                </a:solidFill>
              </a:rPr>
              <a:t>Güvenilirlik (</a:t>
            </a:r>
            <a:r>
              <a:rPr lang="tr-TR" b="1" u="sng" dirty="0" err="1">
                <a:solidFill>
                  <a:srgbClr val="FFFF00"/>
                </a:solidFill>
              </a:rPr>
              <a:t>Reliability</a:t>
            </a:r>
            <a:r>
              <a:rPr lang="tr-TR" b="1" u="sng" dirty="0">
                <a:solidFill>
                  <a:srgbClr val="FFFF00"/>
                </a:solidFill>
              </a:rPr>
              <a:t>): </a:t>
            </a:r>
            <a:r>
              <a:rPr lang="tr-TR" dirty="0">
                <a:solidFill>
                  <a:schemeClr val="bg1"/>
                </a:solidFill>
              </a:rPr>
              <a:t>Veri kaynaklarının güvenilirliği ve veri toplama yöntemlerinin güvenilirliği önemlidir. Güvenilir olmayan kaynaklardan gelen veriler veri kalitesini düşürebilir.</a:t>
            </a:r>
          </a:p>
          <a:p>
            <a:pPr marL="285750" indent="-285750">
              <a:buFont typeface="Arial" panose="020B0604020202020204" pitchFamily="34" charset="0"/>
              <a:buChar char="•"/>
            </a:pPr>
            <a:endParaRPr lang="tr-TR" dirty="0">
              <a:solidFill>
                <a:schemeClr val="bg1"/>
              </a:solidFill>
            </a:endParaRPr>
          </a:p>
          <a:p>
            <a:pPr marL="285750" indent="-285750">
              <a:buFont typeface="Arial" panose="020B0604020202020204" pitchFamily="34" charset="0"/>
              <a:buChar char="•"/>
            </a:pPr>
            <a:r>
              <a:rPr lang="tr-TR" b="1" u="sng" dirty="0">
                <a:solidFill>
                  <a:srgbClr val="FFFF00"/>
                </a:solidFill>
              </a:rPr>
              <a:t>Kullanılabilirlik (Accessibility): </a:t>
            </a:r>
            <a:r>
              <a:rPr lang="tr-TR" dirty="0">
                <a:solidFill>
                  <a:schemeClr val="bg1"/>
                </a:solidFill>
              </a:rPr>
              <a:t>Veri setinin kullanıcılara kolayca erişilebilir olması gerekir. Veriye erişim, kullanım kolaylığı ve </a:t>
            </a:r>
            <a:r>
              <a:rPr lang="tr-TR" dirty="0" err="1">
                <a:solidFill>
                  <a:schemeClr val="bg1"/>
                </a:solidFill>
              </a:rPr>
              <a:t>paylaşılabilirlik</a:t>
            </a:r>
            <a:r>
              <a:rPr lang="tr-TR" dirty="0">
                <a:solidFill>
                  <a:schemeClr val="bg1"/>
                </a:solidFill>
              </a:rPr>
              <a:t> gibi faktörler kullanılabilirlik ölçütünü etkiler.</a:t>
            </a:r>
          </a:p>
          <a:p>
            <a:pPr marL="285750" indent="-285750">
              <a:buFont typeface="Arial" panose="020B0604020202020204" pitchFamily="34" charset="0"/>
              <a:buChar char="•"/>
            </a:pPr>
            <a:endParaRPr lang="tr-TR" dirty="0">
              <a:solidFill>
                <a:schemeClr val="bg1"/>
              </a:solidFill>
            </a:endParaRPr>
          </a:p>
          <a:p>
            <a:pPr marL="285750" indent="-285750">
              <a:buFont typeface="Arial" panose="020B0604020202020204" pitchFamily="34" charset="0"/>
              <a:buChar char="•"/>
            </a:pPr>
            <a:r>
              <a:rPr lang="tr-TR" b="1" u="sng" dirty="0">
                <a:solidFill>
                  <a:srgbClr val="FFFF00"/>
                </a:solidFill>
              </a:rPr>
              <a:t>Zamanında Olma (</a:t>
            </a:r>
            <a:r>
              <a:rPr lang="tr-TR" b="1" u="sng" dirty="0" err="1">
                <a:solidFill>
                  <a:srgbClr val="FFFF00"/>
                </a:solidFill>
              </a:rPr>
              <a:t>Timeliness</a:t>
            </a:r>
            <a:r>
              <a:rPr lang="tr-TR" b="1" u="sng" dirty="0">
                <a:solidFill>
                  <a:srgbClr val="FFFF00"/>
                </a:solidFill>
              </a:rPr>
              <a:t>): </a:t>
            </a:r>
            <a:r>
              <a:rPr lang="tr-TR" dirty="0">
                <a:solidFill>
                  <a:schemeClr val="bg1"/>
                </a:solidFill>
              </a:rPr>
              <a:t>Veri setinin güncel olması önemlidir, çünkü eski veriler zaman içinde değerini kaybedebilir. Zamanında güncellenmeyen veriler veri kalitesini düşürebilir.</a:t>
            </a:r>
          </a:p>
          <a:p>
            <a:pPr marL="285750" indent="-285750">
              <a:buFont typeface="Arial" panose="020B0604020202020204" pitchFamily="34" charset="0"/>
              <a:buChar char="•"/>
            </a:pPr>
            <a:endParaRPr lang="tr-TR" dirty="0">
              <a:solidFill>
                <a:schemeClr val="bg1"/>
              </a:solidFill>
            </a:endParaRPr>
          </a:p>
          <a:p>
            <a:pPr marL="285750" indent="-285750">
              <a:buFont typeface="Arial" panose="020B0604020202020204" pitchFamily="34" charset="0"/>
              <a:buChar char="•"/>
            </a:pPr>
            <a:r>
              <a:rPr lang="tr-TR" b="1" u="sng" dirty="0">
                <a:solidFill>
                  <a:srgbClr val="FFFF00"/>
                </a:solidFill>
              </a:rPr>
              <a:t>Adezyon (</a:t>
            </a:r>
            <a:r>
              <a:rPr lang="tr-TR" b="1" u="sng" dirty="0" err="1">
                <a:solidFill>
                  <a:srgbClr val="FFFF00"/>
                </a:solidFill>
              </a:rPr>
              <a:t>Conformity</a:t>
            </a:r>
            <a:r>
              <a:rPr lang="tr-TR" b="1" u="sng" dirty="0">
                <a:solidFill>
                  <a:srgbClr val="FFFF00"/>
                </a:solidFill>
              </a:rPr>
              <a:t>): </a:t>
            </a:r>
            <a:r>
              <a:rPr lang="tr-TR" dirty="0">
                <a:solidFill>
                  <a:schemeClr val="bg1"/>
                </a:solidFill>
              </a:rPr>
              <a:t>Veri setinin, belirlenen veri standartlarına ve formatlarına uygun olması gerekmektedir. Farklı formatlarda veya standartlarda verilerin uyumsuzluğu veri kalitesini azaltabilir.</a:t>
            </a:r>
          </a:p>
        </p:txBody>
      </p:sp>
    </p:spTree>
    <p:extLst>
      <p:ext uri="{BB962C8B-B14F-4D97-AF65-F5344CB8AC3E}">
        <p14:creationId xmlns:p14="http://schemas.microsoft.com/office/powerpoint/2010/main" val="15986357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1D46E2-A119-59D0-A77A-D847A442F346}"/>
              </a:ext>
            </a:extLst>
          </p:cNvPr>
          <p:cNvSpPr txBox="1"/>
          <p:nvPr/>
        </p:nvSpPr>
        <p:spPr>
          <a:xfrm>
            <a:off x="381000" y="438150"/>
            <a:ext cx="8229600" cy="4247317"/>
          </a:xfrm>
          <a:prstGeom prst="rect">
            <a:avLst/>
          </a:prstGeom>
          <a:noFill/>
        </p:spPr>
        <p:txBody>
          <a:bodyPr wrap="square" rtlCol="0">
            <a:spAutoFit/>
          </a:bodyPr>
          <a:lstStyle/>
          <a:p>
            <a:pPr algn="ctr"/>
            <a:r>
              <a:rPr lang="fi-FI" b="1" dirty="0">
                <a:solidFill>
                  <a:srgbClr val="FFFF00"/>
                </a:solidFill>
              </a:rPr>
              <a:t>Veri Kalitesi ve Ölçüm Metrikleri</a:t>
            </a:r>
            <a:endParaRPr lang="tr-TR" b="1" dirty="0">
              <a:solidFill>
                <a:srgbClr val="FFFF00"/>
              </a:solidFill>
            </a:endParaRPr>
          </a:p>
          <a:p>
            <a:pPr algn="ctr"/>
            <a:endParaRPr lang="tr-TR" b="1" dirty="0">
              <a:solidFill>
                <a:srgbClr val="FFFF00"/>
              </a:solidFill>
            </a:endParaRPr>
          </a:p>
          <a:p>
            <a:pPr marL="285750" indent="-285750">
              <a:buFont typeface="Arial" panose="020B0604020202020204" pitchFamily="34" charset="0"/>
              <a:buChar char="•"/>
            </a:pPr>
            <a:r>
              <a:rPr lang="tr-TR" b="1" u="sng" dirty="0">
                <a:solidFill>
                  <a:srgbClr val="FFFF00"/>
                </a:solidFill>
              </a:rPr>
              <a:t>Toplanabilirlik (</a:t>
            </a:r>
            <a:r>
              <a:rPr lang="tr-TR" b="1" u="sng" dirty="0" err="1">
                <a:solidFill>
                  <a:srgbClr val="FFFF00"/>
                </a:solidFill>
              </a:rPr>
              <a:t>Collectability</a:t>
            </a:r>
            <a:r>
              <a:rPr lang="tr-TR" b="1" u="sng" dirty="0">
                <a:solidFill>
                  <a:srgbClr val="FFFF00"/>
                </a:solidFill>
              </a:rPr>
              <a:t>): </a:t>
            </a:r>
            <a:r>
              <a:rPr lang="tr-TR" dirty="0">
                <a:solidFill>
                  <a:schemeClr val="bg1"/>
                </a:solidFill>
              </a:rPr>
              <a:t>Verilerin toplanması sürecinin maliyeti, veri toplama yöntemlerinin etkinliği ve veri toplama sürecinin düzeni gibi faktörler de veri kalitesini etkiler.</a:t>
            </a:r>
          </a:p>
          <a:p>
            <a:pPr marL="285750" indent="-285750">
              <a:buFont typeface="Arial" panose="020B0604020202020204" pitchFamily="34" charset="0"/>
              <a:buChar char="•"/>
            </a:pPr>
            <a:endParaRPr lang="tr-TR" dirty="0">
              <a:solidFill>
                <a:schemeClr val="bg1"/>
              </a:solidFill>
            </a:endParaRPr>
          </a:p>
          <a:p>
            <a:pPr marL="285750" indent="-285750">
              <a:buFont typeface="Arial" panose="020B0604020202020204" pitchFamily="34" charset="0"/>
              <a:buChar char="•"/>
            </a:pPr>
            <a:r>
              <a:rPr lang="tr-TR" b="1" u="sng" dirty="0">
                <a:solidFill>
                  <a:srgbClr val="FFFF00"/>
                </a:solidFill>
              </a:rPr>
              <a:t>Kesinlik (Precision): </a:t>
            </a:r>
            <a:r>
              <a:rPr lang="tr-TR" dirty="0">
                <a:solidFill>
                  <a:schemeClr val="bg1"/>
                </a:solidFill>
              </a:rPr>
              <a:t>Veri setindeki sayısal değerlerin hassasiyetini ifade eder. Düşük kesinlik, yuvarlama hataları veya ölçüm hataları nedeniyle olabilir.</a:t>
            </a:r>
          </a:p>
          <a:p>
            <a:pPr marL="285750" indent="-285750">
              <a:buFont typeface="Arial" panose="020B0604020202020204" pitchFamily="34" charset="0"/>
              <a:buChar char="•"/>
            </a:pPr>
            <a:endParaRPr lang="tr-TR" dirty="0">
              <a:solidFill>
                <a:schemeClr val="bg1"/>
              </a:solidFill>
            </a:endParaRPr>
          </a:p>
          <a:p>
            <a:pPr marL="285750" indent="-285750">
              <a:buFont typeface="Arial" panose="020B0604020202020204" pitchFamily="34" charset="0"/>
              <a:buChar char="•"/>
            </a:pPr>
            <a:r>
              <a:rPr lang="tr-TR" b="1" u="sng" dirty="0">
                <a:solidFill>
                  <a:srgbClr val="FFFF00"/>
                </a:solidFill>
              </a:rPr>
              <a:t>Tekrarlanabilirlik (</a:t>
            </a:r>
            <a:r>
              <a:rPr lang="tr-TR" b="1" u="sng" dirty="0" err="1">
                <a:solidFill>
                  <a:srgbClr val="FFFF00"/>
                </a:solidFill>
              </a:rPr>
              <a:t>Reproducibility</a:t>
            </a:r>
            <a:r>
              <a:rPr lang="tr-TR" b="1" u="sng" dirty="0">
                <a:solidFill>
                  <a:srgbClr val="FFFF00"/>
                </a:solidFill>
              </a:rPr>
              <a:t>): </a:t>
            </a:r>
            <a:r>
              <a:rPr lang="tr-TR" dirty="0">
                <a:solidFill>
                  <a:schemeClr val="bg1"/>
                </a:solidFill>
              </a:rPr>
              <a:t>Veri setinin aynı koşullarda veya farklı bir zaman diliminde tekrar toplanabilir veya yeniden oluşturulabilir olması önemlidir.</a:t>
            </a:r>
          </a:p>
          <a:p>
            <a:pPr marL="285750" indent="-285750">
              <a:buFont typeface="Arial" panose="020B0604020202020204" pitchFamily="34" charset="0"/>
              <a:buChar char="•"/>
            </a:pPr>
            <a:endParaRPr lang="tr-TR" dirty="0">
              <a:solidFill>
                <a:schemeClr val="bg1"/>
              </a:solidFill>
            </a:endParaRPr>
          </a:p>
          <a:p>
            <a:pPr marL="285750" indent="-285750">
              <a:buFont typeface="Arial" panose="020B0604020202020204" pitchFamily="34" charset="0"/>
              <a:buChar char="•"/>
            </a:pPr>
            <a:r>
              <a:rPr lang="tr-TR" dirty="0">
                <a:solidFill>
                  <a:schemeClr val="bg1"/>
                </a:solidFill>
              </a:rPr>
              <a:t>Bu ölçütler, veri kalitesini değerlendirmek ve geliştirmek için kullanılır. Veri kalitesi, veri analizi ve veri odaklı karar alma süreçlerinin güvenilirliğini ve etkinliğini artırmak için büyük bir öneme sahiptir.</a:t>
            </a:r>
          </a:p>
        </p:txBody>
      </p:sp>
    </p:spTree>
    <p:extLst>
      <p:ext uri="{BB962C8B-B14F-4D97-AF65-F5344CB8AC3E}">
        <p14:creationId xmlns:p14="http://schemas.microsoft.com/office/powerpoint/2010/main" val="28956747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7CDD8A-7BDB-5E0B-AE02-BB1B6FE1FFAD}"/>
              </a:ext>
            </a:extLst>
          </p:cNvPr>
          <p:cNvSpPr txBox="1"/>
          <p:nvPr/>
        </p:nvSpPr>
        <p:spPr>
          <a:xfrm>
            <a:off x="152400" y="711708"/>
            <a:ext cx="8686800" cy="3108543"/>
          </a:xfrm>
          <a:prstGeom prst="rect">
            <a:avLst/>
          </a:prstGeom>
          <a:noFill/>
        </p:spPr>
        <p:txBody>
          <a:bodyPr wrap="square" rtlCol="0">
            <a:spAutoFit/>
          </a:bodyPr>
          <a:lstStyle/>
          <a:p>
            <a:pPr marL="285750" indent="-285750">
              <a:buFont typeface="Arial" panose="020B0604020202020204" pitchFamily="34" charset="0"/>
              <a:buChar char="•"/>
            </a:pPr>
            <a:r>
              <a:rPr lang="tr-TR" sz="1400" dirty="0">
                <a:solidFill>
                  <a:srgbClr val="FFFF00"/>
                </a:solidFill>
              </a:rPr>
              <a:t>Veri Temizleme (Data </a:t>
            </a:r>
            <a:r>
              <a:rPr lang="tr-TR" sz="1400" dirty="0" err="1">
                <a:solidFill>
                  <a:srgbClr val="FFFF00"/>
                </a:solidFill>
              </a:rPr>
              <a:t>Cleaning</a:t>
            </a:r>
            <a:r>
              <a:rPr lang="tr-TR" sz="1400" dirty="0">
                <a:solidFill>
                  <a:srgbClr val="FFFF00"/>
                </a:solidFill>
              </a:rPr>
              <a:t>):</a:t>
            </a:r>
          </a:p>
          <a:p>
            <a:pPr lvl="1"/>
            <a:r>
              <a:rPr lang="tr-TR" sz="1400" dirty="0">
                <a:solidFill>
                  <a:schemeClr val="bg1"/>
                </a:solidFill>
              </a:rPr>
              <a:t>	Eksik değerleri doldurun, gürültülü verileri düzeltin, aykırı değerleri belirleyin veya kaldırın ve tutarsızlıkları çözün</a:t>
            </a:r>
          </a:p>
          <a:p>
            <a:pPr marL="285750" indent="-285750">
              <a:buFont typeface="Arial" panose="020B0604020202020204" pitchFamily="34" charset="0"/>
              <a:buChar char="•"/>
            </a:pPr>
            <a:r>
              <a:rPr lang="tr-TR" sz="1400" dirty="0">
                <a:solidFill>
                  <a:srgbClr val="FFFF00"/>
                </a:solidFill>
              </a:rPr>
              <a:t>Veri Birleştirme (Data Integration ):</a:t>
            </a:r>
          </a:p>
          <a:p>
            <a:r>
              <a:rPr lang="tr-TR" sz="1400" dirty="0">
                <a:solidFill>
                  <a:schemeClr val="bg1"/>
                </a:solidFill>
              </a:rPr>
              <a:t>	Birden çok </a:t>
            </a:r>
            <a:r>
              <a:rPr lang="tr-TR" sz="1400" dirty="0" err="1">
                <a:solidFill>
                  <a:schemeClr val="bg1"/>
                </a:solidFill>
              </a:rPr>
              <a:t>veritabanının</a:t>
            </a:r>
            <a:r>
              <a:rPr lang="tr-TR" sz="1400" dirty="0">
                <a:solidFill>
                  <a:schemeClr val="bg1"/>
                </a:solidFill>
              </a:rPr>
              <a:t>, veri küpünün veya dosyanın entegrasyonu</a:t>
            </a:r>
          </a:p>
          <a:p>
            <a:pPr marL="285750" indent="-285750">
              <a:buFont typeface="Arial" panose="020B0604020202020204" pitchFamily="34" charset="0"/>
              <a:buChar char="•"/>
            </a:pPr>
            <a:r>
              <a:rPr lang="tr-TR" sz="1400" dirty="0">
                <a:solidFill>
                  <a:srgbClr val="FFFF00"/>
                </a:solidFill>
              </a:rPr>
              <a:t>Veri dönüşümü (Data </a:t>
            </a:r>
            <a:r>
              <a:rPr lang="tr-TR" sz="1400" dirty="0" err="1">
                <a:solidFill>
                  <a:srgbClr val="FFFF00"/>
                </a:solidFill>
              </a:rPr>
              <a:t>Transformation</a:t>
            </a:r>
            <a:r>
              <a:rPr lang="tr-TR" sz="1400" dirty="0">
                <a:solidFill>
                  <a:srgbClr val="FFFF00"/>
                </a:solidFill>
              </a:rPr>
              <a:t>):</a:t>
            </a:r>
          </a:p>
          <a:p>
            <a:r>
              <a:rPr lang="tr-TR" sz="1400" dirty="0">
                <a:solidFill>
                  <a:schemeClr val="bg1"/>
                </a:solidFill>
              </a:rPr>
              <a:t>	Normalleştirme ve birleştirme</a:t>
            </a:r>
          </a:p>
          <a:p>
            <a:pPr marL="285750" indent="-285750">
              <a:buFont typeface="Arial" panose="020B0604020202020204" pitchFamily="34" charset="0"/>
              <a:buChar char="•"/>
            </a:pPr>
            <a:r>
              <a:rPr lang="tr-TR" sz="1400" dirty="0">
                <a:solidFill>
                  <a:srgbClr val="FFFF00"/>
                </a:solidFill>
              </a:rPr>
              <a:t>Veri azaltma (Data </a:t>
            </a:r>
            <a:r>
              <a:rPr lang="tr-TR" sz="1400" dirty="0" err="1">
                <a:solidFill>
                  <a:srgbClr val="FFFF00"/>
                </a:solidFill>
              </a:rPr>
              <a:t>Reduction</a:t>
            </a:r>
            <a:r>
              <a:rPr lang="tr-TR" sz="1400" dirty="0">
                <a:solidFill>
                  <a:srgbClr val="FFFF00"/>
                </a:solidFill>
              </a:rPr>
              <a:t>):</a:t>
            </a:r>
          </a:p>
          <a:p>
            <a:r>
              <a:rPr lang="tr-TR" sz="1400" dirty="0">
                <a:solidFill>
                  <a:schemeClr val="bg1"/>
                </a:solidFill>
              </a:rPr>
              <a:t>	Hacim olarak azaltılmış gösterim elde eder, ancak aynı veya benzer analitik sonuçlar üretir.</a:t>
            </a:r>
          </a:p>
          <a:p>
            <a:pPr marL="285750" indent="-285750">
              <a:buFont typeface="Arial" panose="020B0604020202020204" pitchFamily="34" charset="0"/>
              <a:buChar char="•"/>
            </a:pPr>
            <a:r>
              <a:rPr lang="tr-TR" sz="1400" dirty="0">
                <a:solidFill>
                  <a:srgbClr val="FFFF00"/>
                </a:solidFill>
              </a:rPr>
              <a:t>Veri ayrıklaştırma (Data </a:t>
            </a:r>
            <a:r>
              <a:rPr lang="tr-TR" sz="1400" dirty="0" err="1">
                <a:solidFill>
                  <a:srgbClr val="FFFF00"/>
                </a:solidFill>
              </a:rPr>
              <a:t>discretization</a:t>
            </a:r>
            <a:r>
              <a:rPr lang="tr-TR" sz="1400" dirty="0">
                <a:solidFill>
                  <a:srgbClr val="FFFF00"/>
                </a:solidFill>
              </a:rPr>
              <a:t>):</a:t>
            </a:r>
          </a:p>
          <a:p>
            <a:r>
              <a:rPr lang="tr-TR" sz="1400" dirty="0">
                <a:solidFill>
                  <a:schemeClr val="bg1"/>
                </a:solidFill>
              </a:rPr>
              <a:t>	Veri azaltmanın bir parçası, ancak özellikle sayısal veriler için özellikle önemlidir. Veri ayrıklaştırma, çok sayıda veri değerini daha küçük değerlere dönüştürme yöntemini ifade eder, böylece verilerin değerlendirilmesi ve yönetimi kolaylaşır. Başka bir deyişle, veri ayrıklaştırma, sürekli verilerin öznitelik değerlerini minimum veri kaybıyla sınırlı bir aralık kümesine dönüştürme yöntemidir.</a:t>
            </a:r>
          </a:p>
        </p:txBody>
      </p:sp>
      <p:sp>
        <p:nvSpPr>
          <p:cNvPr id="7" name="TextBox 6">
            <a:extLst>
              <a:ext uri="{FF2B5EF4-FFF2-40B4-BE49-F238E27FC236}">
                <a16:creationId xmlns:a16="http://schemas.microsoft.com/office/drawing/2014/main" id="{0E6C6801-B8A8-75E4-64FC-B8CBE72A79A5}"/>
              </a:ext>
            </a:extLst>
          </p:cNvPr>
          <p:cNvSpPr txBox="1"/>
          <p:nvPr/>
        </p:nvSpPr>
        <p:spPr>
          <a:xfrm>
            <a:off x="990600" y="179916"/>
            <a:ext cx="6705600" cy="369332"/>
          </a:xfrm>
          <a:prstGeom prst="rect">
            <a:avLst/>
          </a:prstGeom>
          <a:noFill/>
        </p:spPr>
        <p:txBody>
          <a:bodyPr wrap="square">
            <a:spAutoFit/>
          </a:bodyPr>
          <a:lstStyle/>
          <a:p>
            <a:pPr algn="ctr"/>
            <a:r>
              <a:rPr lang="tr-TR" b="1" u="sng" dirty="0">
                <a:solidFill>
                  <a:srgbClr val="FFFF00"/>
                </a:solidFill>
              </a:rPr>
              <a:t>Veri Ön İşlemedeki Önemli Görevler</a:t>
            </a:r>
          </a:p>
        </p:txBody>
      </p:sp>
      <p:pic>
        <p:nvPicPr>
          <p:cNvPr id="11" name="Picture 10">
            <a:extLst>
              <a:ext uri="{FF2B5EF4-FFF2-40B4-BE49-F238E27FC236}">
                <a16:creationId xmlns:a16="http://schemas.microsoft.com/office/drawing/2014/main" id="{C9A4DF82-FC13-44EF-49A1-98CBF7839A44}"/>
              </a:ext>
            </a:extLst>
          </p:cNvPr>
          <p:cNvPicPr>
            <a:picLocks noChangeAspect="1"/>
          </p:cNvPicPr>
          <p:nvPr/>
        </p:nvPicPr>
        <p:blipFill>
          <a:blip r:embed="rId2"/>
          <a:stretch>
            <a:fillRect/>
          </a:stretch>
        </p:blipFill>
        <p:spPr>
          <a:xfrm>
            <a:off x="838200" y="3847584"/>
            <a:ext cx="7239000" cy="1116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057400" y="2038350"/>
            <a:ext cx="4120896" cy="2848356"/>
          </a:xfrm>
          <a:prstGeom prst="rect">
            <a:avLst/>
          </a:prstGeom>
          <a:blipFill>
            <a:blip r:embed="rId2" cstate="print"/>
            <a:stretch>
              <a:fillRect/>
            </a:stretch>
          </a:blipFill>
        </p:spPr>
        <p:txBody>
          <a:bodyPr wrap="square" lIns="0" tIns="0" rIns="0" bIns="0" rtlCol="0"/>
          <a:lstStyle/>
          <a:p>
            <a:endParaRPr/>
          </a:p>
        </p:txBody>
      </p:sp>
      <p:sp>
        <p:nvSpPr>
          <p:cNvPr id="7" name="object 7"/>
          <p:cNvSpPr txBox="1">
            <a:spLocks noGrp="1"/>
          </p:cNvSpPr>
          <p:nvPr>
            <p:ph type="title"/>
          </p:nvPr>
        </p:nvSpPr>
        <p:spPr>
          <a:xfrm>
            <a:off x="1482978" y="103378"/>
            <a:ext cx="4838700" cy="566822"/>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0000"/>
                </a:solidFill>
                <a:latin typeface="Arial"/>
                <a:cs typeface="Arial"/>
              </a:rPr>
              <a:t>Algoritmanızın </a:t>
            </a:r>
            <a:r>
              <a:rPr sz="1800" dirty="0">
                <a:solidFill>
                  <a:srgbClr val="FF0000"/>
                </a:solidFill>
                <a:latin typeface="Arial"/>
                <a:cs typeface="Arial"/>
              </a:rPr>
              <a:t>çok </a:t>
            </a:r>
            <a:r>
              <a:rPr sz="1800" spc="-10" dirty="0" err="1">
                <a:solidFill>
                  <a:srgbClr val="FF0000"/>
                </a:solidFill>
                <a:latin typeface="Arial"/>
                <a:cs typeface="Arial"/>
              </a:rPr>
              <a:t>daha</a:t>
            </a:r>
            <a:r>
              <a:rPr sz="1800" spc="-10" dirty="0">
                <a:solidFill>
                  <a:srgbClr val="FF0000"/>
                </a:solidFill>
                <a:latin typeface="Arial"/>
                <a:cs typeface="Arial"/>
              </a:rPr>
              <a:t> </a:t>
            </a:r>
            <a:r>
              <a:rPr lang="tr-TR" sz="1800" spc="-5" dirty="0">
                <a:solidFill>
                  <a:srgbClr val="FF0000"/>
                </a:solidFill>
                <a:latin typeface="Arial"/>
                <a:cs typeface="Arial"/>
              </a:rPr>
              <a:t>başarılı</a:t>
            </a:r>
            <a:r>
              <a:rPr sz="1800" spc="-5" dirty="0">
                <a:solidFill>
                  <a:srgbClr val="FF0000"/>
                </a:solidFill>
                <a:latin typeface="Arial"/>
                <a:cs typeface="Arial"/>
              </a:rPr>
              <a:t> eğitilmesi için</a:t>
            </a:r>
            <a:r>
              <a:rPr sz="1800" spc="20" dirty="0">
                <a:solidFill>
                  <a:srgbClr val="FF0000"/>
                </a:solidFill>
                <a:latin typeface="Arial"/>
                <a:cs typeface="Arial"/>
              </a:rPr>
              <a:t> </a:t>
            </a:r>
            <a:r>
              <a:rPr sz="1800" dirty="0">
                <a:solidFill>
                  <a:srgbClr val="FF0000"/>
                </a:solidFill>
                <a:latin typeface="Arial"/>
                <a:cs typeface="Arial"/>
              </a:rPr>
              <a:t>…</a:t>
            </a:r>
            <a:endParaRPr sz="1800" dirty="0">
              <a:latin typeface="Arial"/>
              <a:cs typeface="Arial"/>
            </a:endParaRPr>
          </a:p>
        </p:txBody>
      </p:sp>
      <p:sp>
        <p:nvSpPr>
          <p:cNvPr id="3" name="Metin kutusu 2">
            <a:extLst>
              <a:ext uri="{FF2B5EF4-FFF2-40B4-BE49-F238E27FC236}">
                <a16:creationId xmlns:a16="http://schemas.microsoft.com/office/drawing/2014/main" id="{7D86E921-57E4-9FE3-387D-B428D2AA949B}"/>
              </a:ext>
            </a:extLst>
          </p:cNvPr>
          <p:cNvSpPr txBox="1"/>
          <p:nvPr/>
        </p:nvSpPr>
        <p:spPr>
          <a:xfrm>
            <a:off x="381000" y="645288"/>
            <a:ext cx="8305800" cy="1231106"/>
          </a:xfrm>
          <a:prstGeom prst="rect">
            <a:avLst/>
          </a:prstGeom>
          <a:noFill/>
        </p:spPr>
        <p:txBody>
          <a:bodyPr wrap="square">
            <a:spAutoFit/>
          </a:bodyPr>
          <a:lstStyle/>
          <a:p>
            <a:pPr marL="285750" indent="-285750" algn="just">
              <a:spcAft>
                <a:spcPts val="1200"/>
              </a:spcAft>
              <a:buFont typeface="Arial" panose="020B0604020202020204" pitchFamily="34" charset="0"/>
              <a:buChar char="•"/>
            </a:pPr>
            <a:r>
              <a:rPr lang="tr-TR" sz="1600" dirty="0">
                <a:solidFill>
                  <a:schemeClr val="bg1"/>
                </a:solidFill>
              </a:rPr>
              <a:t>Öznitelik Dönüşümü (</a:t>
            </a:r>
            <a:r>
              <a:rPr lang="tr-TR" sz="1600" dirty="0" err="1">
                <a:solidFill>
                  <a:schemeClr val="bg1"/>
                </a:solidFill>
              </a:rPr>
              <a:t>Attribute</a:t>
            </a:r>
            <a:r>
              <a:rPr lang="tr-TR" sz="1600" dirty="0">
                <a:solidFill>
                  <a:schemeClr val="bg1"/>
                </a:solidFill>
              </a:rPr>
              <a:t> </a:t>
            </a:r>
            <a:r>
              <a:rPr lang="tr-TR" sz="1600" dirty="0" err="1">
                <a:solidFill>
                  <a:schemeClr val="bg1"/>
                </a:solidFill>
              </a:rPr>
              <a:t>Transformation</a:t>
            </a:r>
            <a:r>
              <a:rPr lang="tr-TR" sz="1600" dirty="0">
                <a:solidFill>
                  <a:schemeClr val="bg1"/>
                </a:solidFill>
              </a:rPr>
              <a:t>), </a:t>
            </a:r>
            <a:r>
              <a:rPr lang="tr-TR" sz="1600" dirty="0" err="1">
                <a:solidFill>
                  <a:schemeClr val="bg1"/>
                </a:solidFill>
              </a:rPr>
              <a:t>verisetindeki</a:t>
            </a:r>
            <a:r>
              <a:rPr lang="tr-TR" sz="1600" dirty="0">
                <a:solidFill>
                  <a:schemeClr val="bg1"/>
                </a:solidFill>
              </a:rPr>
              <a:t> öznitelik değerlerini belirli matematiksel fonksiyonlarla yeniden ölçeklendirme veya dönüştürme işlemidir. </a:t>
            </a:r>
          </a:p>
          <a:p>
            <a:pPr marL="285750" indent="-285750" algn="just">
              <a:spcAft>
                <a:spcPts val="1200"/>
              </a:spcAft>
              <a:buFont typeface="Arial" panose="020B0604020202020204" pitchFamily="34" charset="0"/>
              <a:buChar char="•"/>
            </a:pPr>
            <a:r>
              <a:rPr lang="tr-TR" sz="1600" dirty="0">
                <a:solidFill>
                  <a:schemeClr val="bg1"/>
                </a:solidFill>
              </a:rPr>
              <a:t>Amaç, modeli daha doğru hale getirmek, veriyi daha anlamlı kılmak ve algoritmaların daha iyi çalışmasını sağlamaktır. Örnekler: logaritmik dönüşüm, standardizasyon, normalizasyon.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90600" y="133350"/>
            <a:ext cx="6248400" cy="914400"/>
          </a:xfrm>
          <a:prstGeom prst="rect">
            <a:avLst/>
          </a:prstGeom>
          <a:blipFill>
            <a:blip r:embed="rId2" cstate="print"/>
            <a:srcRect/>
            <a:stretch>
              <a:fillRect l="-6120" t="-33334" r="-19754" b="-24999"/>
            </a:stretch>
          </a:blipFill>
        </p:spPr>
        <p:txBody>
          <a:bodyPr wrap="square" lIns="0" tIns="0" rIns="0" bIns="0" rtlCol="0"/>
          <a:lstStyle/>
          <a:p>
            <a:endParaRPr dirty="0"/>
          </a:p>
        </p:txBody>
      </p:sp>
      <p:sp>
        <p:nvSpPr>
          <p:cNvPr id="4" name="TextBox 3">
            <a:extLst>
              <a:ext uri="{FF2B5EF4-FFF2-40B4-BE49-F238E27FC236}">
                <a16:creationId xmlns:a16="http://schemas.microsoft.com/office/drawing/2014/main" id="{7D055712-3B7C-A320-A6C0-939C474491E2}"/>
              </a:ext>
            </a:extLst>
          </p:cNvPr>
          <p:cNvSpPr txBox="1"/>
          <p:nvPr/>
        </p:nvSpPr>
        <p:spPr>
          <a:xfrm>
            <a:off x="609600" y="1047750"/>
            <a:ext cx="7772400" cy="3465372"/>
          </a:xfrm>
          <a:prstGeom prst="rect">
            <a:avLst/>
          </a:prstGeom>
          <a:noFill/>
        </p:spPr>
        <p:txBody>
          <a:bodyPr wrap="square">
            <a:spAutoFit/>
          </a:bodyPr>
          <a:lstStyle/>
          <a:p>
            <a:pPr>
              <a:lnSpc>
                <a:spcPct val="150000"/>
              </a:lnSpc>
            </a:pPr>
            <a:r>
              <a:rPr lang="tr-TR" sz="1050" dirty="0" err="1">
                <a:solidFill>
                  <a:schemeClr val="bg1"/>
                </a:solidFill>
                <a:latin typeface="Courier New" panose="02070309020205020404" pitchFamily="49" charset="0"/>
                <a:cs typeface="Courier New" panose="02070309020205020404" pitchFamily="49" charset="0"/>
              </a:rPr>
              <a:t>from</a:t>
            </a:r>
            <a:r>
              <a:rPr lang="tr-TR" sz="1050" dirty="0">
                <a:solidFill>
                  <a:schemeClr val="bg1"/>
                </a:solidFill>
                <a:latin typeface="Courier New" panose="02070309020205020404" pitchFamily="49" charset="0"/>
                <a:cs typeface="Courier New" panose="02070309020205020404" pitchFamily="49" charset="0"/>
              </a:rPr>
              <a:t> </a:t>
            </a:r>
            <a:r>
              <a:rPr lang="tr-TR" sz="1050" dirty="0" err="1">
                <a:solidFill>
                  <a:schemeClr val="bg1"/>
                </a:solidFill>
                <a:latin typeface="Courier New" panose="02070309020205020404" pitchFamily="49" charset="0"/>
                <a:cs typeface="Courier New" panose="02070309020205020404" pitchFamily="49" charset="0"/>
              </a:rPr>
              <a:t>sklearn.preprocessing</a:t>
            </a:r>
            <a:r>
              <a:rPr lang="tr-TR" sz="1050" dirty="0">
                <a:solidFill>
                  <a:schemeClr val="bg1"/>
                </a:solidFill>
                <a:latin typeface="Courier New" panose="02070309020205020404" pitchFamily="49" charset="0"/>
                <a:cs typeface="Courier New" panose="02070309020205020404" pitchFamily="49" charset="0"/>
              </a:rPr>
              <a:t> </a:t>
            </a:r>
            <a:r>
              <a:rPr lang="tr-TR" sz="1050" dirty="0" err="1">
                <a:solidFill>
                  <a:schemeClr val="bg1"/>
                </a:solidFill>
                <a:latin typeface="Courier New" panose="02070309020205020404" pitchFamily="49" charset="0"/>
                <a:cs typeface="Courier New" panose="02070309020205020404" pitchFamily="49" charset="0"/>
              </a:rPr>
              <a:t>import</a:t>
            </a:r>
            <a:r>
              <a:rPr lang="tr-TR" sz="1050" dirty="0">
                <a:solidFill>
                  <a:schemeClr val="bg1"/>
                </a:solidFill>
                <a:latin typeface="Courier New" panose="02070309020205020404" pitchFamily="49" charset="0"/>
                <a:cs typeface="Courier New" panose="02070309020205020404" pitchFamily="49" charset="0"/>
              </a:rPr>
              <a:t> </a:t>
            </a:r>
            <a:r>
              <a:rPr lang="tr-TR" sz="1050" dirty="0" err="1">
                <a:solidFill>
                  <a:schemeClr val="bg1"/>
                </a:solidFill>
                <a:latin typeface="Courier New" panose="02070309020205020404" pitchFamily="49" charset="0"/>
                <a:cs typeface="Courier New" panose="02070309020205020404" pitchFamily="49" charset="0"/>
              </a:rPr>
              <a:t>MinMaxScaler</a:t>
            </a:r>
            <a:r>
              <a:rPr lang="tr-TR" sz="1050" dirty="0">
                <a:solidFill>
                  <a:schemeClr val="bg1"/>
                </a:solidFill>
                <a:latin typeface="Courier New" panose="02070309020205020404" pitchFamily="49" charset="0"/>
                <a:cs typeface="Courier New" panose="02070309020205020404" pitchFamily="49" charset="0"/>
              </a:rPr>
              <a:t>, </a:t>
            </a:r>
            <a:r>
              <a:rPr lang="tr-TR" sz="1050" dirty="0" err="1">
                <a:solidFill>
                  <a:schemeClr val="bg1"/>
                </a:solidFill>
                <a:latin typeface="Courier New" panose="02070309020205020404" pitchFamily="49" charset="0"/>
                <a:cs typeface="Courier New" panose="02070309020205020404" pitchFamily="49" charset="0"/>
              </a:rPr>
              <a:t>StandardScaler</a:t>
            </a:r>
            <a:endParaRPr lang="tr-TR" sz="1050" dirty="0">
              <a:solidFill>
                <a:schemeClr val="bg1"/>
              </a:solidFill>
              <a:latin typeface="Courier New" panose="02070309020205020404" pitchFamily="49" charset="0"/>
              <a:cs typeface="Courier New" panose="02070309020205020404" pitchFamily="49" charset="0"/>
            </a:endParaRPr>
          </a:p>
          <a:p>
            <a:pPr>
              <a:lnSpc>
                <a:spcPct val="150000"/>
              </a:lnSpc>
            </a:pPr>
            <a:r>
              <a:rPr lang="tr-TR" sz="1050" dirty="0" err="1">
                <a:solidFill>
                  <a:schemeClr val="bg1"/>
                </a:solidFill>
                <a:latin typeface="Courier New" panose="02070309020205020404" pitchFamily="49" charset="0"/>
                <a:cs typeface="Courier New" panose="02070309020205020404" pitchFamily="49" charset="0"/>
              </a:rPr>
              <a:t>import</a:t>
            </a:r>
            <a:r>
              <a:rPr lang="tr-TR" sz="1050" dirty="0">
                <a:solidFill>
                  <a:schemeClr val="bg1"/>
                </a:solidFill>
                <a:latin typeface="Courier New" panose="02070309020205020404" pitchFamily="49" charset="0"/>
                <a:cs typeface="Courier New" panose="02070309020205020404" pitchFamily="49" charset="0"/>
              </a:rPr>
              <a:t> </a:t>
            </a:r>
            <a:r>
              <a:rPr lang="tr-TR" sz="1050" dirty="0" err="1">
                <a:solidFill>
                  <a:schemeClr val="bg1"/>
                </a:solidFill>
                <a:latin typeface="Courier New" panose="02070309020205020404" pitchFamily="49" charset="0"/>
                <a:cs typeface="Courier New" panose="02070309020205020404" pitchFamily="49" charset="0"/>
              </a:rPr>
              <a:t>numpy</a:t>
            </a:r>
            <a:r>
              <a:rPr lang="tr-TR" sz="1050" dirty="0">
                <a:solidFill>
                  <a:schemeClr val="bg1"/>
                </a:solidFill>
                <a:latin typeface="Courier New" panose="02070309020205020404" pitchFamily="49" charset="0"/>
                <a:cs typeface="Courier New" panose="02070309020205020404" pitchFamily="49" charset="0"/>
              </a:rPr>
              <a:t> as </a:t>
            </a:r>
            <a:r>
              <a:rPr lang="tr-TR" sz="1050" dirty="0" err="1">
                <a:solidFill>
                  <a:schemeClr val="bg1"/>
                </a:solidFill>
                <a:latin typeface="Courier New" panose="02070309020205020404" pitchFamily="49" charset="0"/>
                <a:cs typeface="Courier New" panose="02070309020205020404" pitchFamily="49" charset="0"/>
              </a:rPr>
              <a:t>np</a:t>
            </a:r>
            <a:endParaRPr lang="tr-TR" sz="1050" dirty="0">
              <a:solidFill>
                <a:schemeClr val="bg1"/>
              </a:solidFill>
              <a:latin typeface="Courier New" panose="02070309020205020404" pitchFamily="49" charset="0"/>
              <a:cs typeface="Courier New" panose="02070309020205020404" pitchFamily="49" charset="0"/>
            </a:endParaRPr>
          </a:p>
          <a:p>
            <a:pPr>
              <a:lnSpc>
                <a:spcPct val="150000"/>
              </a:lnSpc>
            </a:pPr>
            <a:r>
              <a:rPr lang="tr-TR" sz="1050" dirty="0" err="1">
                <a:solidFill>
                  <a:schemeClr val="bg1"/>
                </a:solidFill>
                <a:latin typeface="Courier New" panose="02070309020205020404" pitchFamily="49" charset="0"/>
                <a:cs typeface="Courier New" panose="02070309020205020404" pitchFamily="49" charset="0"/>
              </a:rPr>
              <a:t>import</a:t>
            </a:r>
            <a:r>
              <a:rPr lang="tr-TR" sz="1050" dirty="0">
                <a:solidFill>
                  <a:schemeClr val="bg1"/>
                </a:solidFill>
                <a:latin typeface="Courier New" panose="02070309020205020404" pitchFamily="49" charset="0"/>
                <a:cs typeface="Courier New" panose="02070309020205020404" pitchFamily="49" charset="0"/>
              </a:rPr>
              <a:t> </a:t>
            </a:r>
            <a:r>
              <a:rPr lang="tr-TR" sz="1050" dirty="0" err="1">
                <a:solidFill>
                  <a:schemeClr val="bg1"/>
                </a:solidFill>
                <a:latin typeface="Courier New" panose="02070309020205020404" pitchFamily="49" charset="0"/>
                <a:cs typeface="Courier New" panose="02070309020205020404" pitchFamily="49" charset="0"/>
              </a:rPr>
              <a:t>pandas</a:t>
            </a:r>
            <a:r>
              <a:rPr lang="tr-TR" sz="1050" dirty="0">
                <a:solidFill>
                  <a:schemeClr val="bg1"/>
                </a:solidFill>
                <a:latin typeface="Courier New" panose="02070309020205020404" pitchFamily="49" charset="0"/>
                <a:cs typeface="Courier New" panose="02070309020205020404" pitchFamily="49" charset="0"/>
              </a:rPr>
              <a:t> as </a:t>
            </a:r>
            <a:r>
              <a:rPr lang="tr-TR" sz="1050" dirty="0" err="1">
                <a:solidFill>
                  <a:schemeClr val="bg1"/>
                </a:solidFill>
                <a:latin typeface="Courier New" panose="02070309020205020404" pitchFamily="49" charset="0"/>
                <a:cs typeface="Courier New" panose="02070309020205020404" pitchFamily="49" charset="0"/>
              </a:rPr>
              <a:t>pd</a:t>
            </a:r>
            <a:endParaRPr lang="tr-TR" sz="1050" dirty="0">
              <a:solidFill>
                <a:schemeClr val="bg1"/>
              </a:solidFill>
              <a:latin typeface="Courier New" panose="02070309020205020404" pitchFamily="49" charset="0"/>
              <a:cs typeface="Courier New" panose="02070309020205020404" pitchFamily="49" charset="0"/>
            </a:endParaRPr>
          </a:p>
          <a:p>
            <a:pPr>
              <a:lnSpc>
                <a:spcPct val="150000"/>
              </a:lnSpc>
            </a:pPr>
            <a:endParaRPr lang="tr-TR" sz="1050" dirty="0">
              <a:solidFill>
                <a:schemeClr val="bg1"/>
              </a:solidFill>
              <a:latin typeface="Courier New" panose="02070309020205020404" pitchFamily="49" charset="0"/>
              <a:cs typeface="Courier New" panose="02070309020205020404" pitchFamily="49" charset="0"/>
            </a:endParaRPr>
          </a:p>
          <a:p>
            <a:pPr>
              <a:lnSpc>
                <a:spcPct val="150000"/>
              </a:lnSpc>
            </a:pPr>
            <a:r>
              <a:rPr lang="tr-TR" sz="1050" dirty="0">
                <a:solidFill>
                  <a:schemeClr val="bg1"/>
                </a:solidFill>
                <a:latin typeface="Courier New" panose="02070309020205020404" pitchFamily="49" charset="0"/>
                <a:cs typeface="Courier New" panose="02070309020205020404" pitchFamily="49" charset="0"/>
              </a:rPr>
              <a:t>X = </a:t>
            </a:r>
            <a:r>
              <a:rPr lang="tr-TR" sz="1050" dirty="0" err="1">
                <a:solidFill>
                  <a:schemeClr val="bg1"/>
                </a:solidFill>
                <a:latin typeface="Courier New" panose="02070309020205020404" pitchFamily="49" charset="0"/>
                <a:cs typeface="Courier New" panose="02070309020205020404" pitchFamily="49" charset="0"/>
              </a:rPr>
              <a:t>np.array</a:t>
            </a:r>
            <a:r>
              <a:rPr lang="tr-TR" sz="1050" dirty="0">
                <a:solidFill>
                  <a:schemeClr val="bg1"/>
                </a:solidFill>
                <a:latin typeface="Courier New" panose="02070309020205020404" pitchFamily="49" charset="0"/>
                <a:cs typeface="Courier New" panose="02070309020205020404" pitchFamily="49" charset="0"/>
              </a:rPr>
              <a:t>([[1, 2], [3, 4], [5, 6], [7, 8], [3, 4], [5, 6],[5, 6], [7, 8], [3, 4], [20, 6]])</a:t>
            </a:r>
          </a:p>
          <a:p>
            <a:pPr>
              <a:lnSpc>
                <a:spcPct val="150000"/>
              </a:lnSpc>
            </a:pPr>
            <a:endParaRPr lang="tr-TR" sz="1050" dirty="0">
              <a:solidFill>
                <a:schemeClr val="bg1"/>
              </a:solidFill>
              <a:latin typeface="Courier New" panose="02070309020205020404" pitchFamily="49" charset="0"/>
              <a:cs typeface="Courier New" panose="02070309020205020404" pitchFamily="49" charset="0"/>
            </a:endParaRPr>
          </a:p>
          <a:p>
            <a:pPr>
              <a:lnSpc>
                <a:spcPct val="150000"/>
              </a:lnSpc>
            </a:pPr>
            <a:r>
              <a:rPr lang="tr-TR" sz="1050" dirty="0" err="1">
                <a:solidFill>
                  <a:srgbClr val="FFFF00"/>
                </a:solidFill>
                <a:latin typeface="Courier New" panose="02070309020205020404" pitchFamily="49" charset="0"/>
                <a:cs typeface="Courier New" panose="02070309020205020404" pitchFamily="49" charset="0"/>
              </a:rPr>
              <a:t>mms</a:t>
            </a:r>
            <a:r>
              <a:rPr lang="tr-TR" sz="1050" dirty="0">
                <a:solidFill>
                  <a:srgbClr val="FFFF00"/>
                </a:solidFill>
                <a:latin typeface="Courier New" panose="02070309020205020404" pitchFamily="49" charset="0"/>
                <a:cs typeface="Courier New" panose="02070309020205020404" pitchFamily="49" charset="0"/>
              </a:rPr>
              <a:t>=</a:t>
            </a:r>
            <a:r>
              <a:rPr lang="tr-TR" sz="1050" dirty="0" err="1">
                <a:solidFill>
                  <a:srgbClr val="FFFF00"/>
                </a:solidFill>
                <a:latin typeface="Courier New" panose="02070309020205020404" pitchFamily="49" charset="0"/>
                <a:cs typeface="Courier New" panose="02070309020205020404" pitchFamily="49" charset="0"/>
              </a:rPr>
              <a:t>MinMaxScaler</a:t>
            </a:r>
            <a:r>
              <a:rPr lang="tr-TR" sz="1050" dirty="0">
                <a:solidFill>
                  <a:srgbClr val="FFFF00"/>
                </a:solidFill>
                <a:latin typeface="Courier New" panose="02070309020205020404" pitchFamily="49" charset="0"/>
                <a:cs typeface="Courier New" panose="02070309020205020404" pitchFamily="49" charset="0"/>
              </a:rPr>
              <a:t>(</a:t>
            </a:r>
            <a:r>
              <a:rPr lang="tr-TR" sz="1050" dirty="0" err="1">
                <a:solidFill>
                  <a:srgbClr val="FFFF00"/>
                </a:solidFill>
                <a:latin typeface="Courier New" panose="02070309020205020404" pitchFamily="49" charset="0"/>
                <a:cs typeface="Courier New" panose="02070309020205020404" pitchFamily="49" charset="0"/>
              </a:rPr>
              <a:t>feature_range</a:t>
            </a:r>
            <a:r>
              <a:rPr lang="tr-TR" sz="1050" dirty="0">
                <a:solidFill>
                  <a:srgbClr val="FFFF00"/>
                </a:solidFill>
                <a:latin typeface="Courier New" panose="02070309020205020404" pitchFamily="49" charset="0"/>
                <a:cs typeface="Courier New" panose="02070309020205020404" pitchFamily="49" charset="0"/>
              </a:rPr>
              <a:t>=(-1,1))</a:t>
            </a:r>
          </a:p>
          <a:p>
            <a:pPr>
              <a:lnSpc>
                <a:spcPct val="150000"/>
              </a:lnSpc>
            </a:pPr>
            <a:r>
              <a:rPr lang="tr-TR" sz="1050" dirty="0" err="1">
                <a:solidFill>
                  <a:srgbClr val="FFFF00"/>
                </a:solidFill>
                <a:latin typeface="Courier New" panose="02070309020205020404" pitchFamily="49" charset="0"/>
                <a:cs typeface="Courier New" panose="02070309020205020404" pitchFamily="49" charset="0"/>
              </a:rPr>
              <a:t>X_normalized_with_min_max</a:t>
            </a:r>
            <a:r>
              <a:rPr lang="tr-TR" sz="1050" dirty="0">
                <a:solidFill>
                  <a:srgbClr val="FFFF00"/>
                </a:solidFill>
                <a:latin typeface="Courier New" panose="02070309020205020404" pitchFamily="49" charset="0"/>
                <a:cs typeface="Courier New" panose="02070309020205020404" pitchFamily="49" charset="0"/>
              </a:rPr>
              <a:t>=</a:t>
            </a:r>
            <a:r>
              <a:rPr lang="tr-TR" sz="1050" dirty="0" err="1">
                <a:solidFill>
                  <a:srgbClr val="FFFF00"/>
                </a:solidFill>
                <a:latin typeface="Courier New" panose="02070309020205020404" pitchFamily="49" charset="0"/>
                <a:cs typeface="Courier New" panose="02070309020205020404" pitchFamily="49" charset="0"/>
              </a:rPr>
              <a:t>mms.fit_transform</a:t>
            </a:r>
            <a:r>
              <a:rPr lang="tr-TR" sz="1050" dirty="0">
                <a:solidFill>
                  <a:srgbClr val="FFFF00"/>
                </a:solidFill>
                <a:latin typeface="Courier New" panose="02070309020205020404" pitchFamily="49" charset="0"/>
                <a:cs typeface="Courier New" panose="02070309020205020404" pitchFamily="49" charset="0"/>
              </a:rPr>
              <a:t>(X)</a:t>
            </a:r>
          </a:p>
          <a:p>
            <a:pPr>
              <a:lnSpc>
                <a:spcPct val="150000"/>
              </a:lnSpc>
            </a:pPr>
            <a:r>
              <a:rPr lang="tr-TR" sz="1050" dirty="0" err="1">
                <a:solidFill>
                  <a:schemeClr val="bg1"/>
                </a:solidFill>
                <a:latin typeface="Courier New" panose="02070309020205020404" pitchFamily="49" charset="0"/>
                <a:cs typeface="Courier New" panose="02070309020205020404" pitchFamily="49" charset="0"/>
              </a:rPr>
              <a:t>df</a:t>
            </a:r>
            <a:r>
              <a:rPr lang="tr-TR" sz="1050" dirty="0">
                <a:solidFill>
                  <a:schemeClr val="bg1"/>
                </a:solidFill>
                <a:latin typeface="Courier New" panose="02070309020205020404" pitchFamily="49" charset="0"/>
                <a:cs typeface="Courier New" panose="02070309020205020404" pitchFamily="49" charset="0"/>
              </a:rPr>
              <a:t>=</a:t>
            </a:r>
            <a:r>
              <a:rPr lang="tr-TR" sz="1050" dirty="0" err="1">
                <a:solidFill>
                  <a:schemeClr val="bg1"/>
                </a:solidFill>
                <a:latin typeface="Courier New" panose="02070309020205020404" pitchFamily="49" charset="0"/>
                <a:cs typeface="Courier New" panose="02070309020205020404" pitchFamily="49" charset="0"/>
              </a:rPr>
              <a:t>pd.DataFrame</a:t>
            </a:r>
            <a:r>
              <a:rPr lang="tr-TR" sz="1050" dirty="0">
                <a:solidFill>
                  <a:schemeClr val="bg1"/>
                </a:solidFill>
                <a:latin typeface="Courier New" panose="02070309020205020404" pitchFamily="49" charset="0"/>
                <a:cs typeface="Courier New" panose="02070309020205020404" pitchFamily="49" charset="0"/>
              </a:rPr>
              <a:t>(</a:t>
            </a:r>
            <a:r>
              <a:rPr lang="tr-TR" sz="1050" dirty="0" err="1">
                <a:solidFill>
                  <a:schemeClr val="bg1"/>
                </a:solidFill>
                <a:latin typeface="Courier New" panose="02070309020205020404" pitchFamily="49" charset="0"/>
                <a:cs typeface="Courier New" panose="02070309020205020404" pitchFamily="49" charset="0"/>
              </a:rPr>
              <a:t>X_normalized_with_min_max</a:t>
            </a:r>
            <a:r>
              <a:rPr lang="tr-TR" sz="1050" dirty="0">
                <a:solidFill>
                  <a:schemeClr val="bg1"/>
                </a:solidFill>
                <a:latin typeface="Courier New" panose="02070309020205020404" pitchFamily="49" charset="0"/>
                <a:cs typeface="Courier New" panose="02070309020205020404" pitchFamily="49" charset="0"/>
              </a:rPr>
              <a:t>) #convert data </a:t>
            </a:r>
            <a:r>
              <a:rPr lang="tr-TR" sz="1050" dirty="0" err="1">
                <a:solidFill>
                  <a:schemeClr val="bg1"/>
                </a:solidFill>
                <a:latin typeface="Courier New" panose="02070309020205020404" pitchFamily="49" charset="0"/>
                <a:cs typeface="Courier New" panose="02070309020205020404" pitchFamily="49" charset="0"/>
              </a:rPr>
              <a:t>frame</a:t>
            </a:r>
            <a:endParaRPr lang="tr-TR" sz="1050" dirty="0">
              <a:solidFill>
                <a:schemeClr val="bg1"/>
              </a:solidFill>
              <a:latin typeface="Courier New" panose="02070309020205020404" pitchFamily="49" charset="0"/>
              <a:cs typeface="Courier New" panose="02070309020205020404" pitchFamily="49" charset="0"/>
            </a:endParaRPr>
          </a:p>
          <a:p>
            <a:pPr>
              <a:lnSpc>
                <a:spcPct val="150000"/>
              </a:lnSpc>
            </a:pPr>
            <a:r>
              <a:rPr lang="tr-TR" sz="1050" dirty="0" err="1">
                <a:solidFill>
                  <a:schemeClr val="bg1"/>
                </a:solidFill>
                <a:latin typeface="Courier New" panose="02070309020205020404" pitchFamily="49" charset="0"/>
                <a:cs typeface="Courier New" panose="02070309020205020404" pitchFamily="49" charset="0"/>
              </a:rPr>
              <a:t>print</a:t>
            </a:r>
            <a:r>
              <a:rPr lang="tr-TR" sz="1050" dirty="0">
                <a:solidFill>
                  <a:schemeClr val="bg1"/>
                </a:solidFill>
                <a:latin typeface="Courier New" panose="02070309020205020404" pitchFamily="49" charset="0"/>
                <a:cs typeface="Courier New" panose="02070309020205020404" pitchFamily="49" charset="0"/>
              </a:rPr>
              <a:t>("\n-------</a:t>
            </a:r>
            <a:r>
              <a:rPr lang="tr-TR" sz="1050" dirty="0" err="1">
                <a:solidFill>
                  <a:schemeClr val="bg1"/>
                </a:solidFill>
                <a:latin typeface="Courier New" panose="02070309020205020404" pitchFamily="49" charset="0"/>
                <a:cs typeface="Courier New" panose="02070309020205020404" pitchFamily="49" charset="0"/>
              </a:rPr>
              <a:t>MinMax</a:t>
            </a:r>
            <a:r>
              <a:rPr lang="tr-TR" sz="1050" dirty="0">
                <a:solidFill>
                  <a:schemeClr val="bg1"/>
                </a:solidFill>
                <a:latin typeface="Courier New" panose="02070309020205020404" pitchFamily="49" charset="0"/>
                <a:cs typeface="Courier New" panose="02070309020205020404" pitchFamily="49" charset="0"/>
              </a:rPr>
              <a:t> </a:t>
            </a:r>
            <a:r>
              <a:rPr lang="tr-TR" sz="1050" dirty="0" err="1">
                <a:solidFill>
                  <a:schemeClr val="bg1"/>
                </a:solidFill>
                <a:latin typeface="Courier New" panose="02070309020205020404" pitchFamily="49" charset="0"/>
                <a:cs typeface="Courier New" panose="02070309020205020404" pitchFamily="49" charset="0"/>
              </a:rPr>
              <a:t>Normalized</a:t>
            </a:r>
            <a:r>
              <a:rPr lang="tr-TR" sz="1050" dirty="0">
                <a:solidFill>
                  <a:schemeClr val="bg1"/>
                </a:solidFill>
                <a:latin typeface="Courier New" panose="02070309020205020404" pitchFamily="49" charset="0"/>
                <a:cs typeface="Courier New" panose="02070309020205020404" pitchFamily="49" charset="0"/>
              </a:rPr>
              <a:t> data\n",</a:t>
            </a:r>
            <a:r>
              <a:rPr lang="tr-TR" sz="1050" dirty="0" err="1">
                <a:solidFill>
                  <a:schemeClr val="bg1"/>
                </a:solidFill>
                <a:latin typeface="Courier New" panose="02070309020205020404" pitchFamily="49" charset="0"/>
                <a:cs typeface="Courier New" panose="02070309020205020404" pitchFamily="49" charset="0"/>
              </a:rPr>
              <a:t>df</a:t>
            </a:r>
            <a:r>
              <a:rPr lang="tr-TR" sz="1050" dirty="0">
                <a:solidFill>
                  <a:schemeClr val="bg1"/>
                </a:solidFill>
                <a:latin typeface="Courier New" panose="02070309020205020404" pitchFamily="49" charset="0"/>
                <a:cs typeface="Courier New" panose="02070309020205020404" pitchFamily="49" charset="0"/>
              </a:rPr>
              <a:t>)</a:t>
            </a:r>
          </a:p>
          <a:p>
            <a:pPr>
              <a:lnSpc>
                <a:spcPct val="150000"/>
              </a:lnSpc>
            </a:pPr>
            <a:endParaRPr lang="tr-TR" sz="1050" dirty="0">
              <a:solidFill>
                <a:schemeClr val="bg1"/>
              </a:solidFill>
              <a:latin typeface="Courier New" panose="02070309020205020404" pitchFamily="49" charset="0"/>
              <a:cs typeface="Courier New" panose="02070309020205020404" pitchFamily="49" charset="0"/>
            </a:endParaRPr>
          </a:p>
          <a:p>
            <a:pPr>
              <a:lnSpc>
                <a:spcPct val="150000"/>
              </a:lnSpc>
            </a:pPr>
            <a:r>
              <a:rPr lang="tr-TR" sz="1050" dirty="0" err="1">
                <a:solidFill>
                  <a:srgbClr val="FFFF00"/>
                </a:solidFill>
                <a:latin typeface="Courier New" panose="02070309020205020404" pitchFamily="49" charset="0"/>
                <a:cs typeface="Courier New" panose="02070309020205020404" pitchFamily="49" charset="0"/>
              </a:rPr>
              <a:t>inverse</a:t>
            </a:r>
            <a:r>
              <a:rPr lang="tr-TR" sz="1050" dirty="0">
                <a:solidFill>
                  <a:srgbClr val="FFFF00"/>
                </a:solidFill>
                <a:latin typeface="Courier New" panose="02070309020205020404" pitchFamily="49" charset="0"/>
                <a:cs typeface="Courier New" panose="02070309020205020404" pitchFamily="49" charset="0"/>
              </a:rPr>
              <a:t>=</a:t>
            </a:r>
            <a:r>
              <a:rPr lang="tr-TR" sz="1050" dirty="0" err="1">
                <a:solidFill>
                  <a:srgbClr val="FFFF00"/>
                </a:solidFill>
                <a:latin typeface="Courier New" panose="02070309020205020404" pitchFamily="49" charset="0"/>
                <a:cs typeface="Courier New" panose="02070309020205020404" pitchFamily="49" charset="0"/>
              </a:rPr>
              <a:t>mms.inverse_transform</a:t>
            </a:r>
            <a:r>
              <a:rPr lang="tr-TR" sz="1050" dirty="0">
                <a:solidFill>
                  <a:srgbClr val="FFFF00"/>
                </a:solidFill>
                <a:latin typeface="Courier New" panose="02070309020205020404" pitchFamily="49" charset="0"/>
                <a:cs typeface="Courier New" panose="02070309020205020404" pitchFamily="49" charset="0"/>
              </a:rPr>
              <a:t>(</a:t>
            </a:r>
            <a:r>
              <a:rPr lang="tr-TR" sz="1050" dirty="0" err="1">
                <a:solidFill>
                  <a:srgbClr val="FFFF00"/>
                </a:solidFill>
                <a:latin typeface="Courier New" panose="02070309020205020404" pitchFamily="49" charset="0"/>
                <a:cs typeface="Courier New" panose="02070309020205020404" pitchFamily="49" charset="0"/>
              </a:rPr>
              <a:t>X_normalized_with_min_max</a:t>
            </a:r>
            <a:r>
              <a:rPr lang="tr-TR" sz="1050" dirty="0">
                <a:solidFill>
                  <a:srgbClr val="FFFF00"/>
                </a:solidFill>
                <a:latin typeface="Courier New" panose="02070309020205020404" pitchFamily="49" charset="0"/>
                <a:cs typeface="Courier New" panose="02070309020205020404" pitchFamily="49" charset="0"/>
              </a:rPr>
              <a:t>)</a:t>
            </a:r>
          </a:p>
          <a:p>
            <a:pPr>
              <a:lnSpc>
                <a:spcPct val="150000"/>
              </a:lnSpc>
            </a:pPr>
            <a:r>
              <a:rPr lang="tr-TR" sz="1050" dirty="0" err="1">
                <a:solidFill>
                  <a:schemeClr val="bg1"/>
                </a:solidFill>
                <a:latin typeface="Courier New" panose="02070309020205020404" pitchFamily="49" charset="0"/>
                <a:cs typeface="Courier New" panose="02070309020205020404" pitchFamily="49" charset="0"/>
              </a:rPr>
              <a:t>df</a:t>
            </a:r>
            <a:r>
              <a:rPr lang="tr-TR" sz="1050" dirty="0">
                <a:solidFill>
                  <a:schemeClr val="bg1"/>
                </a:solidFill>
                <a:latin typeface="Courier New" panose="02070309020205020404" pitchFamily="49" charset="0"/>
                <a:cs typeface="Courier New" panose="02070309020205020404" pitchFamily="49" charset="0"/>
              </a:rPr>
              <a:t>=</a:t>
            </a:r>
            <a:r>
              <a:rPr lang="tr-TR" sz="1050" dirty="0" err="1">
                <a:solidFill>
                  <a:schemeClr val="bg1"/>
                </a:solidFill>
                <a:latin typeface="Courier New" panose="02070309020205020404" pitchFamily="49" charset="0"/>
                <a:cs typeface="Courier New" panose="02070309020205020404" pitchFamily="49" charset="0"/>
              </a:rPr>
              <a:t>pd.DataFrame</a:t>
            </a:r>
            <a:r>
              <a:rPr lang="tr-TR" sz="1050" dirty="0">
                <a:solidFill>
                  <a:schemeClr val="bg1"/>
                </a:solidFill>
                <a:latin typeface="Courier New" panose="02070309020205020404" pitchFamily="49" charset="0"/>
                <a:cs typeface="Courier New" panose="02070309020205020404" pitchFamily="49" charset="0"/>
              </a:rPr>
              <a:t>(</a:t>
            </a:r>
            <a:r>
              <a:rPr lang="tr-TR" sz="1050" dirty="0" err="1">
                <a:solidFill>
                  <a:schemeClr val="bg1"/>
                </a:solidFill>
                <a:latin typeface="Courier New" panose="02070309020205020404" pitchFamily="49" charset="0"/>
                <a:cs typeface="Courier New" panose="02070309020205020404" pitchFamily="49" charset="0"/>
              </a:rPr>
              <a:t>inverse</a:t>
            </a:r>
            <a:r>
              <a:rPr lang="tr-TR" sz="1050" dirty="0">
                <a:solidFill>
                  <a:schemeClr val="bg1"/>
                </a:solidFill>
                <a:latin typeface="Courier New" panose="02070309020205020404" pitchFamily="49" charset="0"/>
                <a:cs typeface="Courier New" panose="02070309020205020404" pitchFamily="49" charset="0"/>
              </a:rPr>
              <a:t>)</a:t>
            </a:r>
          </a:p>
          <a:p>
            <a:pPr>
              <a:lnSpc>
                <a:spcPct val="150000"/>
              </a:lnSpc>
            </a:pPr>
            <a:r>
              <a:rPr lang="tr-TR" sz="1050" dirty="0" err="1">
                <a:solidFill>
                  <a:schemeClr val="bg1"/>
                </a:solidFill>
                <a:latin typeface="Courier New" panose="02070309020205020404" pitchFamily="49" charset="0"/>
                <a:cs typeface="Courier New" panose="02070309020205020404" pitchFamily="49" charset="0"/>
              </a:rPr>
              <a:t>print</a:t>
            </a:r>
            <a:r>
              <a:rPr lang="tr-TR" sz="1050" dirty="0">
                <a:solidFill>
                  <a:schemeClr val="bg1"/>
                </a:solidFill>
                <a:latin typeface="Courier New" panose="02070309020205020404" pitchFamily="49" charset="0"/>
                <a:cs typeface="Courier New" panose="02070309020205020404" pitchFamily="49" charset="0"/>
              </a:rPr>
              <a:t>("\n-------</a:t>
            </a:r>
            <a:r>
              <a:rPr lang="tr-TR" sz="1050" dirty="0" err="1">
                <a:solidFill>
                  <a:schemeClr val="bg1"/>
                </a:solidFill>
                <a:latin typeface="Courier New" panose="02070309020205020404" pitchFamily="49" charset="0"/>
                <a:cs typeface="Courier New" panose="02070309020205020404" pitchFamily="49" charset="0"/>
              </a:rPr>
              <a:t>MinMax</a:t>
            </a:r>
            <a:r>
              <a:rPr lang="tr-TR" sz="1050" dirty="0">
                <a:solidFill>
                  <a:schemeClr val="bg1"/>
                </a:solidFill>
                <a:latin typeface="Courier New" panose="02070309020205020404" pitchFamily="49" charset="0"/>
                <a:cs typeface="Courier New" panose="02070309020205020404" pitchFamily="49" charset="0"/>
              </a:rPr>
              <a:t> </a:t>
            </a:r>
            <a:r>
              <a:rPr lang="tr-TR" sz="1050" dirty="0" err="1">
                <a:solidFill>
                  <a:schemeClr val="bg1"/>
                </a:solidFill>
                <a:latin typeface="Courier New" panose="02070309020205020404" pitchFamily="49" charset="0"/>
                <a:cs typeface="Courier New" panose="02070309020205020404" pitchFamily="49" charset="0"/>
              </a:rPr>
              <a:t>Inverse</a:t>
            </a:r>
            <a:r>
              <a:rPr lang="tr-TR" sz="1050" dirty="0">
                <a:solidFill>
                  <a:schemeClr val="bg1"/>
                </a:solidFill>
                <a:latin typeface="Courier New" panose="02070309020205020404" pitchFamily="49" charset="0"/>
                <a:cs typeface="Courier New" panose="02070309020205020404" pitchFamily="49" charset="0"/>
              </a:rPr>
              <a:t> Data\n",</a:t>
            </a:r>
            <a:r>
              <a:rPr lang="tr-TR" sz="1050" dirty="0" err="1">
                <a:solidFill>
                  <a:schemeClr val="bg1"/>
                </a:solidFill>
                <a:latin typeface="Courier New" panose="02070309020205020404" pitchFamily="49" charset="0"/>
                <a:cs typeface="Courier New" panose="02070309020205020404" pitchFamily="49" charset="0"/>
              </a:rPr>
              <a:t>df</a:t>
            </a:r>
            <a:r>
              <a:rPr lang="tr-TR" sz="1050" dirty="0">
                <a:solidFill>
                  <a:schemeClr val="bg1"/>
                </a:solidFill>
                <a:latin typeface="Courier New" panose="02070309020205020404" pitchFamily="49" charset="0"/>
                <a:cs typeface="Courier New" panose="02070309020205020404" pitchFamily="49" charset="0"/>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5800" y="3595030"/>
            <a:ext cx="8133588" cy="1476756"/>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228600" y="706374"/>
            <a:ext cx="2515806" cy="1366543"/>
          </a:xfrm>
          <a:prstGeom prst="rect">
            <a:avLst/>
          </a:prstGeom>
          <a:blipFill>
            <a:blip r:embed="rId3" cstate="print"/>
            <a:stretch>
              <a:fillRect/>
            </a:stretch>
          </a:blipFill>
        </p:spPr>
        <p:txBody>
          <a:bodyPr wrap="square" lIns="0" tIns="0" rIns="0" bIns="0" rtlCol="0"/>
          <a:lstStyle/>
          <a:p>
            <a:endParaRPr dirty="0"/>
          </a:p>
        </p:txBody>
      </p:sp>
      <p:sp>
        <p:nvSpPr>
          <p:cNvPr id="5" name="Metin kutusu 4">
            <a:extLst>
              <a:ext uri="{FF2B5EF4-FFF2-40B4-BE49-F238E27FC236}">
                <a16:creationId xmlns:a16="http://schemas.microsoft.com/office/drawing/2014/main" id="{9B09F404-CAAE-ABBA-6D5A-602E5DCD724E}"/>
              </a:ext>
            </a:extLst>
          </p:cNvPr>
          <p:cNvSpPr txBox="1"/>
          <p:nvPr/>
        </p:nvSpPr>
        <p:spPr>
          <a:xfrm>
            <a:off x="2766680" y="183736"/>
            <a:ext cx="6170994" cy="2492990"/>
          </a:xfrm>
          <a:prstGeom prst="rect">
            <a:avLst/>
          </a:prstGeom>
          <a:noFill/>
        </p:spPr>
        <p:txBody>
          <a:bodyPr wrap="square">
            <a:spAutoFit/>
          </a:bodyPr>
          <a:lstStyle/>
          <a:p>
            <a:pPr marL="285750" indent="-285750" algn="just">
              <a:spcAft>
                <a:spcPts val="1200"/>
              </a:spcAft>
              <a:buFont typeface="Arial" panose="020B0604020202020204" pitchFamily="34" charset="0"/>
              <a:buChar char="•"/>
            </a:pPr>
            <a:r>
              <a:rPr lang="tr-TR" sz="1400" dirty="0">
                <a:solidFill>
                  <a:schemeClr val="bg1"/>
                </a:solidFill>
              </a:rPr>
              <a:t>Eğitim ve test seti bütün olarak normalize edilirse veri sızıntısı (Data </a:t>
            </a:r>
            <a:r>
              <a:rPr lang="tr-TR" sz="1400" dirty="0" err="1">
                <a:solidFill>
                  <a:schemeClr val="bg1"/>
                </a:solidFill>
              </a:rPr>
              <a:t>Leakage</a:t>
            </a:r>
            <a:r>
              <a:rPr lang="tr-TR" sz="1400" dirty="0">
                <a:solidFill>
                  <a:schemeClr val="bg1"/>
                </a:solidFill>
              </a:rPr>
              <a:t>) olur. </a:t>
            </a:r>
            <a:r>
              <a:rPr lang="tr-TR" sz="1400" dirty="0">
                <a:solidFill>
                  <a:srgbClr val="FFFF00"/>
                </a:solidFill>
              </a:rPr>
              <a:t>Test setinin ortalama ve standart sapması eğitimde “sızmış” olur.</a:t>
            </a:r>
          </a:p>
          <a:p>
            <a:pPr marL="285750" indent="-285750" algn="just">
              <a:spcAft>
                <a:spcPts val="1200"/>
              </a:spcAft>
              <a:buFont typeface="Arial" panose="020B0604020202020204" pitchFamily="34" charset="0"/>
              <a:buChar char="•"/>
            </a:pPr>
            <a:r>
              <a:rPr lang="tr-TR" sz="1400" dirty="0">
                <a:solidFill>
                  <a:schemeClr val="bg1"/>
                </a:solidFill>
              </a:rPr>
              <a:t>Veri sızıntısı Modelin eğitim sırasında gerçekte bilmemesi gereken bilgilere erişmesi durumudur. Bu da modelin, eğitimde çok iyi performans gösterip test veya gerçek dünyada başarısız olmasına yol açar.</a:t>
            </a:r>
          </a:p>
          <a:p>
            <a:pPr marL="285750" indent="-285750" algn="just">
              <a:spcAft>
                <a:spcPts val="1200"/>
              </a:spcAft>
              <a:buFont typeface="Arial" panose="020B0604020202020204" pitchFamily="34" charset="0"/>
              <a:buChar char="•"/>
            </a:pPr>
            <a:r>
              <a:rPr lang="tr-TR" sz="1400" dirty="0">
                <a:solidFill>
                  <a:schemeClr val="bg1"/>
                </a:solidFill>
              </a:rPr>
              <a:t>Örneğin, "kanser teşhisi" tahmini yaparken veri setinde “biyopsi sonucu” gibi zaten sonucu doğrudan belirleyen bir özellik olması.</a:t>
            </a:r>
          </a:p>
          <a:p>
            <a:pPr marL="285750" indent="-285750" algn="just">
              <a:spcAft>
                <a:spcPts val="1200"/>
              </a:spcAft>
              <a:buFont typeface="Arial" panose="020B0604020202020204" pitchFamily="34" charset="0"/>
              <a:buChar char="•"/>
            </a:pPr>
            <a:r>
              <a:rPr lang="tr-TR" sz="1400" dirty="0">
                <a:solidFill>
                  <a:schemeClr val="bg1"/>
                </a:solidFill>
              </a:rPr>
              <a:t>Model bunu öğrenirse testte mükemmel skor çıkar ama gerçek dünyada biyopsi sonucu yokken tahmin yapamaz.</a:t>
            </a:r>
          </a:p>
        </p:txBody>
      </p:sp>
      <p:sp>
        <p:nvSpPr>
          <p:cNvPr id="6" name="Metin kutusu 5">
            <a:extLst>
              <a:ext uri="{FF2B5EF4-FFF2-40B4-BE49-F238E27FC236}">
                <a16:creationId xmlns:a16="http://schemas.microsoft.com/office/drawing/2014/main" id="{8D55BDA6-47B6-A8C6-E6CD-DFCC23475060}"/>
              </a:ext>
            </a:extLst>
          </p:cNvPr>
          <p:cNvSpPr txBox="1"/>
          <p:nvPr/>
        </p:nvSpPr>
        <p:spPr>
          <a:xfrm>
            <a:off x="276606" y="2778895"/>
            <a:ext cx="8590788" cy="784830"/>
          </a:xfrm>
          <a:prstGeom prst="rect">
            <a:avLst/>
          </a:prstGeom>
          <a:noFill/>
        </p:spPr>
        <p:txBody>
          <a:bodyPr wrap="square">
            <a:spAutoFit/>
          </a:bodyPr>
          <a:lstStyle/>
          <a:p>
            <a:r>
              <a:rPr lang="tr-TR" sz="1500" dirty="0">
                <a:solidFill>
                  <a:schemeClr val="bg1"/>
                </a:solidFill>
              </a:rPr>
              <a:t>Veri sızıntısını önlemek için </a:t>
            </a:r>
            <a:r>
              <a:rPr lang="tr-TR" sz="1500" b="1" dirty="0">
                <a:solidFill>
                  <a:schemeClr val="bg1"/>
                </a:solidFill>
              </a:rPr>
              <a:t>normalizasyon/standartlaştırma işleminin parametreleri yalnızca eğitim verisinden öğrenilmelidir </a:t>
            </a:r>
            <a:r>
              <a:rPr lang="tr-TR" sz="1500" b="1" dirty="0">
                <a:solidFill>
                  <a:srgbClr val="FFFF00"/>
                </a:solidFill>
              </a:rPr>
              <a:t>(</a:t>
            </a:r>
            <a:r>
              <a:rPr lang="tr-TR" sz="1500" b="1" dirty="0">
                <a:solidFill>
                  <a:srgbClr val="FFFF00"/>
                </a:solidFill>
                <a:latin typeface="+mn-lt"/>
              </a:rPr>
              <a:t>fit</a:t>
            </a:r>
            <a:r>
              <a:rPr lang="tr-TR" sz="1500" b="1" dirty="0">
                <a:solidFill>
                  <a:srgbClr val="FFFF00"/>
                </a:solidFill>
              </a:rPr>
              <a:t>)</a:t>
            </a:r>
            <a:r>
              <a:rPr lang="tr-TR" sz="1500" dirty="0">
                <a:solidFill>
                  <a:srgbClr val="FFFF00"/>
                </a:solidFill>
              </a:rPr>
              <a:t>. </a:t>
            </a:r>
            <a:r>
              <a:rPr lang="tr-TR" sz="1500" dirty="0">
                <a:solidFill>
                  <a:schemeClr val="bg1"/>
                </a:solidFill>
              </a:rPr>
              <a:t>Test verisine ise eğitim verisinden öğrenilen parametreler uygulanmalıdır </a:t>
            </a:r>
            <a:r>
              <a:rPr lang="tr-TR" sz="1500" dirty="0">
                <a:solidFill>
                  <a:srgbClr val="FFFF00"/>
                </a:solidFill>
              </a:rPr>
              <a:t>(</a:t>
            </a:r>
            <a:r>
              <a:rPr lang="tr-TR" sz="1500" dirty="0" err="1">
                <a:solidFill>
                  <a:srgbClr val="FFFF00"/>
                </a:solidFill>
                <a:latin typeface="+mn-lt"/>
              </a:rPr>
              <a:t>transform</a:t>
            </a:r>
            <a:r>
              <a:rPr lang="tr-TR" sz="1500" dirty="0">
                <a:solidFill>
                  <a:srgbClr val="FFFF00"/>
                </a:solidFill>
              </a:rPr>
              <a:t>)</a:t>
            </a:r>
            <a:r>
              <a:rPr lang="tr-TR" sz="1500" dirty="0">
                <a:solidFill>
                  <a:schemeClr val="bg1"/>
                </a:solidFill>
              </a:rPr>
              <a:t>; yani test verisiyle </a:t>
            </a:r>
            <a:r>
              <a:rPr lang="tr-TR" sz="1500" dirty="0">
                <a:solidFill>
                  <a:schemeClr val="bg1"/>
                </a:solidFill>
                <a:latin typeface="+mn-lt"/>
              </a:rPr>
              <a:t>fit</a:t>
            </a:r>
            <a:r>
              <a:rPr lang="tr-TR" sz="1500" dirty="0">
                <a:solidFill>
                  <a:schemeClr val="bg1"/>
                </a:solidFill>
              </a:rPr>
              <a:t> yapılmamalıdır.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D055712-3B7C-A320-A6C0-939C474491E2}"/>
              </a:ext>
            </a:extLst>
          </p:cNvPr>
          <p:cNvSpPr txBox="1"/>
          <p:nvPr/>
        </p:nvSpPr>
        <p:spPr>
          <a:xfrm>
            <a:off x="152400" y="598133"/>
            <a:ext cx="8839200" cy="3947234"/>
          </a:xfrm>
          <a:prstGeom prst="rect">
            <a:avLst/>
          </a:prstGeom>
          <a:noFill/>
        </p:spPr>
        <p:txBody>
          <a:bodyPr wrap="square">
            <a:spAutoFit/>
          </a:bodyPr>
          <a:lstStyle/>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from</a:t>
            </a:r>
            <a:r>
              <a:rPr lang="tr-TR" sz="1200" dirty="0">
                <a:solidFill>
                  <a:schemeClr val="bg1"/>
                </a:solidFill>
                <a:latin typeface="Courier New" panose="02070309020205020404" pitchFamily="49" charset="0"/>
                <a:cs typeface="Courier New" panose="02070309020205020404" pitchFamily="49" charset="0"/>
              </a:rPr>
              <a:t> </a:t>
            </a:r>
            <a:r>
              <a:rPr lang="tr-TR" sz="1200" dirty="0" err="1">
                <a:solidFill>
                  <a:schemeClr val="bg1"/>
                </a:solidFill>
                <a:latin typeface="Courier New" panose="02070309020205020404" pitchFamily="49" charset="0"/>
                <a:cs typeface="Courier New" panose="02070309020205020404" pitchFamily="49" charset="0"/>
              </a:rPr>
              <a:t>sklearn.preprocessing</a:t>
            </a:r>
            <a:r>
              <a:rPr lang="tr-TR" sz="1200" dirty="0">
                <a:solidFill>
                  <a:schemeClr val="bg1"/>
                </a:solidFill>
                <a:latin typeface="Courier New" panose="02070309020205020404" pitchFamily="49" charset="0"/>
                <a:cs typeface="Courier New" panose="02070309020205020404" pitchFamily="49" charset="0"/>
              </a:rPr>
              <a:t> </a:t>
            </a:r>
            <a:r>
              <a:rPr lang="tr-TR" sz="1200" dirty="0" err="1">
                <a:solidFill>
                  <a:schemeClr val="bg1"/>
                </a:solidFill>
                <a:latin typeface="Courier New" panose="02070309020205020404" pitchFamily="49" charset="0"/>
                <a:cs typeface="Courier New" panose="02070309020205020404" pitchFamily="49" charset="0"/>
              </a:rPr>
              <a:t>import</a:t>
            </a:r>
            <a:r>
              <a:rPr lang="tr-TR" sz="1200" dirty="0">
                <a:solidFill>
                  <a:schemeClr val="bg1"/>
                </a:solidFill>
                <a:latin typeface="Courier New" panose="02070309020205020404" pitchFamily="49" charset="0"/>
                <a:cs typeface="Courier New" panose="02070309020205020404" pitchFamily="49" charset="0"/>
              </a:rPr>
              <a:t> </a:t>
            </a:r>
            <a:r>
              <a:rPr lang="tr-TR" sz="1200" dirty="0" err="1">
                <a:solidFill>
                  <a:schemeClr val="bg1"/>
                </a:solidFill>
                <a:latin typeface="Courier New" panose="02070309020205020404" pitchFamily="49" charset="0"/>
                <a:cs typeface="Courier New" panose="02070309020205020404" pitchFamily="49" charset="0"/>
              </a:rPr>
              <a:t>MinMaxScaler</a:t>
            </a:r>
            <a:r>
              <a:rPr lang="tr-TR" sz="1200" dirty="0">
                <a:solidFill>
                  <a:schemeClr val="bg1"/>
                </a:solidFill>
                <a:latin typeface="Courier New" panose="02070309020205020404" pitchFamily="49" charset="0"/>
                <a:cs typeface="Courier New" panose="02070309020205020404" pitchFamily="49" charset="0"/>
              </a:rPr>
              <a:t>, </a:t>
            </a:r>
            <a:r>
              <a:rPr lang="tr-TR" sz="1200" dirty="0" err="1">
                <a:solidFill>
                  <a:schemeClr val="bg1"/>
                </a:solidFill>
                <a:latin typeface="Courier New" panose="02070309020205020404" pitchFamily="49" charset="0"/>
                <a:cs typeface="Courier New" panose="02070309020205020404" pitchFamily="49" charset="0"/>
              </a:rPr>
              <a:t>StandardScaler</a:t>
            </a:r>
            <a:endParaRPr lang="tr-TR" sz="1200" dirty="0">
              <a:solidFill>
                <a:schemeClr val="bg1"/>
              </a:solidFill>
              <a:latin typeface="Courier New" panose="02070309020205020404" pitchFamily="49" charset="0"/>
              <a:cs typeface="Courier New" panose="02070309020205020404" pitchFamily="49" charset="0"/>
            </a:endParaRP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import</a:t>
            </a:r>
            <a:r>
              <a:rPr lang="tr-TR" sz="1200" dirty="0">
                <a:solidFill>
                  <a:schemeClr val="bg1"/>
                </a:solidFill>
                <a:latin typeface="Courier New" panose="02070309020205020404" pitchFamily="49" charset="0"/>
                <a:cs typeface="Courier New" panose="02070309020205020404" pitchFamily="49" charset="0"/>
              </a:rPr>
              <a:t> </a:t>
            </a:r>
            <a:r>
              <a:rPr lang="tr-TR" sz="1200" dirty="0" err="1">
                <a:solidFill>
                  <a:schemeClr val="bg1"/>
                </a:solidFill>
                <a:latin typeface="Courier New" panose="02070309020205020404" pitchFamily="49" charset="0"/>
                <a:cs typeface="Courier New" panose="02070309020205020404" pitchFamily="49" charset="0"/>
              </a:rPr>
              <a:t>numpy</a:t>
            </a:r>
            <a:r>
              <a:rPr lang="tr-TR" sz="1200" dirty="0">
                <a:solidFill>
                  <a:schemeClr val="bg1"/>
                </a:solidFill>
                <a:latin typeface="Courier New" panose="02070309020205020404" pitchFamily="49" charset="0"/>
                <a:cs typeface="Courier New" panose="02070309020205020404" pitchFamily="49" charset="0"/>
              </a:rPr>
              <a:t> as </a:t>
            </a:r>
            <a:r>
              <a:rPr lang="tr-TR" sz="1200" dirty="0" err="1">
                <a:solidFill>
                  <a:schemeClr val="bg1"/>
                </a:solidFill>
                <a:latin typeface="Courier New" panose="02070309020205020404" pitchFamily="49" charset="0"/>
                <a:cs typeface="Courier New" panose="02070309020205020404" pitchFamily="49" charset="0"/>
              </a:rPr>
              <a:t>np</a:t>
            </a:r>
            <a:endParaRPr lang="tr-TR" sz="1200" dirty="0">
              <a:solidFill>
                <a:schemeClr val="bg1"/>
              </a:solidFill>
              <a:latin typeface="Courier New" panose="02070309020205020404" pitchFamily="49" charset="0"/>
              <a:cs typeface="Courier New" panose="02070309020205020404" pitchFamily="49" charset="0"/>
            </a:endParaRP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import</a:t>
            </a:r>
            <a:r>
              <a:rPr lang="tr-TR" sz="1200" dirty="0">
                <a:solidFill>
                  <a:schemeClr val="bg1"/>
                </a:solidFill>
                <a:latin typeface="Courier New" panose="02070309020205020404" pitchFamily="49" charset="0"/>
                <a:cs typeface="Courier New" panose="02070309020205020404" pitchFamily="49" charset="0"/>
              </a:rPr>
              <a:t> </a:t>
            </a:r>
            <a:r>
              <a:rPr lang="tr-TR" sz="1200" dirty="0" err="1">
                <a:solidFill>
                  <a:schemeClr val="bg1"/>
                </a:solidFill>
                <a:latin typeface="Courier New" panose="02070309020205020404" pitchFamily="49" charset="0"/>
                <a:cs typeface="Courier New" panose="02070309020205020404" pitchFamily="49" charset="0"/>
              </a:rPr>
              <a:t>pandas</a:t>
            </a:r>
            <a:r>
              <a:rPr lang="tr-TR" sz="1200" dirty="0">
                <a:solidFill>
                  <a:schemeClr val="bg1"/>
                </a:solidFill>
                <a:latin typeface="Courier New" panose="02070309020205020404" pitchFamily="49" charset="0"/>
                <a:cs typeface="Courier New" panose="02070309020205020404" pitchFamily="49" charset="0"/>
              </a:rPr>
              <a:t> as </a:t>
            </a:r>
            <a:r>
              <a:rPr lang="tr-TR" sz="1200" dirty="0" err="1">
                <a:solidFill>
                  <a:schemeClr val="bg1"/>
                </a:solidFill>
                <a:latin typeface="Courier New" panose="02070309020205020404" pitchFamily="49" charset="0"/>
                <a:cs typeface="Courier New" panose="02070309020205020404" pitchFamily="49" charset="0"/>
              </a:rPr>
              <a:t>pd</a:t>
            </a:r>
            <a:endParaRPr lang="tr-TR" sz="1200" dirty="0">
              <a:solidFill>
                <a:schemeClr val="bg1"/>
              </a:solidFill>
              <a:latin typeface="Courier New" panose="02070309020205020404" pitchFamily="49" charset="0"/>
              <a:cs typeface="Courier New" panose="02070309020205020404" pitchFamily="49" charset="0"/>
            </a:endParaRPr>
          </a:p>
          <a:p>
            <a:pPr>
              <a:lnSpc>
                <a:spcPct val="150000"/>
              </a:lnSpc>
            </a:pPr>
            <a:endParaRPr lang="tr-TR" sz="1200" dirty="0">
              <a:solidFill>
                <a:schemeClr val="bg1"/>
              </a:solidFill>
              <a:latin typeface="Courier New" panose="02070309020205020404" pitchFamily="49" charset="0"/>
              <a:cs typeface="Courier New" panose="02070309020205020404" pitchFamily="49" charset="0"/>
            </a:endParaRPr>
          </a:p>
          <a:p>
            <a:pPr>
              <a:lnSpc>
                <a:spcPct val="150000"/>
              </a:lnSpc>
            </a:pPr>
            <a:r>
              <a:rPr lang="tr-TR" sz="1200" dirty="0">
                <a:solidFill>
                  <a:schemeClr val="bg1"/>
                </a:solidFill>
                <a:latin typeface="Courier New" panose="02070309020205020404" pitchFamily="49" charset="0"/>
                <a:cs typeface="Courier New" panose="02070309020205020404" pitchFamily="49" charset="0"/>
              </a:rPr>
              <a:t>X = </a:t>
            </a:r>
            <a:r>
              <a:rPr lang="tr-TR" sz="1200" dirty="0" err="1">
                <a:solidFill>
                  <a:schemeClr val="bg1"/>
                </a:solidFill>
                <a:latin typeface="Courier New" panose="02070309020205020404" pitchFamily="49" charset="0"/>
                <a:cs typeface="Courier New" panose="02070309020205020404" pitchFamily="49" charset="0"/>
              </a:rPr>
              <a:t>np.array</a:t>
            </a:r>
            <a:r>
              <a:rPr lang="tr-TR" sz="1200" dirty="0">
                <a:solidFill>
                  <a:schemeClr val="bg1"/>
                </a:solidFill>
                <a:latin typeface="Courier New" panose="02070309020205020404" pitchFamily="49" charset="0"/>
                <a:cs typeface="Courier New" panose="02070309020205020404" pitchFamily="49" charset="0"/>
              </a:rPr>
              <a:t>([[1, 2], [3, 4], [5, 6], [7, 8], [3, 4], [5, 6],[5, 6], [7, 8], [3, 4], [20, 6]])</a:t>
            </a:r>
          </a:p>
          <a:p>
            <a:pPr>
              <a:lnSpc>
                <a:spcPct val="150000"/>
              </a:lnSpc>
            </a:pPr>
            <a:endParaRPr lang="tr-TR" sz="1200" dirty="0">
              <a:solidFill>
                <a:schemeClr val="bg1"/>
              </a:solidFill>
              <a:latin typeface="Courier New" panose="02070309020205020404" pitchFamily="49" charset="0"/>
              <a:cs typeface="Courier New" panose="02070309020205020404" pitchFamily="49" charset="0"/>
            </a:endParaRPr>
          </a:p>
          <a:p>
            <a:pPr>
              <a:lnSpc>
                <a:spcPct val="150000"/>
              </a:lnSpc>
            </a:pPr>
            <a:r>
              <a:rPr lang="tr-TR" sz="1200" dirty="0" err="1">
                <a:solidFill>
                  <a:srgbClr val="FFFF00"/>
                </a:solidFill>
                <a:latin typeface="Courier New" panose="02070309020205020404" pitchFamily="49" charset="0"/>
                <a:cs typeface="Courier New" panose="02070309020205020404" pitchFamily="49" charset="0"/>
              </a:rPr>
              <a:t>sss</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StandardScaler</a:t>
            </a:r>
            <a:r>
              <a:rPr lang="tr-TR" sz="1200" dirty="0">
                <a:solidFill>
                  <a:srgbClr val="FFFF00"/>
                </a:solidFill>
                <a:latin typeface="Courier New" panose="02070309020205020404" pitchFamily="49" charset="0"/>
                <a:cs typeface="Courier New" panose="02070309020205020404" pitchFamily="49" charset="0"/>
              </a:rPr>
              <a:t>()</a:t>
            </a:r>
          </a:p>
          <a:p>
            <a:pPr>
              <a:lnSpc>
                <a:spcPct val="150000"/>
              </a:lnSpc>
            </a:pPr>
            <a:r>
              <a:rPr lang="tr-TR" sz="1200" dirty="0" err="1">
                <a:solidFill>
                  <a:srgbClr val="FFFF00"/>
                </a:solidFill>
                <a:latin typeface="Courier New" panose="02070309020205020404" pitchFamily="49" charset="0"/>
                <a:cs typeface="Courier New" panose="02070309020205020404" pitchFamily="49" charset="0"/>
              </a:rPr>
              <a:t>X_normalized_with_standart_scalar</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sss.fit_transform</a:t>
            </a:r>
            <a:r>
              <a:rPr lang="tr-TR" sz="1200" dirty="0">
                <a:solidFill>
                  <a:srgbClr val="FFFF00"/>
                </a:solidFill>
                <a:latin typeface="Courier New" panose="02070309020205020404" pitchFamily="49" charset="0"/>
                <a:cs typeface="Courier New" panose="02070309020205020404" pitchFamily="49" charset="0"/>
              </a:rPr>
              <a:t>(X)</a:t>
            </a: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df</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pd.DataFrame</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X_normalized_with_standart_scalar</a:t>
            </a:r>
            <a:r>
              <a:rPr lang="tr-TR" sz="1200" dirty="0">
                <a:solidFill>
                  <a:schemeClr val="bg1"/>
                </a:solidFill>
                <a:latin typeface="Courier New" panose="02070309020205020404" pitchFamily="49" charset="0"/>
                <a:cs typeface="Courier New" panose="02070309020205020404" pitchFamily="49" charset="0"/>
              </a:rPr>
              <a:t>)</a:t>
            </a: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print</a:t>
            </a:r>
            <a:r>
              <a:rPr lang="tr-TR" sz="1200" dirty="0">
                <a:solidFill>
                  <a:schemeClr val="bg1"/>
                </a:solidFill>
                <a:latin typeface="Courier New" panose="02070309020205020404" pitchFamily="49" charset="0"/>
                <a:cs typeface="Courier New" panose="02070309020205020404" pitchFamily="49" charset="0"/>
              </a:rPr>
              <a:t>("\n-------Standart </a:t>
            </a:r>
            <a:r>
              <a:rPr lang="tr-TR" sz="1200" dirty="0" err="1">
                <a:solidFill>
                  <a:schemeClr val="bg1"/>
                </a:solidFill>
                <a:latin typeface="Courier New" panose="02070309020205020404" pitchFamily="49" charset="0"/>
                <a:cs typeface="Courier New" panose="02070309020205020404" pitchFamily="49" charset="0"/>
              </a:rPr>
              <a:t>Scalar</a:t>
            </a:r>
            <a:r>
              <a:rPr lang="tr-TR" sz="1200" dirty="0">
                <a:solidFill>
                  <a:schemeClr val="bg1"/>
                </a:solidFill>
                <a:latin typeface="Courier New" panose="02070309020205020404" pitchFamily="49" charset="0"/>
                <a:cs typeface="Courier New" panose="02070309020205020404" pitchFamily="49" charset="0"/>
              </a:rPr>
              <a:t> </a:t>
            </a:r>
            <a:r>
              <a:rPr lang="tr-TR" sz="1200" dirty="0" err="1">
                <a:solidFill>
                  <a:schemeClr val="bg1"/>
                </a:solidFill>
                <a:latin typeface="Courier New" panose="02070309020205020404" pitchFamily="49" charset="0"/>
                <a:cs typeface="Courier New" panose="02070309020205020404" pitchFamily="49" charset="0"/>
              </a:rPr>
              <a:t>Normalized</a:t>
            </a:r>
            <a:r>
              <a:rPr lang="tr-TR" sz="1200" dirty="0">
                <a:solidFill>
                  <a:schemeClr val="bg1"/>
                </a:solidFill>
                <a:latin typeface="Courier New" panose="02070309020205020404" pitchFamily="49" charset="0"/>
                <a:cs typeface="Courier New" panose="02070309020205020404" pitchFamily="49" charset="0"/>
              </a:rPr>
              <a:t> data\n",</a:t>
            </a:r>
            <a:r>
              <a:rPr lang="tr-TR" sz="1200" dirty="0" err="1">
                <a:solidFill>
                  <a:schemeClr val="bg1"/>
                </a:solidFill>
                <a:latin typeface="Courier New" panose="02070309020205020404" pitchFamily="49" charset="0"/>
                <a:cs typeface="Courier New" panose="02070309020205020404" pitchFamily="49" charset="0"/>
              </a:rPr>
              <a:t>df</a:t>
            </a:r>
            <a:r>
              <a:rPr lang="tr-TR" sz="1200" dirty="0">
                <a:solidFill>
                  <a:schemeClr val="bg1"/>
                </a:solidFill>
                <a:latin typeface="Courier New" panose="02070309020205020404" pitchFamily="49" charset="0"/>
                <a:cs typeface="Courier New" panose="02070309020205020404" pitchFamily="49" charset="0"/>
              </a:rPr>
              <a:t>)</a:t>
            </a:r>
          </a:p>
          <a:p>
            <a:pPr>
              <a:lnSpc>
                <a:spcPct val="150000"/>
              </a:lnSpc>
            </a:pPr>
            <a:endParaRPr lang="tr-TR" sz="1200" dirty="0">
              <a:solidFill>
                <a:schemeClr val="bg1"/>
              </a:solidFill>
              <a:latin typeface="Courier New" panose="02070309020205020404" pitchFamily="49" charset="0"/>
              <a:cs typeface="Courier New" panose="02070309020205020404" pitchFamily="49" charset="0"/>
            </a:endParaRPr>
          </a:p>
          <a:p>
            <a:pPr>
              <a:lnSpc>
                <a:spcPct val="150000"/>
              </a:lnSpc>
            </a:pPr>
            <a:r>
              <a:rPr lang="tr-TR" sz="1200" dirty="0" err="1">
                <a:solidFill>
                  <a:srgbClr val="FFFF00"/>
                </a:solidFill>
                <a:latin typeface="Courier New" panose="02070309020205020404" pitchFamily="49" charset="0"/>
                <a:cs typeface="Courier New" panose="02070309020205020404" pitchFamily="49" charset="0"/>
              </a:rPr>
              <a:t>inverse</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sss.inverse_transform</a:t>
            </a:r>
            <a:r>
              <a:rPr lang="tr-TR" sz="1200" dirty="0">
                <a:solidFill>
                  <a:srgbClr val="FFFF00"/>
                </a:solidFill>
                <a:latin typeface="Courier New" panose="02070309020205020404" pitchFamily="49" charset="0"/>
                <a:cs typeface="Courier New" panose="02070309020205020404" pitchFamily="49" charset="0"/>
              </a:rPr>
              <a:t>(</a:t>
            </a:r>
            <a:r>
              <a:rPr lang="tr-TR" sz="1200" dirty="0" err="1">
                <a:solidFill>
                  <a:srgbClr val="FFFF00"/>
                </a:solidFill>
                <a:latin typeface="Courier New" panose="02070309020205020404" pitchFamily="49" charset="0"/>
                <a:cs typeface="Courier New" panose="02070309020205020404" pitchFamily="49" charset="0"/>
              </a:rPr>
              <a:t>X_normalized_with_standart_scalar</a:t>
            </a:r>
            <a:r>
              <a:rPr lang="tr-TR" sz="1200" dirty="0">
                <a:solidFill>
                  <a:srgbClr val="FFFF00"/>
                </a:solidFill>
                <a:latin typeface="Courier New" panose="02070309020205020404" pitchFamily="49" charset="0"/>
                <a:cs typeface="Courier New" panose="02070309020205020404" pitchFamily="49" charset="0"/>
              </a:rPr>
              <a:t>)</a:t>
            </a: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df</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pd.DataFrame</a:t>
            </a:r>
            <a:r>
              <a:rPr lang="tr-TR" sz="1200" dirty="0">
                <a:solidFill>
                  <a:schemeClr val="bg1"/>
                </a:solidFill>
                <a:latin typeface="Courier New" panose="02070309020205020404" pitchFamily="49" charset="0"/>
                <a:cs typeface="Courier New" panose="02070309020205020404" pitchFamily="49" charset="0"/>
              </a:rPr>
              <a:t>(</a:t>
            </a:r>
            <a:r>
              <a:rPr lang="tr-TR" sz="1200" dirty="0" err="1">
                <a:solidFill>
                  <a:schemeClr val="bg1"/>
                </a:solidFill>
                <a:latin typeface="Courier New" panose="02070309020205020404" pitchFamily="49" charset="0"/>
                <a:cs typeface="Courier New" panose="02070309020205020404" pitchFamily="49" charset="0"/>
              </a:rPr>
              <a:t>inverse</a:t>
            </a:r>
            <a:r>
              <a:rPr lang="tr-TR" sz="1200" dirty="0">
                <a:solidFill>
                  <a:schemeClr val="bg1"/>
                </a:solidFill>
                <a:latin typeface="Courier New" panose="02070309020205020404" pitchFamily="49" charset="0"/>
                <a:cs typeface="Courier New" panose="02070309020205020404" pitchFamily="49" charset="0"/>
              </a:rPr>
              <a:t>)</a:t>
            </a:r>
          </a:p>
          <a:p>
            <a:pPr>
              <a:lnSpc>
                <a:spcPct val="150000"/>
              </a:lnSpc>
            </a:pPr>
            <a:r>
              <a:rPr lang="tr-TR" sz="1200" dirty="0" err="1">
                <a:solidFill>
                  <a:schemeClr val="bg1"/>
                </a:solidFill>
                <a:latin typeface="Courier New" panose="02070309020205020404" pitchFamily="49" charset="0"/>
                <a:cs typeface="Courier New" panose="02070309020205020404" pitchFamily="49" charset="0"/>
              </a:rPr>
              <a:t>print</a:t>
            </a:r>
            <a:r>
              <a:rPr lang="tr-TR" sz="1200" dirty="0">
                <a:solidFill>
                  <a:schemeClr val="bg1"/>
                </a:solidFill>
                <a:latin typeface="Courier New" panose="02070309020205020404" pitchFamily="49" charset="0"/>
                <a:cs typeface="Courier New" panose="02070309020205020404" pitchFamily="49" charset="0"/>
              </a:rPr>
              <a:t>("\n-------Standart </a:t>
            </a:r>
            <a:r>
              <a:rPr lang="tr-TR" sz="1200" dirty="0" err="1">
                <a:solidFill>
                  <a:schemeClr val="bg1"/>
                </a:solidFill>
                <a:latin typeface="Courier New" panose="02070309020205020404" pitchFamily="49" charset="0"/>
                <a:cs typeface="Courier New" panose="02070309020205020404" pitchFamily="49" charset="0"/>
              </a:rPr>
              <a:t>Scalar</a:t>
            </a:r>
            <a:r>
              <a:rPr lang="tr-TR" sz="1200" dirty="0">
                <a:solidFill>
                  <a:schemeClr val="bg1"/>
                </a:solidFill>
                <a:latin typeface="Courier New" panose="02070309020205020404" pitchFamily="49" charset="0"/>
                <a:cs typeface="Courier New" panose="02070309020205020404" pitchFamily="49" charset="0"/>
              </a:rPr>
              <a:t> </a:t>
            </a:r>
            <a:r>
              <a:rPr lang="tr-TR" sz="1200" dirty="0" err="1">
                <a:solidFill>
                  <a:schemeClr val="bg1"/>
                </a:solidFill>
                <a:latin typeface="Courier New" panose="02070309020205020404" pitchFamily="49" charset="0"/>
                <a:cs typeface="Courier New" panose="02070309020205020404" pitchFamily="49" charset="0"/>
              </a:rPr>
              <a:t>Inverse</a:t>
            </a:r>
            <a:r>
              <a:rPr lang="tr-TR" sz="1200" dirty="0">
                <a:solidFill>
                  <a:schemeClr val="bg1"/>
                </a:solidFill>
                <a:latin typeface="Courier New" panose="02070309020205020404" pitchFamily="49" charset="0"/>
                <a:cs typeface="Courier New" panose="02070309020205020404" pitchFamily="49" charset="0"/>
              </a:rPr>
              <a:t> Data\n",</a:t>
            </a:r>
            <a:r>
              <a:rPr lang="tr-TR" sz="1200" dirty="0" err="1">
                <a:solidFill>
                  <a:schemeClr val="bg1"/>
                </a:solidFill>
                <a:latin typeface="Courier New" panose="02070309020205020404" pitchFamily="49" charset="0"/>
                <a:cs typeface="Courier New" panose="02070309020205020404" pitchFamily="49" charset="0"/>
              </a:rPr>
              <a:t>df</a:t>
            </a:r>
            <a:r>
              <a:rPr lang="tr-TR" sz="1200" dirty="0">
                <a:solidFill>
                  <a:schemeClr val="bg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1563545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9035" y="234441"/>
            <a:ext cx="2379345" cy="391160"/>
          </a:xfrm>
          <a:prstGeom prst="rect">
            <a:avLst/>
          </a:prstGeom>
        </p:spPr>
        <p:txBody>
          <a:bodyPr vert="horz" wrap="square" lIns="0" tIns="12700" rIns="0" bIns="0" rtlCol="0">
            <a:spAutoFit/>
          </a:bodyPr>
          <a:lstStyle/>
          <a:p>
            <a:pPr marL="12700">
              <a:lnSpc>
                <a:spcPct val="100000"/>
              </a:lnSpc>
              <a:spcBef>
                <a:spcPts val="100"/>
              </a:spcBef>
              <a:tabLst>
                <a:tab pos="852169" algn="l"/>
              </a:tabLst>
            </a:pPr>
            <a:r>
              <a:rPr lang="tr-TR" sz="2400" dirty="0">
                <a:latin typeface="Arial"/>
                <a:cs typeface="Arial"/>
              </a:rPr>
              <a:t>Veri Temizleme</a:t>
            </a:r>
            <a:endParaRPr sz="2400" dirty="0">
              <a:latin typeface="Arial"/>
              <a:cs typeface="Arial"/>
            </a:endParaRPr>
          </a:p>
        </p:txBody>
      </p:sp>
      <p:sp>
        <p:nvSpPr>
          <p:cNvPr id="5" name="object 5"/>
          <p:cNvSpPr/>
          <p:nvPr/>
        </p:nvSpPr>
        <p:spPr>
          <a:xfrm>
            <a:off x="2743200" y="742950"/>
            <a:ext cx="3206496" cy="4041648"/>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6551" y="229870"/>
            <a:ext cx="2379345" cy="391160"/>
          </a:xfrm>
          <a:prstGeom prst="rect">
            <a:avLst/>
          </a:prstGeom>
        </p:spPr>
        <p:txBody>
          <a:bodyPr vert="horz" wrap="square" lIns="0" tIns="12700" rIns="0" bIns="0" rtlCol="0">
            <a:spAutoFit/>
          </a:bodyPr>
          <a:lstStyle/>
          <a:p>
            <a:pPr marL="12700">
              <a:lnSpc>
                <a:spcPct val="100000"/>
              </a:lnSpc>
              <a:spcBef>
                <a:spcPts val="100"/>
              </a:spcBef>
              <a:tabLst>
                <a:tab pos="852169" algn="l"/>
              </a:tabLst>
            </a:pPr>
            <a:r>
              <a:rPr sz="2400" spc="254" dirty="0">
                <a:latin typeface="Arial"/>
                <a:cs typeface="Arial"/>
              </a:rPr>
              <a:t>Veri	</a:t>
            </a:r>
            <a:r>
              <a:rPr sz="2400" spc="105" dirty="0">
                <a:latin typeface="Arial"/>
                <a:cs typeface="Arial"/>
              </a:rPr>
              <a:t>Hazırlama</a:t>
            </a:r>
            <a:endParaRPr sz="2400">
              <a:latin typeface="Arial"/>
              <a:cs typeface="Arial"/>
            </a:endParaRPr>
          </a:p>
        </p:txBody>
      </p:sp>
      <p:sp>
        <p:nvSpPr>
          <p:cNvPr id="5" name="object 5"/>
          <p:cNvSpPr/>
          <p:nvPr/>
        </p:nvSpPr>
        <p:spPr>
          <a:xfrm>
            <a:off x="3703320" y="0"/>
            <a:ext cx="1420368" cy="5143499"/>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6551" y="229870"/>
            <a:ext cx="6587490" cy="391160"/>
          </a:xfrm>
          <a:prstGeom prst="rect">
            <a:avLst/>
          </a:prstGeom>
        </p:spPr>
        <p:txBody>
          <a:bodyPr vert="horz" wrap="square" lIns="0" tIns="12700" rIns="0" bIns="0" rtlCol="0">
            <a:spAutoFit/>
          </a:bodyPr>
          <a:lstStyle/>
          <a:p>
            <a:pPr marL="12700">
              <a:lnSpc>
                <a:spcPct val="100000"/>
              </a:lnSpc>
              <a:spcBef>
                <a:spcPts val="100"/>
              </a:spcBef>
              <a:tabLst>
                <a:tab pos="852169" algn="l"/>
                <a:tab pos="2536190" algn="l"/>
                <a:tab pos="3042285" algn="l"/>
                <a:tab pos="4725035" algn="l"/>
              </a:tabLst>
            </a:pPr>
            <a:r>
              <a:rPr sz="2400" spc="254" dirty="0">
                <a:latin typeface="Times New Roman" panose="02020603050405020304" pitchFamily="18" charset="0"/>
                <a:cs typeface="Times New Roman" panose="02020603050405020304" pitchFamily="18" charset="0"/>
              </a:rPr>
              <a:t>Veri	</a:t>
            </a:r>
            <a:r>
              <a:rPr sz="2400" spc="20" dirty="0">
                <a:latin typeface="Times New Roman" panose="02020603050405020304" pitchFamily="18" charset="0"/>
                <a:cs typeface="Times New Roman" panose="02020603050405020304" pitchFamily="18" charset="0"/>
              </a:rPr>
              <a:t>Temizleme	</a:t>
            </a:r>
            <a:r>
              <a:rPr sz="2400" spc="50" dirty="0">
                <a:latin typeface="Times New Roman" panose="02020603050405020304" pitchFamily="18" charset="0"/>
                <a:cs typeface="Times New Roman" panose="02020603050405020304" pitchFamily="18" charset="0"/>
              </a:rPr>
              <a:t>ve	</a:t>
            </a:r>
            <a:r>
              <a:rPr sz="2400" spc="105" dirty="0">
                <a:latin typeface="Times New Roman" panose="02020603050405020304" pitchFamily="18" charset="0"/>
                <a:cs typeface="Times New Roman" panose="02020603050405020304" pitchFamily="18" charset="0"/>
              </a:rPr>
              <a:t>Hazırlama	</a:t>
            </a:r>
            <a:r>
              <a:rPr sz="2400" spc="204" dirty="0">
                <a:latin typeface="Times New Roman" panose="02020603050405020304" pitchFamily="18" charset="0"/>
                <a:cs typeface="Times New Roman" panose="02020603050405020304" pitchFamily="18" charset="0"/>
              </a:rPr>
              <a:t>Araştırması</a:t>
            </a:r>
            <a:endParaRPr sz="2400" dirty="0">
              <a:latin typeface="Times New Roman" panose="02020603050405020304" pitchFamily="18" charset="0"/>
              <a:cs typeface="Times New Roman" panose="02020603050405020304" pitchFamily="18" charset="0"/>
            </a:endParaRPr>
          </a:p>
        </p:txBody>
      </p:sp>
      <p:sp>
        <p:nvSpPr>
          <p:cNvPr id="3" name="object 2">
            <a:extLst>
              <a:ext uri="{FF2B5EF4-FFF2-40B4-BE49-F238E27FC236}">
                <a16:creationId xmlns:a16="http://schemas.microsoft.com/office/drawing/2014/main" id="{D5B8DB99-8CEE-397A-4547-2DEA9FA474DC}"/>
              </a:ext>
            </a:extLst>
          </p:cNvPr>
          <p:cNvSpPr txBox="1">
            <a:spLocks/>
          </p:cNvSpPr>
          <p:nvPr/>
        </p:nvSpPr>
        <p:spPr>
          <a:xfrm>
            <a:off x="457200" y="1450930"/>
            <a:ext cx="8077200" cy="1120820"/>
          </a:xfrm>
          <a:prstGeom prst="rect">
            <a:avLst/>
          </a:prstGeom>
        </p:spPr>
        <p:txBody>
          <a:bodyPr vert="horz" wrap="square" lIns="0" tIns="12700" rIns="0" bIns="0" rtlCol="0">
            <a:spAutoFit/>
          </a:bodyPr>
          <a:lstStyle>
            <a:lvl1pPr>
              <a:defRPr sz="3300" b="0" i="0">
                <a:solidFill>
                  <a:schemeClr val="bg1"/>
                </a:solidFill>
                <a:latin typeface="Arial Black"/>
                <a:ea typeface="+mj-ea"/>
                <a:cs typeface="Arial Black"/>
              </a:defRPr>
            </a:lvl1pPr>
          </a:lstStyle>
          <a:p>
            <a:pPr marL="12700" algn="ctr">
              <a:spcBef>
                <a:spcPts val="100"/>
              </a:spcBef>
              <a:tabLst>
                <a:tab pos="852169" algn="l"/>
                <a:tab pos="2536190" algn="l"/>
                <a:tab pos="3042285" algn="l"/>
                <a:tab pos="4725035" algn="l"/>
              </a:tabLst>
            </a:pPr>
            <a:r>
              <a:rPr lang="tr-TR" sz="2400" kern="0" spc="254" dirty="0">
                <a:latin typeface="Times New Roman" panose="02020603050405020304" pitchFamily="18" charset="0"/>
                <a:cs typeface="Times New Roman" panose="02020603050405020304" pitchFamily="18" charset="0"/>
              </a:rPr>
              <a:t>Bu alanda yapılmış çalışmaları araştırmalısınız (makale, tez, proje vb.). Yöntemleri ile ortaya koymalısınız.</a:t>
            </a:r>
            <a:endParaRPr lang="tr-TR" sz="24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6551" y="100710"/>
            <a:ext cx="2517140" cy="528320"/>
          </a:xfrm>
          <a:prstGeom prst="rect">
            <a:avLst/>
          </a:prstGeom>
        </p:spPr>
        <p:txBody>
          <a:bodyPr vert="horz" wrap="square" lIns="0" tIns="12700" rIns="0" bIns="0" rtlCol="0">
            <a:spAutoFit/>
          </a:bodyPr>
          <a:lstStyle/>
          <a:p>
            <a:pPr marL="12700">
              <a:lnSpc>
                <a:spcPct val="100000"/>
              </a:lnSpc>
              <a:spcBef>
                <a:spcPts val="100"/>
              </a:spcBef>
            </a:pPr>
            <a:r>
              <a:rPr spc="-5" dirty="0"/>
              <a:t>Modelleme</a:t>
            </a:r>
          </a:p>
        </p:txBody>
      </p:sp>
      <p:sp>
        <p:nvSpPr>
          <p:cNvPr id="5" name="object 5"/>
          <p:cNvSpPr/>
          <p:nvPr/>
        </p:nvSpPr>
        <p:spPr>
          <a:xfrm>
            <a:off x="1600200" y="1200150"/>
            <a:ext cx="6246876" cy="3418332"/>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7089" y="2021535"/>
            <a:ext cx="2249805" cy="528955"/>
          </a:xfrm>
          <a:prstGeom prst="rect">
            <a:avLst/>
          </a:prstGeom>
        </p:spPr>
        <p:txBody>
          <a:bodyPr vert="horz" wrap="square" lIns="0" tIns="12700" rIns="0" bIns="0" rtlCol="0">
            <a:spAutoFit/>
          </a:bodyPr>
          <a:lstStyle/>
          <a:p>
            <a:pPr marL="12700">
              <a:lnSpc>
                <a:spcPct val="100000"/>
              </a:lnSpc>
              <a:spcBef>
                <a:spcPts val="100"/>
              </a:spcBef>
            </a:pPr>
            <a:r>
              <a:rPr spc="10" dirty="0"/>
              <a:t>Sorular</a:t>
            </a:r>
            <a:r>
              <a:rPr spc="-85" dirty="0"/>
              <a:t> </a:t>
            </a:r>
            <a:r>
              <a:rPr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5513</TotalTime>
  <Words>3426</Words>
  <Application>Microsoft Office PowerPoint</Application>
  <PresentationFormat>Ekran Gösterisi (16:9)</PresentationFormat>
  <Paragraphs>332</Paragraphs>
  <Slides>55</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55</vt:i4>
      </vt:variant>
    </vt:vector>
  </HeadingPairs>
  <TitlesOfParts>
    <vt:vector size="62" baseType="lpstr">
      <vt:lpstr>Arial</vt:lpstr>
      <vt:lpstr>Arial Black</vt:lpstr>
      <vt:lpstr>Calibri</vt:lpstr>
      <vt:lpstr>Carlito</vt:lpstr>
      <vt:lpstr>Courier New</vt:lpstr>
      <vt:lpstr>Times New Roman</vt:lpstr>
      <vt:lpstr>Office Theme</vt:lpstr>
      <vt:lpstr>PowerPoint Sunusu</vt:lpstr>
      <vt:lpstr>Bilgi ve akıl</vt:lpstr>
      <vt:lpstr>PowerPoint Sunusu</vt:lpstr>
      <vt:lpstr>Araştırma Evreni</vt:lpstr>
      <vt:lpstr>Bilgi keşfi süreci</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Delete Rows with Missing Values (Eksik Değerler): Missing values can be handled by deleting the rows or columns having null values.  If columns have more than half of rows as null then the entire column can be  dropped. The rows which are having one or more columns values as null can also  be dropped.</vt:lpstr>
      <vt:lpstr>Imputation (Eksik Verileri Tamamlama) -&gt; using zero, mean, median, mode(most frequent value) Columns in the dataset which are having numeric continuous values can be replaced with the mean, median, or mode of remaining values in the column. This method can prevent the loss of data compared to the earlier method. Replacing the above two approximations (mean,  median) is a statistical approach to handle the missing values.</vt:lpstr>
      <vt:lpstr>Impute missing values with Mean/Median:</vt:lpstr>
      <vt:lpstr>Örnek Uygulama -&gt;MissingValueExample.py</vt:lpstr>
      <vt:lpstr>Örnek Uygulama</vt:lpstr>
      <vt:lpstr>Örnek Uygulama-&gt;Impute missing values </vt:lpstr>
      <vt:lpstr>Örnek Uygulama</vt:lpstr>
      <vt:lpstr>Örnek Uygulama</vt:lpstr>
      <vt:lpstr>Örnek Uygulama</vt:lpstr>
      <vt:lpstr>PowerPoint Sunusu</vt:lpstr>
      <vt:lpstr>K-NN – En yakın komşu algoritması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Algoritmanızın çok daha başarılı eğitilmesi için …</vt:lpstr>
      <vt:lpstr>PowerPoint Sunusu</vt:lpstr>
      <vt:lpstr>PowerPoint Sunusu</vt:lpstr>
      <vt:lpstr>PowerPoint Sunusu</vt:lpstr>
      <vt:lpstr>Veri Temizleme</vt:lpstr>
      <vt:lpstr>Veri Hazırlama</vt:lpstr>
      <vt:lpstr>Veri Temizleme ve Hazırlama Araştırması</vt:lpstr>
      <vt:lpstr>Modelleme</vt:lpstr>
      <vt:lpstr>Sorular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Yapay Zeka | Hafta 1</dc:title>
  <dc:creator>Ümit ATİLA</dc:creator>
  <cp:lastModifiedBy>Abdulkadir Karacı</cp:lastModifiedBy>
  <cp:revision>130</cp:revision>
  <dcterms:created xsi:type="dcterms:W3CDTF">2020-10-19T11:20:14Z</dcterms:created>
  <dcterms:modified xsi:type="dcterms:W3CDTF">2026-09-21T15:05:05Z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2020-10-12T00:00:00Z</vt:filetime>
  </property>
  <property fmtid="{D5CDD505-2E9C-101B-9397-08002B2CF9AE}" pid="3" name="Creator">
    <vt:lpwstr>Microsoft® PowerPoint® 2016</vt:lpwstr>
  </property>
  <property fmtid="{D5CDD505-2E9C-101B-9397-08002B2CF9AE}" pid="4" name="LastSaved">
    <vt:filetime>2020-10-19T00:00:00Z</vt:filetime>
  </property>
</Properties>
</file>